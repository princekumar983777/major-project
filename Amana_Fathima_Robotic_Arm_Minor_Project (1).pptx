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79300" cy="6858000"/>
  <p:notesSz cx="6858000" cy="121793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introducing the project: a two-link planar robotic arm whose end-effector is intended to trace a sequence of target coordinates. The project combines independent stepper actuation, forward and inverse kinematics, and encoder feedback. This is the supervisor-evaluation format supplied by the user.
SUBMISSION DETAILS: The presenter name is copied exactly from the supplied HAL_REPORT_with_TOC (1).pdf, page 1: “Amana Fathima S N”. The cover of that report repeats one roll number for two different names, so a roll number has not been inferred or added here. The academic project supervisor is not identified in the supplied robotic-arm presentation or template; that field is left blank. The department name is retained from the supplied template and is not inferred from the internship report.
SOURCE MAPPING
Title and subtitle: [1], slide 1. Institute, department, cover labels and colour cues: [2], slide 1. Presenter spelling only: HAL_REPORT_with_TOC (1).pdf, p. 1.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sequence: first the mechanism and planned hardware, then the source presentation’s kinematic and feedback-control background. These lead to the project-level problem, objectives, conclusions and references. The contents entries link to the respective sections in slideshow mode.
SOURCE MAPPING
Section headings and 11-slide order: [2], slides 1–11. Subtopics: [1], slides 3–16.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arm diagram to point out A, B and C. A remains fixed at the base, while B moves with the first link. The first motor sets θ₁ and the second sets θ₂, with θ₂ defined in the source text relative to the first link. Coordinate the two joint commands to move C between target points. Encoder readings supply the actual joint angles for the proposed feedback loop. The listed applications are the source presentation’s proposed use cases, not demonstrated deployments.
The mechanical illustration is retained from the supplied deck; it is not a photograph of completed hardware.
SOURCE MAPPING
[1], slides 3–6 and 15. Arm illustration: [1], slide 3 (also repeated in slides 4 and 6).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table retains the bill of materials from the source deck. Arduino / ESP32, NEMA-17 or similar, and A4988 / DRV8825 are options stated in the source, not confirmed component selections. There are two motors, two drivers and two encoders, corresponding to joints A and B. Describe the implementation sequence on the right from mechanical design through trajectory testing. Do not describe these stages as experimentally completed: the supplied file provides the plan, not recorded test outcomes.
SOURCE MAPPING
Bill of materials: [1], slide 13. Implementation sequence: [1], slide 14.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forward problem: known values of θ₁ and θ₂ locate the end-effector. Then use the workspace schematic to introduce the outer radius L₁ + L₂ and inner radius |L₁ − L₂|, as stated in the source. Planned trajectory points must lie inside this reachable region. The editable circle drawing is a schematic redrawing of the source model, not a plot for specified link lengths.
LITERATURE STATUS: No research papers, author–year summaries or external bibliography are present in the supplied deck. This slide and the next two are source-based technical background under the template’s Literature Survey headings, not a completed published-paper review. The source does not specify final link lengths or practical joint-limit values.
SOURCE MAPPING
[1], slides 6–7. Heading and section placement: [2], slide 5. Workspace drawing restates [1], slide 7; no numerical link lengths are introduced.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slide to forward kinematics: the arm is now given target coordinates and must calculate the joint angles that place C there. The path is treated as an ordered sequence of waypoints. For each point, the source gives the elbow-angle equation, followed by the shoulder-angle equation. It identifies elbow-up and elbow-down as the two solutions. The source also states the reachability check and rejection / clamping of targets outside the workspace. Finer waypoint spacing is presented in the source as the basis for a smoother traced path; no numerical spacing or speed profile is specified.
SOURCE MAPPING
[1], slides 8–9. Path illustration: [1], slide 8. Heading placement: [2], slide 6.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top row from Cartesian path input to the arm’s position. Each joint has its own driver, motor and encoder; the paired blocks keep the diagram compact. Encoder feedback returns the measured angles to the controller, which compares them with the desired angles and corrects the discrepancy before the next waypoint. Explain the contrast beneath the diagram: open-loop motion assumes commanded steps occurred, whereas the proposed closed-loop approach measures the actual angle. The regulated power supply is listed in the hardware table on slide 4 and omitted from this simplified signal-flow diagram.
The diagram is a visual reorganization of the source architecture and its control-algorithm text; it is not an added circuit design or a claim of completed integration.
SOURCE MAPPING
[1], slides 10–12, with power-supply context from slide 13. Section heading: [2], slide 7.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gaps as issues that motivate this specific project, not as claims that no previous robot has solved them. The source describes three connected needs: checking whether a coordinate is reachable, mapping it to joint angles, and verifying whether commanded angles were achieved. Read or paraphrase the original problem statement in the highlighted block. Accuracy and repeatability are the intended objectives; the source supplies no measured values or acceptance thresholds.
SOURCE MAPPING
Problem statement: [1], slide 3, retained verbatim. Gap / response organization: [1], slides 7–9 and 11–12. Required section: [2], slide 8.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the four objectives stated in the source presentation. Emphasize how they connect: the workspace sets feasible targets; motors provide independent joint movement; inverse kinematics produces the required angles; encoder feedback checks and corrects the movement. Finish with the control sequence along the bottom. The source’s implementation plan calls for trajectory testing and tracking-error measurement after integration; no numeric performance target is supplied.
SOURCE MAPPING
Objectives: [1], slide 3. Control sequence: [1], slide 12. Testing context: [1], slide 14. Required section: [2], slide 9.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connection between geometry, independent joint actuation and measured feedback. The supplied deck establishes a proposed trajectory-control concept and implementation plan, but does not include test plots or measured accuracy and repeatability results. Avoid claiming experimentally achieved performance. Future extensions listed here are those already identified in the source: a third joint or gripper, PID tuning, vision feedback, wireless trajectory upload, and optimisation for payload capacity.
SOURCE MAPPING
[1], slide 16, with implementation / testing context from slide 14. No experimental performance data appear in the supplied deck. Required section: [2], slide 10.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supplied technical source and template, presented in a numbered IEEE-style form. No author, publication date, journal, DOI or experimental result has been invented. The presenter’s spelling was taken from the earlier HAL report only for the cover and is not treated as a robotics reference. A published-paper literature review is not present in the input material, so supervisor-approved research references are still needed to complete that part of a formal submission.
SOURCE MAPPING
[1], supplied 17-slide robotic-arm presentation. [2], supplied 11-slide Minor Project template, including its reference-format instruction on slide 11.
Source [1]: Robotic_Arm_Trajectory_Control.pptx, supplied project presentation. Source [2]: Minor Project  Template.pptx.pdf, supplied NIT Jalandhar template. No external publications or measured experimental results were supplied. Technical statements here are a reorganization of [1], not independently verified research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5.xml"/><Relationship Id="rId6" Type="http://schemas.openxmlformats.org/officeDocument/2006/relationships/slide" Target="slide8.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1.xml"/><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robotic_arm_work/assets/template_logo_0.png">    </p:cNvPr>
          <p:cNvPicPr>
            <a:picLocks noChangeAspect="1"/>
          </p:cNvPicPr>
          <p:nvPr/>
        </p:nvPicPr>
        <p:blipFill>
          <a:blip r:embed="rId1"/>
          <a:stretch>
            <a:fillRect/>
          </a:stretch>
        </p:blipFill>
        <p:spPr>
          <a:xfrm>
            <a:off x="256032" y="220905"/>
            <a:ext cx="1161288" cy="1185822"/>
          </a:xfrm>
          <a:prstGeom prst="rect">
            <a:avLst/>
          </a:prstGeom>
        </p:spPr>
      </p:pic>
      <p:sp>
        <p:nvSpPr>
          <p:cNvPr id="3" name="Text 0"/>
          <p:cNvSpPr/>
          <p:nvPr/>
        </p:nvSpPr>
        <p:spPr>
          <a:xfrm>
            <a:off x="1664208" y="329184"/>
            <a:ext cx="9802368" cy="393192"/>
          </a:xfrm>
          <a:prstGeom prst="rect">
            <a:avLst/>
          </a:prstGeom>
          <a:noFill/>
          <a:ln/>
        </p:spPr>
        <p:txBody>
          <a:bodyPr wrap="square" lIns="0" tIns="0" rIns="0" bIns="0" rtlCol="0" anchor="ctr"/>
          <a:lstStyle/>
          <a:p>
            <a:pPr algn="ctr" indent="0" marL="0">
              <a:buNone/>
            </a:pPr>
            <a:r>
              <a:rPr lang="en-US" sz="2440" dirty="0">
                <a:solidFill>
                  <a:srgbClr val="000000"/>
                </a:solidFill>
                <a:latin typeface="Noto Serif" pitchFamily="34" charset="0"/>
                <a:ea typeface="Noto Serif" pitchFamily="34" charset="-122"/>
                <a:cs typeface="Noto Serif" pitchFamily="34" charset="-120"/>
              </a:rPr>
              <a:t>Dr B R Ambedkar National Institute of Technology</a:t>
            </a:r>
            <a:endParaRPr lang="en-US" sz="2440" dirty="0"/>
          </a:p>
        </p:txBody>
      </p:sp>
      <p:sp>
        <p:nvSpPr>
          <p:cNvPr id="4" name="Text 1"/>
          <p:cNvSpPr/>
          <p:nvPr/>
        </p:nvSpPr>
        <p:spPr>
          <a:xfrm>
            <a:off x="1664208" y="795528"/>
            <a:ext cx="9802368" cy="356616"/>
          </a:xfrm>
          <a:prstGeom prst="rect">
            <a:avLst/>
          </a:prstGeom>
          <a:noFill/>
          <a:ln/>
        </p:spPr>
        <p:txBody>
          <a:bodyPr wrap="square" lIns="0" tIns="0" rIns="0" bIns="0" rtlCol="0" anchor="ctr"/>
          <a:lstStyle/>
          <a:p>
            <a:pPr algn="ctr" indent="0" marL="0">
              <a:buNone/>
            </a:pPr>
            <a:r>
              <a:rPr lang="en-US" sz="2440" dirty="0">
                <a:solidFill>
                  <a:srgbClr val="000000"/>
                </a:solidFill>
                <a:latin typeface="Noto Serif" pitchFamily="34" charset="0"/>
                <a:ea typeface="Noto Serif" pitchFamily="34" charset="-122"/>
                <a:cs typeface="Noto Serif" pitchFamily="34" charset="-120"/>
              </a:rPr>
              <a:t>Jalandhar</a:t>
            </a:r>
            <a:endParaRPr lang="en-US" sz="2440" dirty="0"/>
          </a:p>
        </p:txBody>
      </p:sp>
      <p:sp>
        <p:nvSpPr>
          <p:cNvPr id="5" name="Text 2"/>
          <p:cNvSpPr/>
          <p:nvPr/>
        </p:nvSpPr>
        <p:spPr>
          <a:xfrm>
            <a:off x="1664208" y="1243584"/>
            <a:ext cx="9802368" cy="338328"/>
          </a:xfrm>
          <a:prstGeom prst="rect">
            <a:avLst/>
          </a:prstGeom>
          <a:noFill/>
          <a:ln/>
        </p:spPr>
        <p:txBody>
          <a:bodyPr wrap="square" lIns="0" tIns="0" rIns="0" bIns="0" rtlCol="0" anchor="ctr"/>
          <a:lstStyle/>
          <a:p>
            <a:pPr algn="ctr" indent="0" marL="0">
              <a:buNone/>
            </a:pPr>
            <a:r>
              <a:rPr lang="en-US" sz="2200" dirty="0">
                <a:solidFill>
                  <a:srgbClr val="000000"/>
                </a:solidFill>
                <a:latin typeface="Noto Serif" pitchFamily="34" charset="0"/>
                <a:ea typeface="Noto Serif" pitchFamily="34" charset="-122"/>
                <a:cs typeface="Noto Serif" pitchFamily="34" charset="-120"/>
              </a:rPr>
              <a:t>Department of Mechanical Engineering</a:t>
            </a:r>
            <a:endParaRPr lang="en-US" sz="2200" dirty="0"/>
          </a:p>
        </p:txBody>
      </p:sp>
      <p:sp>
        <p:nvSpPr>
          <p:cNvPr id="6" name="Text 3"/>
          <p:cNvSpPr/>
          <p:nvPr/>
        </p:nvSpPr>
        <p:spPr>
          <a:xfrm>
            <a:off x="1463040" y="2002536"/>
            <a:ext cx="9326880" cy="475488"/>
          </a:xfrm>
          <a:prstGeom prst="rect">
            <a:avLst/>
          </a:prstGeom>
          <a:noFill/>
          <a:ln/>
        </p:spPr>
        <p:txBody>
          <a:bodyPr wrap="square" lIns="0" tIns="0" rIns="0" bIns="0" rtlCol="0" anchor="ctr"/>
          <a:lstStyle/>
          <a:p>
            <a:pPr algn="ctr" indent="0" marL="0">
              <a:buNone/>
            </a:pPr>
            <a:r>
              <a:rPr lang="en-US" sz="2800" u="sng" dirty="0">
                <a:solidFill>
                  <a:srgbClr val="000000"/>
                </a:solidFill>
                <a:latin typeface="Noto Serif" pitchFamily="34" charset="0"/>
                <a:ea typeface="Noto Serif" pitchFamily="34" charset="-122"/>
                <a:cs typeface="Noto Serif" pitchFamily="34" charset="-120"/>
              </a:rPr>
              <a:t>Minor Project Presentation</a:t>
            </a:r>
            <a:endParaRPr lang="en-US" sz="2800" dirty="0"/>
          </a:p>
        </p:txBody>
      </p:sp>
      <p:sp>
        <p:nvSpPr>
          <p:cNvPr id="7" name="Text 4"/>
          <p:cNvSpPr/>
          <p:nvPr/>
        </p:nvSpPr>
        <p:spPr>
          <a:xfrm>
            <a:off x="1463040" y="2596896"/>
            <a:ext cx="9326880" cy="448056"/>
          </a:xfrm>
          <a:prstGeom prst="rect">
            <a:avLst/>
          </a:prstGeom>
          <a:noFill/>
          <a:ln/>
        </p:spPr>
        <p:txBody>
          <a:bodyPr wrap="square" lIns="0" tIns="0" rIns="0" bIns="0" rtlCol="0" anchor="ctr"/>
          <a:lstStyle/>
          <a:p>
            <a:pPr algn="ctr" indent="0" marL="0">
              <a:buNone/>
            </a:pPr>
            <a:r>
              <a:rPr lang="en-US" sz="2750" dirty="0">
                <a:solidFill>
                  <a:srgbClr val="D86CCC"/>
                </a:solidFill>
                <a:latin typeface="Noto Serif" pitchFamily="34" charset="0"/>
                <a:ea typeface="Noto Serif" pitchFamily="34" charset="-122"/>
                <a:cs typeface="Noto Serif" pitchFamily="34" charset="-120"/>
              </a:rPr>
              <a:t>Supervisor Evaluation</a:t>
            </a:r>
            <a:endParaRPr lang="en-US" sz="2750" dirty="0"/>
          </a:p>
        </p:txBody>
      </p:sp>
      <p:sp>
        <p:nvSpPr>
          <p:cNvPr id="8" name="Text 5"/>
          <p:cNvSpPr/>
          <p:nvPr/>
        </p:nvSpPr>
        <p:spPr>
          <a:xfrm>
            <a:off x="950976" y="3438144"/>
            <a:ext cx="10296144" cy="347472"/>
          </a:xfrm>
          <a:prstGeom prst="rect">
            <a:avLst/>
          </a:prstGeom>
          <a:noFill/>
          <a:ln/>
        </p:spPr>
        <p:txBody>
          <a:bodyPr wrap="square" lIns="0" tIns="0" rIns="0" bIns="0" rtlCol="0" anchor="ctr"/>
          <a:lstStyle/>
          <a:p>
            <a:pPr algn="ctr" indent="0" marL="0">
              <a:buNone/>
            </a:pPr>
            <a:r>
              <a:rPr lang="en-US" sz="2200" dirty="0">
                <a:solidFill>
                  <a:srgbClr val="BE4F14"/>
                </a:solidFill>
                <a:latin typeface="Noto Serif" pitchFamily="34" charset="0"/>
                <a:ea typeface="Noto Serif" pitchFamily="34" charset="-122"/>
                <a:cs typeface="Noto Serif" pitchFamily="34" charset="-120"/>
              </a:rPr>
              <a:t>Project Title:</a:t>
            </a:r>
            <a:endParaRPr lang="en-US" sz="2200" dirty="0"/>
          </a:p>
        </p:txBody>
      </p:sp>
      <p:sp>
        <p:nvSpPr>
          <p:cNvPr id="9" name="Text 6"/>
          <p:cNvSpPr/>
          <p:nvPr/>
        </p:nvSpPr>
        <p:spPr>
          <a:xfrm>
            <a:off x="777240" y="3895344"/>
            <a:ext cx="10652760" cy="493776"/>
          </a:xfrm>
          <a:prstGeom prst="rect">
            <a:avLst/>
          </a:prstGeom>
          <a:noFill/>
          <a:ln/>
        </p:spPr>
        <p:txBody>
          <a:bodyPr wrap="square" lIns="0" tIns="0" rIns="0" bIns="0" rtlCol="0" anchor="ctr"/>
          <a:lstStyle/>
          <a:p>
            <a:pPr algn="ctr" indent="0" marL="0">
              <a:buNone/>
            </a:pPr>
            <a:r>
              <a:rPr lang="en-US" sz="2900" b="1" dirty="0">
                <a:solidFill>
                  <a:srgbClr val="000000"/>
                </a:solidFill>
                <a:latin typeface="Noto Serif" pitchFamily="34" charset="0"/>
                <a:ea typeface="Noto Serif" pitchFamily="34" charset="-122"/>
                <a:cs typeface="Noto Serif" pitchFamily="34" charset="-120"/>
              </a:rPr>
              <a:t>2-DOF Planar Robotic Arm</a:t>
            </a:r>
            <a:endParaRPr lang="en-US" sz="2900" dirty="0"/>
          </a:p>
        </p:txBody>
      </p:sp>
      <p:sp>
        <p:nvSpPr>
          <p:cNvPr id="10" name="Text 7"/>
          <p:cNvSpPr/>
          <p:nvPr/>
        </p:nvSpPr>
        <p:spPr>
          <a:xfrm>
            <a:off x="960120" y="4517136"/>
            <a:ext cx="10287000" cy="713232"/>
          </a:xfrm>
          <a:prstGeom prst="rect">
            <a:avLst/>
          </a:prstGeom>
          <a:noFill/>
          <a:ln/>
        </p:spPr>
        <p:txBody>
          <a:bodyPr wrap="square" lIns="0" tIns="0" rIns="0" bIns="0" rtlCol="0" anchor="ctr"/>
          <a:lstStyle/>
          <a:p>
            <a:pPr algn="ctr" indent="0" marL="0">
              <a:buNone/>
            </a:pPr>
            <a:r>
              <a:rPr lang="en-US" sz="1900" dirty="0">
                <a:solidFill>
                  <a:srgbClr val="202020"/>
                </a:solidFill>
                <a:latin typeface="Arial" pitchFamily="34" charset="0"/>
                <a:ea typeface="Arial" pitchFamily="34" charset="-122"/>
                <a:cs typeface="Arial" pitchFamily="34" charset="-120"/>
              </a:rPr>
              <a:t>Trajectory-Controlled Motion using Dual Stepper Motors,</a:t>
            </a:r>
            <a:endParaRPr lang="en-US" sz="1900" dirty="0"/>
          </a:p>
          <a:p>
            <a:pPr algn="ctr" indent="0" marL="0">
              <a:buNone/>
            </a:pPr>
            <a:r>
              <a:rPr lang="en-US" sz="1900" dirty="0">
                <a:solidFill>
                  <a:srgbClr val="202020"/>
                </a:solidFill>
                <a:latin typeface="Arial" pitchFamily="34" charset="0"/>
                <a:ea typeface="Arial" pitchFamily="34" charset="-122"/>
                <a:cs typeface="Arial" pitchFamily="34" charset="-120"/>
              </a:rPr>
              <a:t>Inverse Kinematics &amp; Encoder Feedback</a:t>
            </a:r>
            <a:endParaRPr lang="en-US" sz="1900" dirty="0"/>
          </a:p>
        </p:txBody>
      </p:sp>
      <p:sp>
        <p:nvSpPr>
          <p:cNvPr id="11" name="Text 8"/>
          <p:cNvSpPr/>
          <p:nvPr/>
        </p:nvSpPr>
        <p:spPr>
          <a:xfrm>
            <a:off x="978408" y="5596128"/>
            <a:ext cx="5303520" cy="283464"/>
          </a:xfrm>
          <a:prstGeom prst="rect">
            <a:avLst/>
          </a:prstGeom>
          <a:noFill/>
          <a:ln/>
        </p:spPr>
        <p:txBody>
          <a:bodyPr wrap="square" lIns="0" tIns="0" rIns="0" bIns="0" rtlCol="0" anchor="ctr"/>
          <a:lstStyle/>
          <a:p>
            <a:pPr indent="0" marL="0">
              <a:buNone/>
            </a:pPr>
            <a:r>
              <a:rPr lang="en-US" sz="2070" dirty="0">
                <a:solidFill>
                  <a:srgbClr val="000000"/>
                </a:solidFill>
                <a:latin typeface="Noto Serif" pitchFamily="34" charset="0"/>
                <a:ea typeface="Noto Serif" pitchFamily="34" charset="-122"/>
                <a:cs typeface="Noto Serif" pitchFamily="34" charset="-120"/>
              </a:rPr>
              <a:t>Submitted by:</a:t>
            </a:r>
            <a:endParaRPr lang="en-US" sz="2070" dirty="0"/>
          </a:p>
        </p:txBody>
      </p:sp>
      <p:sp>
        <p:nvSpPr>
          <p:cNvPr id="12" name="Text 9"/>
          <p:cNvSpPr/>
          <p:nvPr/>
        </p:nvSpPr>
        <p:spPr>
          <a:xfrm>
            <a:off x="978408" y="6044184"/>
            <a:ext cx="5303520" cy="320040"/>
          </a:xfrm>
          <a:prstGeom prst="rect">
            <a:avLst/>
          </a:prstGeom>
          <a:noFill/>
          <a:ln/>
        </p:spPr>
        <p:txBody>
          <a:bodyPr wrap="square" lIns="0" tIns="0" rIns="0" bIns="0" rtlCol="0" anchor="ctr"/>
          <a:lstStyle/>
          <a:p>
            <a:pPr indent="0" marL="0">
              <a:buNone/>
            </a:pPr>
            <a:r>
              <a:rPr lang="en-US" sz="2100" dirty="0">
                <a:solidFill>
                  <a:srgbClr val="000000"/>
                </a:solidFill>
                <a:latin typeface="Noto Serif" pitchFamily="34" charset="0"/>
                <a:ea typeface="Noto Serif" pitchFamily="34" charset="-122"/>
                <a:cs typeface="Noto Serif" pitchFamily="34" charset="-120"/>
              </a:rPr>
              <a:t>Amana Fathima S N</a:t>
            </a:r>
            <a:endParaRPr lang="en-US" sz="2100" dirty="0"/>
          </a:p>
        </p:txBody>
      </p:sp>
      <p:sp>
        <p:nvSpPr>
          <p:cNvPr id="13" name="Text 10"/>
          <p:cNvSpPr/>
          <p:nvPr/>
        </p:nvSpPr>
        <p:spPr>
          <a:xfrm>
            <a:off x="7324344" y="5596128"/>
            <a:ext cx="3749040" cy="283464"/>
          </a:xfrm>
          <a:prstGeom prst="rect">
            <a:avLst/>
          </a:prstGeom>
          <a:noFill/>
          <a:ln/>
        </p:spPr>
        <p:txBody>
          <a:bodyPr wrap="square" lIns="0" tIns="0" rIns="0" bIns="0" rtlCol="0" anchor="ctr"/>
          <a:lstStyle/>
          <a:p>
            <a:pPr indent="0" marL="0">
              <a:buNone/>
            </a:pPr>
            <a:r>
              <a:rPr lang="en-US" sz="2070" dirty="0">
                <a:solidFill>
                  <a:srgbClr val="000000"/>
                </a:solidFill>
                <a:latin typeface="Noto Serif" pitchFamily="34" charset="0"/>
                <a:ea typeface="Noto Serif" pitchFamily="34" charset="-122"/>
                <a:cs typeface="Noto Serif" pitchFamily="34" charset="-120"/>
              </a:rPr>
              <a:t>Supervisor:</a:t>
            </a:r>
            <a:endParaRPr lang="en-US" sz="2070" dirty="0"/>
          </a:p>
        </p:txBody>
      </p:sp>
      <p:sp>
        <p:nvSpPr>
          <p:cNvPr id="14" name="Shape 11"/>
          <p:cNvSpPr/>
          <p:nvPr/>
        </p:nvSpPr>
        <p:spPr>
          <a:xfrm>
            <a:off x="7333488" y="6373368"/>
            <a:ext cx="3849624" cy="0"/>
          </a:xfrm>
          <a:prstGeom prst="line">
            <a:avLst/>
          </a:prstGeom>
          <a:noFill/>
          <a:ln w="10160">
            <a:solidFill>
              <a:srgbClr val="64646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Contents</a:t>
            </a:r>
            <a:endParaRPr lang="en-US" sz="2800" dirty="0"/>
          </a:p>
        </p:txBody>
      </p:sp>
      <p:sp>
        <p:nvSpPr>
          <p:cNvPr id="3" name="Shape 1"/>
          <p:cNvSpPr/>
          <p:nvPr/>
        </p:nvSpPr>
        <p:spPr>
          <a:xfrm>
            <a:off x="918972" y="6428232"/>
            <a:ext cx="10537952" cy="0"/>
          </a:xfrm>
          <a:prstGeom prst="line">
            <a:avLst/>
          </a:prstGeom>
          <a:noFill/>
          <a:ln w="7620">
            <a:solidFill>
              <a:srgbClr val="D8D8D8"/>
            </a:solidFill>
            <a:prstDash val="solid"/>
          </a:ln>
        </p:spPr>
      </p:sp>
      <p:sp>
        <p:nvSpPr>
          <p:cNvPr id="4" name="Text 2"/>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5" name="Text 3">
            <a:hlinkClick r:id="rId1"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6" name="Text 4"/>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2 / 11</a:t>
            </a:r>
            <a:endParaRPr lang="en-US" sz="1020" dirty="0"/>
          </a:p>
        </p:txBody>
      </p:sp>
      <p:sp>
        <p:nvSpPr>
          <p:cNvPr id="7" name="Text 5"/>
          <p:cNvSpPr/>
          <p:nvPr/>
        </p:nvSpPr>
        <p:spPr>
          <a:xfrm>
            <a:off x="960120" y="171907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01</a:t>
            </a:r>
            <a:endParaRPr lang="en-US" sz="1950" dirty="0"/>
          </a:p>
        </p:txBody>
      </p:sp>
      <p:sp>
        <p:nvSpPr>
          <p:cNvPr id="8" name="Text 6">
            <a:hlinkClick r:id="rId2" tooltip="" action="ppaction://hlinksldjump"/>
          </p:cNvPr>
          <p:cNvSpPr/>
          <p:nvPr/>
        </p:nvSpPr>
        <p:spPr>
          <a:xfrm>
            <a:off x="1673352" y="1719072"/>
            <a:ext cx="8778240" cy="283464"/>
          </a:xfrm>
          <a:prstGeom prst="rect">
            <a:avLst/>
          </a:prstGeom>
          <a:noFill/>
          <a:ln/>
        </p:spPr>
        <p:txBody>
          <a:bodyPr wrap="square" lIns="0" tIns="0" rIns="0" bIns="0" rtlCol="0" anchor="ctr"/>
          <a:lstStyle/>
          <a:p>
            <a:pPr indent="0" marL="0">
              <a:buNone/>
            </a:pPr>
            <a:r>
              <a:rPr lang="en-US" sz="2200" u="sng" dirty="0">
                <a:solidFill>
                  <a:srgbClr val="000000"/>
                </a:solidFill>
                <a:latin typeface="Noto Serif" pitchFamily="34" charset="0"/>
                <a:ea typeface="Noto Serif" pitchFamily="34" charset="-122"/>
                <a:cs typeface="Noto Serif" pitchFamily="34" charset="-120"/>
                <a:hlinkClick r:id="rId2" action="ppaction://hlinksldjump" tooltip="">
                  <a:extLst>
                    <a:ext uri="{A12FA001-AC4F-418D-AE19-62706E023703}">
                      <ahyp:hlinkClr xmlns:ahyp="http://schemas.microsoft.com/office/drawing/2018/hyperlinkcolor" val="tx"/>
                    </a:ext>
                  </a:extLst>
                </a:hlinkClick>
              </a:rPr>
              <a:t>Introduction</a:t>
            </a:r>
            <a:endParaRPr lang="en-US" sz="2200" dirty="0"/>
          </a:p>
        </p:txBody>
      </p:sp>
      <p:sp>
        <p:nvSpPr>
          <p:cNvPr id="9" name="Text 7"/>
          <p:cNvSpPr/>
          <p:nvPr/>
        </p:nvSpPr>
        <p:spPr>
          <a:xfrm>
            <a:off x="1673352" y="206654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Mechanical concept, hardware and implementation</a:t>
            </a:r>
            <a:endParaRPr lang="en-US" sz="1510" dirty="0"/>
          </a:p>
        </p:txBody>
      </p:sp>
      <p:sp>
        <p:nvSpPr>
          <p:cNvPr id="10" name="Text 8">
            <a:hlinkClick r:id="rId3" tooltip="" action="ppaction://hlinksldjump"/>
          </p:cNvPr>
          <p:cNvSpPr/>
          <p:nvPr/>
        </p:nvSpPr>
        <p:spPr>
          <a:xfrm>
            <a:off x="10543032" y="175564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03–04</a:t>
            </a:r>
            <a:endParaRPr lang="en-US" sz="1700" dirty="0"/>
          </a:p>
        </p:txBody>
      </p:sp>
      <p:sp>
        <p:nvSpPr>
          <p:cNvPr id="11" name="Shape 9"/>
          <p:cNvSpPr/>
          <p:nvPr/>
        </p:nvSpPr>
        <p:spPr>
          <a:xfrm>
            <a:off x="960120" y="2359152"/>
            <a:ext cx="10268712" cy="0"/>
          </a:xfrm>
          <a:prstGeom prst="line">
            <a:avLst/>
          </a:prstGeom>
          <a:noFill/>
          <a:ln w="6350">
            <a:solidFill>
              <a:srgbClr val="D8D8D8"/>
            </a:solidFill>
            <a:prstDash val="solid"/>
          </a:ln>
        </p:spPr>
      </p:sp>
      <p:sp>
        <p:nvSpPr>
          <p:cNvPr id="12" name="Text 10"/>
          <p:cNvSpPr/>
          <p:nvPr/>
        </p:nvSpPr>
        <p:spPr>
          <a:xfrm>
            <a:off x="960120" y="242773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02</a:t>
            </a:r>
            <a:endParaRPr lang="en-US" sz="1950" dirty="0"/>
          </a:p>
        </p:txBody>
      </p:sp>
      <p:sp>
        <p:nvSpPr>
          <p:cNvPr id="13" name="Text 11">
            <a:hlinkClick r:id="rId4" tooltip="" action="ppaction://hlinksldjump"/>
          </p:cNvPr>
          <p:cNvSpPr/>
          <p:nvPr/>
        </p:nvSpPr>
        <p:spPr>
          <a:xfrm>
            <a:off x="1673352" y="2427732"/>
            <a:ext cx="8778240" cy="283464"/>
          </a:xfrm>
          <a:prstGeom prst="rect">
            <a:avLst/>
          </a:prstGeom>
          <a:noFill/>
          <a:ln/>
        </p:spPr>
        <p:txBody>
          <a:bodyPr wrap="square" lIns="0" tIns="0" rIns="0" bIns="0" rtlCol="0" anchor="ctr"/>
          <a:lstStyle/>
          <a:p>
            <a:pPr indent="0" marL="0">
              <a:buNone/>
            </a:pPr>
            <a:r>
              <a:rPr lang="en-US" sz="2200" u="sng" dirty="0">
                <a:solidFill>
                  <a:srgbClr val="000000"/>
                </a:solidFill>
                <a:latin typeface="Noto Serif" pitchFamily="34" charset="0"/>
                <a:ea typeface="Noto Serif" pitchFamily="34" charset="-122"/>
                <a:cs typeface="Noto Serif" pitchFamily="34" charset="-120"/>
                <a:hlinkClick r:id="rId4" action="ppaction://hlinksldjump" tooltip="">
                  <a:extLst>
                    <a:ext uri="{A12FA001-AC4F-418D-AE19-62706E023703}">
                      <ahyp:hlinkClr xmlns:ahyp="http://schemas.microsoft.com/office/drawing/2018/hyperlinkcolor" val="tx"/>
                    </a:ext>
                  </a:extLst>
                </a:hlinkClick>
              </a:rPr>
              <a:t>Literature Survey</a:t>
            </a:r>
            <a:endParaRPr lang="en-US" sz="2200" dirty="0"/>
          </a:p>
        </p:txBody>
      </p:sp>
      <p:sp>
        <p:nvSpPr>
          <p:cNvPr id="14" name="Text 12"/>
          <p:cNvSpPr/>
          <p:nvPr/>
        </p:nvSpPr>
        <p:spPr>
          <a:xfrm>
            <a:off x="1673352" y="277520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Source-based background: kinematics, trajectory and feedback</a:t>
            </a:r>
            <a:endParaRPr lang="en-US" sz="1510" dirty="0"/>
          </a:p>
        </p:txBody>
      </p:sp>
      <p:sp>
        <p:nvSpPr>
          <p:cNvPr id="15" name="Text 13">
            <a:hlinkClick r:id="rId5" tooltip="" action="ppaction://hlinksldjump"/>
          </p:cNvPr>
          <p:cNvSpPr/>
          <p:nvPr/>
        </p:nvSpPr>
        <p:spPr>
          <a:xfrm>
            <a:off x="10543032" y="246430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05–07</a:t>
            </a:r>
            <a:endParaRPr lang="en-US" sz="1700" dirty="0"/>
          </a:p>
        </p:txBody>
      </p:sp>
      <p:sp>
        <p:nvSpPr>
          <p:cNvPr id="16" name="Shape 14"/>
          <p:cNvSpPr/>
          <p:nvPr/>
        </p:nvSpPr>
        <p:spPr>
          <a:xfrm>
            <a:off x="960120" y="3067812"/>
            <a:ext cx="10268712" cy="0"/>
          </a:xfrm>
          <a:prstGeom prst="line">
            <a:avLst/>
          </a:prstGeom>
          <a:noFill/>
          <a:ln w="6350">
            <a:solidFill>
              <a:srgbClr val="D8D8D8"/>
            </a:solidFill>
            <a:prstDash val="solid"/>
          </a:ln>
        </p:spPr>
      </p:sp>
      <p:sp>
        <p:nvSpPr>
          <p:cNvPr id="17" name="Text 15"/>
          <p:cNvSpPr/>
          <p:nvPr/>
        </p:nvSpPr>
        <p:spPr>
          <a:xfrm>
            <a:off x="960120" y="313639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03</a:t>
            </a:r>
            <a:endParaRPr lang="en-US" sz="1950" dirty="0"/>
          </a:p>
        </p:txBody>
      </p:sp>
      <p:sp>
        <p:nvSpPr>
          <p:cNvPr id="18" name="Text 16">
            <a:hlinkClick r:id="rId6" tooltip="" action="ppaction://hlinksldjump"/>
          </p:cNvPr>
          <p:cNvSpPr/>
          <p:nvPr/>
        </p:nvSpPr>
        <p:spPr>
          <a:xfrm>
            <a:off x="1673352" y="3136392"/>
            <a:ext cx="8778240" cy="283464"/>
          </a:xfrm>
          <a:prstGeom prst="rect">
            <a:avLst/>
          </a:prstGeom>
          <a:noFill/>
          <a:ln/>
        </p:spPr>
        <p:txBody>
          <a:bodyPr wrap="square" lIns="0" tIns="0" rIns="0" bIns="0" rtlCol="0" anchor="ctr"/>
          <a:lstStyle/>
          <a:p>
            <a:pPr indent="0" marL="0">
              <a:buNone/>
            </a:pPr>
            <a:r>
              <a:rPr lang="en-US" sz="2100" u="sng" dirty="0">
                <a:solidFill>
                  <a:srgbClr val="000000"/>
                </a:solidFill>
                <a:latin typeface="Noto Serif" pitchFamily="34" charset="0"/>
                <a:ea typeface="Noto Serif" pitchFamily="34" charset="-122"/>
                <a:cs typeface="Noto Serif" pitchFamily="34" charset="-120"/>
                <a:hlinkClick r:id="rId6" action="ppaction://hlinksldjump" tooltip="">
                  <a:extLst>
                    <a:ext uri="{A12FA001-AC4F-418D-AE19-62706E023703}">
                      <ahyp:hlinkClr xmlns:ahyp="http://schemas.microsoft.com/office/drawing/2018/hyperlinkcolor" val="tx"/>
                    </a:ext>
                  </a:extLst>
                </a:hlinkClick>
              </a:rPr>
              <a:t>Research Gaps and Problem Formulation</a:t>
            </a:r>
            <a:endParaRPr lang="en-US" sz="2100" dirty="0"/>
          </a:p>
        </p:txBody>
      </p:sp>
      <p:sp>
        <p:nvSpPr>
          <p:cNvPr id="19" name="Text 17"/>
          <p:cNvSpPr/>
          <p:nvPr/>
        </p:nvSpPr>
        <p:spPr>
          <a:xfrm>
            <a:off x="1673352" y="348386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Project-level limitations and the design problem</a:t>
            </a:r>
            <a:endParaRPr lang="en-US" sz="1510" dirty="0"/>
          </a:p>
        </p:txBody>
      </p:sp>
      <p:sp>
        <p:nvSpPr>
          <p:cNvPr id="20" name="Text 18">
            <a:hlinkClick r:id="rId7" tooltip="" action="ppaction://hlinksldjump"/>
          </p:cNvPr>
          <p:cNvSpPr/>
          <p:nvPr/>
        </p:nvSpPr>
        <p:spPr>
          <a:xfrm>
            <a:off x="10543032" y="317296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7" action="ppaction://hlinksldjump" tooltip="">
                  <a:extLst>
                    <a:ext uri="{A12FA001-AC4F-418D-AE19-62706E023703}">
                      <ahyp:hlinkClr xmlns:ahyp="http://schemas.microsoft.com/office/drawing/2018/hyperlinkcolor" val="tx"/>
                    </a:ext>
                  </a:extLst>
                </a:hlinkClick>
              </a:rPr>
              <a:t>08</a:t>
            </a:r>
            <a:endParaRPr lang="en-US" sz="1700" dirty="0"/>
          </a:p>
        </p:txBody>
      </p:sp>
      <p:sp>
        <p:nvSpPr>
          <p:cNvPr id="21" name="Shape 19"/>
          <p:cNvSpPr/>
          <p:nvPr/>
        </p:nvSpPr>
        <p:spPr>
          <a:xfrm>
            <a:off x="960120" y="3776472"/>
            <a:ext cx="10268712" cy="0"/>
          </a:xfrm>
          <a:prstGeom prst="line">
            <a:avLst/>
          </a:prstGeom>
          <a:noFill/>
          <a:ln w="6350">
            <a:solidFill>
              <a:srgbClr val="D8D8D8"/>
            </a:solidFill>
            <a:prstDash val="solid"/>
          </a:ln>
        </p:spPr>
      </p:sp>
      <p:sp>
        <p:nvSpPr>
          <p:cNvPr id="22" name="Text 20"/>
          <p:cNvSpPr/>
          <p:nvPr/>
        </p:nvSpPr>
        <p:spPr>
          <a:xfrm>
            <a:off x="960120" y="384505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04</a:t>
            </a:r>
            <a:endParaRPr lang="en-US" sz="1950" dirty="0"/>
          </a:p>
        </p:txBody>
      </p:sp>
      <p:sp>
        <p:nvSpPr>
          <p:cNvPr id="23" name="Text 21">
            <a:hlinkClick r:id="rId8" tooltip="" action="ppaction://hlinksldjump"/>
          </p:cNvPr>
          <p:cNvSpPr/>
          <p:nvPr/>
        </p:nvSpPr>
        <p:spPr>
          <a:xfrm>
            <a:off x="1673352" y="3845052"/>
            <a:ext cx="8778240" cy="283464"/>
          </a:xfrm>
          <a:prstGeom prst="rect">
            <a:avLst/>
          </a:prstGeom>
          <a:noFill/>
          <a:ln/>
        </p:spPr>
        <p:txBody>
          <a:bodyPr wrap="square" lIns="0" tIns="0" rIns="0" bIns="0" rtlCol="0" anchor="ctr"/>
          <a:lstStyle/>
          <a:p>
            <a:pPr indent="0" marL="0">
              <a:buNone/>
            </a:pPr>
            <a:r>
              <a:rPr lang="en-US" sz="2200" u="sng" dirty="0">
                <a:solidFill>
                  <a:srgbClr val="000000"/>
                </a:solidFill>
                <a:latin typeface="Noto Serif" pitchFamily="34" charset="0"/>
                <a:ea typeface="Noto Serif" pitchFamily="34" charset="-122"/>
                <a:cs typeface="Noto Serif" pitchFamily="34" charset="-120"/>
                <a:hlinkClick r:id="rId8" action="ppaction://hlinksldjump" tooltip="">
                  <a:extLst>
                    <a:ext uri="{A12FA001-AC4F-418D-AE19-62706E023703}">
                      <ahyp:hlinkClr xmlns:ahyp="http://schemas.microsoft.com/office/drawing/2018/hyperlinkcolor" val="tx"/>
                    </a:ext>
                  </a:extLst>
                </a:hlinkClick>
              </a:rPr>
              <a:t>Project Objectives</a:t>
            </a:r>
            <a:endParaRPr lang="en-US" sz="2200" dirty="0"/>
          </a:p>
        </p:txBody>
      </p:sp>
      <p:sp>
        <p:nvSpPr>
          <p:cNvPr id="24" name="Text 22"/>
          <p:cNvSpPr/>
          <p:nvPr/>
        </p:nvSpPr>
        <p:spPr>
          <a:xfrm>
            <a:off x="1673352" y="419252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Workspace, joint actuation and closed-loop path tracking</a:t>
            </a:r>
            <a:endParaRPr lang="en-US" sz="1510" dirty="0"/>
          </a:p>
        </p:txBody>
      </p:sp>
      <p:sp>
        <p:nvSpPr>
          <p:cNvPr id="25" name="Text 23">
            <a:hlinkClick r:id="rId9" tooltip="" action="ppaction://hlinksldjump"/>
          </p:cNvPr>
          <p:cNvSpPr/>
          <p:nvPr/>
        </p:nvSpPr>
        <p:spPr>
          <a:xfrm>
            <a:off x="10543032" y="388162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9" action="ppaction://hlinksldjump" tooltip="">
                  <a:extLst>
                    <a:ext uri="{A12FA001-AC4F-418D-AE19-62706E023703}">
                      <ahyp:hlinkClr xmlns:ahyp="http://schemas.microsoft.com/office/drawing/2018/hyperlinkcolor" val="tx"/>
                    </a:ext>
                  </a:extLst>
                </a:hlinkClick>
              </a:rPr>
              <a:t>09</a:t>
            </a:r>
            <a:endParaRPr lang="en-US" sz="1700" dirty="0"/>
          </a:p>
        </p:txBody>
      </p:sp>
      <p:sp>
        <p:nvSpPr>
          <p:cNvPr id="26" name="Shape 24"/>
          <p:cNvSpPr/>
          <p:nvPr/>
        </p:nvSpPr>
        <p:spPr>
          <a:xfrm>
            <a:off x="960120" y="4485132"/>
            <a:ext cx="10268712" cy="0"/>
          </a:xfrm>
          <a:prstGeom prst="line">
            <a:avLst/>
          </a:prstGeom>
          <a:noFill/>
          <a:ln w="6350">
            <a:solidFill>
              <a:srgbClr val="D8D8D8"/>
            </a:solidFill>
            <a:prstDash val="solid"/>
          </a:ln>
        </p:spPr>
      </p:sp>
      <p:sp>
        <p:nvSpPr>
          <p:cNvPr id="27" name="Text 25"/>
          <p:cNvSpPr/>
          <p:nvPr/>
        </p:nvSpPr>
        <p:spPr>
          <a:xfrm>
            <a:off x="960120" y="455371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05</a:t>
            </a:r>
            <a:endParaRPr lang="en-US" sz="1950" dirty="0"/>
          </a:p>
        </p:txBody>
      </p:sp>
      <p:sp>
        <p:nvSpPr>
          <p:cNvPr id="28" name="Text 26">
            <a:hlinkClick r:id="rId10" tooltip="" action="ppaction://hlinksldjump"/>
          </p:cNvPr>
          <p:cNvSpPr/>
          <p:nvPr/>
        </p:nvSpPr>
        <p:spPr>
          <a:xfrm>
            <a:off x="1673352" y="4553712"/>
            <a:ext cx="8778240" cy="283464"/>
          </a:xfrm>
          <a:prstGeom prst="rect">
            <a:avLst/>
          </a:prstGeom>
          <a:noFill/>
          <a:ln/>
        </p:spPr>
        <p:txBody>
          <a:bodyPr wrap="square" lIns="0" tIns="0" rIns="0" bIns="0" rtlCol="0" anchor="ctr"/>
          <a:lstStyle/>
          <a:p>
            <a:pPr indent="0" marL="0">
              <a:buNone/>
            </a:pPr>
            <a:r>
              <a:rPr lang="en-US" sz="2200" u="sng" dirty="0">
                <a:solidFill>
                  <a:srgbClr val="000000"/>
                </a:solidFill>
                <a:latin typeface="Noto Serif" pitchFamily="34" charset="0"/>
                <a:ea typeface="Noto Serif" pitchFamily="34" charset="-122"/>
                <a:cs typeface="Noto Serif" pitchFamily="34" charset="-120"/>
                <a:hlinkClick r:id="rId10" action="ppaction://hlinksldjump" tooltip="">
                  <a:extLst>
                    <a:ext uri="{A12FA001-AC4F-418D-AE19-62706E023703}">
                      <ahyp:hlinkClr xmlns:ahyp="http://schemas.microsoft.com/office/drawing/2018/hyperlinkcolor" val="tx"/>
                    </a:ext>
                  </a:extLst>
                </a:hlinkClick>
              </a:rPr>
              <a:t>Conclusions</a:t>
            </a:r>
            <a:endParaRPr lang="en-US" sz="2200" dirty="0"/>
          </a:p>
        </p:txBody>
      </p:sp>
      <p:sp>
        <p:nvSpPr>
          <p:cNvPr id="29" name="Text 27"/>
          <p:cNvSpPr/>
          <p:nvPr/>
        </p:nvSpPr>
        <p:spPr>
          <a:xfrm>
            <a:off x="1673352" y="490118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Design summary, future scope and validation status</a:t>
            </a:r>
            <a:endParaRPr lang="en-US" sz="1510" dirty="0"/>
          </a:p>
        </p:txBody>
      </p:sp>
      <p:sp>
        <p:nvSpPr>
          <p:cNvPr id="30" name="Text 28">
            <a:hlinkClick r:id="rId11" tooltip="" action="ppaction://hlinksldjump"/>
          </p:cNvPr>
          <p:cNvSpPr/>
          <p:nvPr/>
        </p:nvSpPr>
        <p:spPr>
          <a:xfrm>
            <a:off x="10543032" y="459028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11" action="ppaction://hlinksldjump" tooltip="">
                  <a:extLst>
                    <a:ext uri="{A12FA001-AC4F-418D-AE19-62706E023703}">
                      <ahyp:hlinkClr xmlns:ahyp="http://schemas.microsoft.com/office/drawing/2018/hyperlinkcolor" val="tx"/>
                    </a:ext>
                  </a:extLst>
                </a:hlinkClick>
              </a:rPr>
              <a:t>10</a:t>
            </a:r>
            <a:endParaRPr lang="en-US" sz="1700" dirty="0"/>
          </a:p>
        </p:txBody>
      </p:sp>
      <p:sp>
        <p:nvSpPr>
          <p:cNvPr id="31" name="Shape 29"/>
          <p:cNvSpPr/>
          <p:nvPr/>
        </p:nvSpPr>
        <p:spPr>
          <a:xfrm>
            <a:off x="960120" y="5193792"/>
            <a:ext cx="10268712" cy="0"/>
          </a:xfrm>
          <a:prstGeom prst="line">
            <a:avLst/>
          </a:prstGeom>
          <a:noFill/>
          <a:ln w="6350">
            <a:solidFill>
              <a:srgbClr val="D8D8D8"/>
            </a:solidFill>
            <a:prstDash val="solid"/>
          </a:ln>
        </p:spPr>
      </p:sp>
      <p:sp>
        <p:nvSpPr>
          <p:cNvPr id="32" name="Text 30"/>
          <p:cNvSpPr/>
          <p:nvPr/>
        </p:nvSpPr>
        <p:spPr>
          <a:xfrm>
            <a:off x="960120" y="5262372"/>
            <a:ext cx="502920" cy="310896"/>
          </a:xfrm>
          <a:prstGeom prst="rect">
            <a:avLst/>
          </a:prstGeom>
          <a:noFill/>
          <a:ln/>
        </p:spPr>
        <p:txBody>
          <a:bodyPr wrap="square" lIns="0" tIns="0" rIns="0" bIns="0" rtlCol="0" anchor="ctr"/>
          <a:lstStyle/>
          <a:p>
            <a:pPr indent="0" marL="0">
              <a:buNone/>
            </a:pPr>
            <a:r>
              <a:rPr lang="en-US" sz="1950" dirty="0">
                <a:solidFill>
                  <a:srgbClr val="646464"/>
                </a:solidFill>
                <a:latin typeface="Arial" pitchFamily="34" charset="0"/>
                <a:ea typeface="Arial" pitchFamily="34" charset="-122"/>
                <a:cs typeface="Arial" pitchFamily="34" charset="-120"/>
              </a:rPr>
              <a:t>06</a:t>
            </a:r>
            <a:endParaRPr lang="en-US" sz="1950" dirty="0"/>
          </a:p>
        </p:txBody>
      </p:sp>
      <p:sp>
        <p:nvSpPr>
          <p:cNvPr id="33" name="Text 31">
            <a:hlinkClick r:id="rId12" tooltip="" action="ppaction://hlinksldjump"/>
          </p:cNvPr>
          <p:cNvSpPr/>
          <p:nvPr/>
        </p:nvSpPr>
        <p:spPr>
          <a:xfrm>
            <a:off x="1673352" y="5262372"/>
            <a:ext cx="8778240" cy="283464"/>
          </a:xfrm>
          <a:prstGeom prst="rect">
            <a:avLst/>
          </a:prstGeom>
          <a:noFill/>
          <a:ln/>
        </p:spPr>
        <p:txBody>
          <a:bodyPr wrap="square" lIns="0" tIns="0" rIns="0" bIns="0" rtlCol="0" anchor="ctr"/>
          <a:lstStyle/>
          <a:p>
            <a:pPr indent="0" marL="0">
              <a:buNone/>
            </a:pPr>
            <a:r>
              <a:rPr lang="en-US" sz="2200" u="sng" dirty="0">
                <a:solidFill>
                  <a:srgbClr val="000000"/>
                </a:solidFill>
                <a:latin typeface="Noto Serif" pitchFamily="34" charset="0"/>
                <a:ea typeface="Noto Serif" pitchFamily="34" charset="-122"/>
                <a:cs typeface="Noto Serif" pitchFamily="34" charset="-120"/>
                <a:hlinkClick r:id="rId12" action="ppaction://hlinksldjump" tooltip="">
                  <a:extLst>
                    <a:ext uri="{A12FA001-AC4F-418D-AE19-62706E023703}">
                      <ahyp:hlinkClr xmlns:ahyp="http://schemas.microsoft.com/office/drawing/2018/hyperlinkcolor" val="tx"/>
                    </a:ext>
                  </a:extLst>
                </a:hlinkClick>
              </a:rPr>
              <a:t>References</a:t>
            </a:r>
            <a:endParaRPr lang="en-US" sz="2200" dirty="0"/>
          </a:p>
        </p:txBody>
      </p:sp>
      <p:sp>
        <p:nvSpPr>
          <p:cNvPr id="34" name="Text 32"/>
          <p:cNvSpPr/>
          <p:nvPr/>
        </p:nvSpPr>
        <p:spPr>
          <a:xfrm>
            <a:off x="1673352" y="5609844"/>
            <a:ext cx="8778240" cy="237744"/>
          </a:xfrm>
          <a:prstGeom prst="rect">
            <a:avLst/>
          </a:prstGeom>
          <a:noFill/>
          <a:ln/>
        </p:spPr>
        <p:txBody>
          <a:bodyPr wrap="square" lIns="0" tIns="0" rIns="0" bIns="0" rtlCol="0" anchor="ctr"/>
          <a:lstStyle/>
          <a:p>
            <a:pPr indent="0" marL="0">
              <a:buNone/>
            </a:pPr>
            <a:r>
              <a:rPr lang="en-US" sz="1510" dirty="0">
                <a:solidFill>
                  <a:srgbClr val="646464"/>
                </a:solidFill>
                <a:latin typeface="Arial" pitchFamily="34" charset="0"/>
                <a:ea typeface="Arial" pitchFamily="34" charset="-122"/>
                <a:cs typeface="Arial" pitchFamily="34" charset="-120"/>
              </a:rPr>
              <a:t>Supplied technical source and presentation template</a:t>
            </a:r>
            <a:endParaRPr lang="en-US" sz="1510" dirty="0"/>
          </a:p>
        </p:txBody>
      </p:sp>
      <p:sp>
        <p:nvSpPr>
          <p:cNvPr id="35" name="Text 33">
            <a:hlinkClick r:id="rId13" tooltip="" action="ppaction://hlinksldjump"/>
          </p:cNvPr>
          <p:cNvSpPr/>
          <p:nvPr/>
        </p:nvSpPr>
        <p:spPr>
          <a:xfrm>
            <a:off x="10543032" y="5298948"/>
            <a:ext cx="685800" cy="274320"/>
          </a:xfrm>
          <a:prstGeom prst="rect">
            <a:avLst/>
          </a:prstGeom>
          <a:noFill/>
          <a:ln/>
        </p:spPr>
        <p:txBody>
          <a:bodyPr wrap="square" lIns="0" tIns="0" rIns="0" bIns="0" rtlCol="0" anchor="ctr"/>
          <a:lstStyle/>
          <a:p>
            <a:pPr algn="r" indent="0" marL="0">
              <a:buNone/>
            </a:pPr>
            <a:r>
              <a:rPr lang="en-US" sz="1700" u="sng" dirty="0">
                <a:solidFill>
                  <a:srgbClr val="646464"/>
                </a:solidFill>
                <a:latin typeface="Arial" pitchFamily="34" charset="0"/>
                <a:ea typeface="Arial" pitchFamily="34" charset="-122"/>
                <a:cs typeface="Arial" pitchFamily="34" charset="-120"/>
                <a:hlinkClick r:id="rId13" action="ppaction://hlinksldjump" tooltip="">
                  <a:extLst>
                    <a:ext uri="{A12FA001-AC4F-418D-AE19-62706E023703}">
                      <ahyp:hlinkClr xmlns:ahyp="http://schemas.microsoft.com/office/drawing/2018/hyperlinkcolor" val="tx"/>
                    </a:ext>
                  </a:extLst>
                </a:hlinkClick>
              </a:rPr>
              <a:t>11</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Introduction</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Project overview and mechanical concept</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3 / 11</a:t>
            </a:r>
            <a:endParaRPr lang="en-US" sz="1020" dirty="0"/>
          </a:p>
        </p:txBody>
      </p:sp>
      <p:pic>
        <p:nvPicPr>
          <p:cNvPr id="9" name="Image 0" descr="/mnt/data/robotic_arm_work/assets/crop_source_s03_im16.png">    </p:cNvPr>
          <p:cNvPicPr>
            <a:picLocks noChangeAspect="1"/>
          </p:cNvPicPr>
          <p:nvPr/>
        </p:nvPicPr>
        <p:blipFill>
          <a:blip r:embed="rId3"/>
          <a:stretch>
            <a:fillRect/>
          </a:stretch>
        </p:blipFill>
        <p:spPr>
          <a:xfrm>
            <a:off x="960120" y="1791577"/>
            <a:ext cx="5687568" cy="3622318"/>
          </a:xfrm>
          <a:prstGeom prst="rect">
            <a:avLst/>
          </a:prstGeom>
        </p:spPr>
      </p:pic>
      <p:sp>
        <p:nvSpPr>
          <p:cNvPr id="10" name="Text 7"/>
          <p:cNvSpPr/>
          <p:nvPr/>
        </p:nvSpPr>
        <p:spPr>
          <a:xfrm>
            <a:off x="1014984" y="5532120"/>
            <a:ext cx="5605272" cy="228600"/>
          </a:xfrm>
          <a:prstGeom prst="rect">
            <a:avLst/>
          </a:prstGeom>
          <a:noFill/>
          <a:ln/>
        </p:spPr>
        <p:txBody>
          <a:bodyPr wrap="square" lIns="0" tIns="0" rIns="0" bIns="0" rtlCol="0" anchor="ctr"/>
          <a:lstStyle/>
          <a:p>
            <a:pPr algn="ctr" indent="0" marL="0">
              <a:buNone/>
            </a:pPr>
            <a:r>
              <a:rPr lang="en-US" sz="1430" dirty="0">
                <a:solidFill>
                  <a:srgbClr val="646464"/>
                </a:solidFill>
                <a:latin typeface="Arial" pitchFamily="34" charset="0"/>
                <a:ea typeface="Arial" pitchFamily="34" charset="-122"/>
                <a:cs typeface="Arial" pitchFamily="34" charset="-120"/>
              </a:rPr>
              <a:t>A: fixed base   •   B: elbow joint   •   C: end-effector</a:t>
            </a:r>
            <a:endParaRPr lang="en-US" sz="1430" dirty="0"/>
          </a:p>
        </p:txBody>
      </p:sp>
      <p:sp>
        <p:nvSpPr>
          <p:cNvPr id="11" name="Text 8"/>
          <p:cNvSpPr/>
          <p:nvPr/>
        </p:nvSpPr>
        <p:spPr>
          <a:xfrm>
            <a:off x="6958584" y="1847088"/>
            <a:ext cx="4242816" cy="283464"/>
          </a:xfrm>
          <a:prstGeom prst="rect">
            <a:avLst/>
          </a:prstGeom>
          <a:noFill/>
          <a:ln/>
        </p:spPr>
        <p:txBody>
          <a:bodyPr wrap="square" lIns="0" tIns="0" rIns="0" bIns="0" rtlCol="0" anchor="ctr"/>
          <a:lstStyle/>
          <a:p>
            <a:pPr indent="0" marL="0">
              <a:buNone/>
            </a:pPr>
            <a:r>
              <a:rPr lang="en-US" sz="1930" b="1" dirty="0">
                <a:solidFill>
                  <a:srgbClr val="000000"/>
                </a:solidFill>
                <a:latin typeface="Arial" pitchFamily="34" charset="0"/>
                <a:ea typeface="Arial" pitchFamily="34" charset="-122"/>
                <a:cs typeface="Arial" pitchFamily="34" charset="-120"/>
              </a:rPr>
              <a:t>Two links and two revolute joints</a:t>
            </a:r>
            <a:endParaRPr lang="en-US" sz="1930" dirty="0"/>
          </a:p>
        </p:txBody>
      </p:sp>
      <p:sp>
        <p:nvSpPr>
          <p:cNvPr id="12" name="Text 9"/>
          <p:cNvSpPr/>
          <p:nvPr/>
        </p:nvSpPr>
        <p:spPr>
          <a:xfrm>
            <a:off x="6958584" y="2212848"/>
            <a:ext cx="4242816" cy="548640"/>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AB rotates about fixed base A; BC rotates about moving elbow B.</a:t>
            </a:r>
            <a:endParaRPr lang="en-US" sz="1750" dirty="0"/>
          </a:p>
        </p:txBody>
      </p:sp>
      <p:sp>
        <p:nvSpPr>
          <p:cNvPr id="13" name="Text 10"/>
          <p:cNvSpPr/>
          <p:nvPr/>
        </p:nvSpPr>
        <p:spPr>
          <a:xfrm>
            <a:off x="6958584" y="2802636"/>
            <a:ext cx="4242816" cy="283464"/>
          </a:xfrm>
          <a:prstGeom prst="rect">
            <a:avLst/>
          </a:prstGeom>
          <a:noFill/>
          <a:ln/>
        </p:spPr>
        <p:txBody>
          <a:bodyPr wrap="square" lIns="0" tIns="0" rIns="0" bIns="0" rtlCol="0" anchor="ctr"/>
          <a:lstStyle/>
          <a:p>
            <a:pPr indent="0" marL="0">
              <a:buNone/>
            </a:pPr>
            <a:r>
              <a:rPr lang="en-US" sz="1930" b="1" dirty="0">
                <a:solidFill>
                  <a:srgbClr val="000000"/>
                </a:solidFill>
                <a:latin typeface="Arial" pitchFamily="34" charset="0"/>
                <a:ea typeface="Arial" pitchFamily="34" charset="-122"/>
                <a:cs typeface="Arial" pitchFamily="34" charset="-120"/>
              </a:rPr>
              <a:t>Independent joint actuation</a:t>
            </a:r>
            <a:endParaRPr lang="en-US" sz="1930" dirty="0"/>
          </a:p>
        </p:txBody>
      </p:sp>
      <p:sp>
        <p:nvSpPr>
          <p:cNvPr id="14" name="Text 11"/>
          <p:cNvSpPr/>
          <p:nvPr/>
        </p:nvSpPr>
        <p:spPr>
          <a:xfrm>
            <a:off x="6958584" y="3168396"/>
            <a:ext cx="4242816" cy="548640"/>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Each stepper motor controls its joint’s rotation direction and angle.</a:t>
            </a:r>
            <a:endParaRPr lang="en-US" sz="1750" dirty="0"/>
          </a:p>
        </p:txBody>
      </p:sp>
      <p:sp>
        <p:nvSpPr>
          <p:cNvPr id="15" name="Text 12"/>
          <p:cNvSpPr/>
          <p:nvPr/>
        </p:nvSpPr>
        <p:spPr>
          <a:xfrm>
            <a:off x="6958584" y="3758184"/>
            <a:ext cx="4242816" cy="283464"/>
          </a:xfrm>
          <a:prstGeom prst="rect">
            <a:avLst/>
          </a:prstGeom>
          <a:noFill/>
          <a:ln/>
        </p:spPr>
        <p:txBody>
          <a:bodyPr wrap="square" lIns="0" tIns="0" rIns="0" bIns="0" rtlCol="0" anchor="ctr"/>
          <a:lstStyle/>
          <a:p>
            <a:pPr indent="0" marL="0">
              <a:buNone/>
            </a:pPr>
            <a:r>
              <a:rPr lang="en-US" sz="1930" b="1" dirty="0">
                <a:solidFill>
                  <a:srgbClr val="000000"/>
                </a:solidFill>
                <a:latin typeface="Arial" pitchFamily="34" charset="0"/>
                <a:ea typeface="Arial" pitchFamily="34" charset="-122"/>
                <a:cs typeface="Arial" pitchFamily="34" charset="-120"/>
              </a:rPr>
              <a:t>Coordinated end-effector motion</a:t>
            </a:r>
            <a:endParaRPr lang="en-US" sz="1930" dirty="0"/>
          </a:p>
        </p:txBody>
      </p:sp>
      <p:sp>
        <p:nvSpPr>
          <p:cNvPr id="16" name="Text 13"/>
          <p:cNvSpPr/>
          <p:nvPr/>
        </p:nvSpPr>
        <p:spPr>
          <a:xfrm>
            <a:off x="6958584" y="4123944"/>
            <a:ext cx="4242816" cy="548640"/>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Each (θ₁, θ₂) pair locates C at (x, y). Successive pairs trace the path.</a:t>
            </a:r>
            <a:endParaRPr lang="en-US" sz="1750" dirty="0"/>
          </a:p>
        </p:txBody>
      </p:sp>
      <p:sp>
        <p:nvSpPr>
          <p:cNvPr id="17" name="Text 14"/>
          <p:cNvSpPr/>
          <p:nvPr/>
        </p:nvSpPr>
        <p:spPr>
          <a:xfrm>
            <a:off x="6958584" y="4713732"/>
            <a:ext cx="4242816" cy="283464"/>
          </a:xfrm>
          <a:prstGeom prst="rect">
            <a:avLst/>
          </a:prstGeom>
          <a:noFill/>
          <a:ln/>
        </p:spPr>
        <p:txBody>
          <a:bodyPr wrap="square" lIns="0" tIns="0" rIns="0" bIns="0" rtlCol="0" anchor="ctr"/>
          <a:lstStyle/>
          <a:p>
            <a:pPr indent="0" marL="0">
              <a:buNone/>
            </a:pPr>
            <a:r>
              <a:rPr lang="en-US" sz="1930" b="1" dirty="0">
                <a:solidFill>
                  <a:srgbClr val="000000"/>
                </a:solidFill>
                <a:latin typeface="Arial" pitchFamily="34" charset="0"/>
                <a:ea typeface="Arial" pitchFamily="34" charset="-122"/>
                <a:cs typeface="Arial" pitchFamily="34" charset="-120"/>
              </a:rPr>
              <a:t>Position feedback</a:t>
            </a:r>
            <a:endParaRPr lang="en-US" sz="1930" dirty="0"/>
          </a:p>
        </p:txBody>
      </p:sp>
      <p:sp>
        <p:nvSpPr>
          <p:cNvPr id="18" name="Text 15"/>
          <p:cNvSpPr/>
          <p:nvPr/>
        </p:nvSpPr>
        <p:spPr>
          <a:xfrm>
            <a:off x="6958584" y="5079492"/>
            <a:ext cx="4242816" cy="548640"/>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Joint encoders provide angle feedback to correct step loss or drift.</a:t>
            </a:r>
            <a:endParaRPr lang="en-US" sz="1750" dirty="0"/>
          </a:p>
        </p:txBody>
      </p:sp>
      <p:sp>
        <p:nvSpPr>
          <p:cNvPr id="19" name="Shape 16"/>
          <p:cNvSpPr/>
          <p:nvPr/>
        </p:nvSpPr>
        <p:spPr>
          <a:xfrm>
            <a:off x="960120" y="5916168"/>
            <a:ext cx="10268712" cy="0"/>
          </a:xfrm>
          <a:prstGeom prst="line">
            <a:avLst/>
          </a:prstGeom>
          <a:noFill/>
          <a:ln w="8255">
            <a:solidFill>
              <a:srgbClr val="D8D8D8"/>
            </a:solidFill>
            <a:prstDash val="solid"/>
          </a:ln>
        </p:spPr>
      </p:sp>
      <p:sp>
        <p:nvSpPr>
          <p:cNvPr id="20" name="Text 17"/>
          <p:cNvSpPr/>
          <p:nvPr/>
        </p:nvSpPr>
        <p:spPr>
          <a:xfrm>
            <a:off x="978408" y="6053328"/>
            <a:ext cx="10232136" cy="219456"/>
          </a:xfrm>
          <a:prstGeom prst="rect">
            <a:avLst/>
          </a:prstGeom>
          <a:noFill/>
          <a:ln/>
        </p:spPr>
        <p:txBody>
          <a:bodyPr wrap="square" lIns="0" tIns="0" rIns="0" bIns="0" rtlCol="0" anchor="ctr"/>
          <a:lstStyle/>
          <a:p>
            <a:pPr indent="0" marL="0">
              <a:buNone/>
            </a:pPr>
            <a:r>
              <a:rPr lang="en-US" sz="1400" dirty="0">
                <a:solidFill>
                  <a:srgbClr val="202020"/>
                </a:solidFill>
                <a:latin typeface="Arial" pitchFamily="34" charset="0"/>
                <a:ea typeface="Arial" pitchFamily="34" charset="-122"/>
                <a:cs typeface="Arial" pitchFamily="34" charset="-120"/>
              </a:rPr>
              <a:t>Applications: pick &amp; place • 2D plotting • educational robotics • prosthetics testbeds • lab fixtures • path-tracking research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Introduction</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Hardware and planned implementation</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4 / 11</a:t>
            </a:r>
            <a:endParaRPr lang="en-US" sz="1020" dirty="0"/>
          </a:p>
        </p:txBody>
      </p:sp>
      <p:sp>
        <p:nvSpPr>
          <p:cNvPr id="9" name="Text 7"/>
          <p:cNvSpPr/>
          <p:nvPr/>
        </p:nvSpPr>
        <p:spPr>
          <a:xfrm>
            <a:off x="960120" y="1810512"/>
            <a:ext cx="6583680" cy="283464"/>
          </a:xfrm>
          <a:prstGeom prst="rect">
            <a:avLst/>
          </a:prstGeom>
          <a:noFill/>
          <a:ln/>
        </p:spPr>
        <p:txBody>
          <a:bodyPr wrap="square" lIns="0" tIns="0" rIns="0" bIns="0" rtlCol="0" anchor="ctr"/>
          <a:lstStyle/>
          <a:p>
            <a:pPr indent="0" marL="0">
              <a:buNone/>
            </a:pPr>
            <a:r>
              <a:rPr lang="en-US" sz="2040" b="1" dirty="0">
                <a:solidFill>
                  <a:srgbClr val="000000"/>
                </a:solidFill>
                <a:latin typeface="Arial" pitchFamily="34" charset="0"/>
                <a:ea typeface="Arial" pitchFamily="34" charset="-122"/>
                <a:cs typeface="Arial" pitchFamily="34" charset="-120"/>
              </a:rPr>
              <a:t>Bill of materials</a:t>
            </a:r>
            <a:endParaRPr lang="en-US" sz="2040" dirty="0"/>
          </a:p>
        </p:txBody>
      </p:sp>
      <p:sp>
        <p:nvSpPr>
          <p:cNvPr id="10" name="Shape 8"/>
          <p:cNvSpPr/>
          <p:nvPr/>
        </p:nvSpPr>
        <p:spPr>
          <a:xfrm>
            <a:off x="960120" y="2249424"/>
            <a:ext cx="2743200" cy="365760"/>
          </a:xfrm>
          <a:prstGeom prst="rect">
            <a:avLst/>
          </a:prstGeom>
          <a:solidFill>
            <a:srgbClr val="E9E9E9"/>
          </a:solidFill>
          <a:ln w="8890">
            <a:solidFill>
              <a:srgbClr val="D4D4D4"/>
            </a:solidFill>
            <a:prstDash val="solid"/>
          </a:ln>
        </p:spPr>
      </p:sp>
      <p:sp>
        <p:nvSpPr>
          <p:cNvPr id="11" name="Text 9"/>
          <p:cNvSpPr/>
          <p:nvPr/>
        </p:nvSpPr>
        <p:spPr>
          <a:xfrm>
            <a:off x="1051560" y="2313432"/>
            <a:ext cx="2560320" cy="237744"/>
          </a:xfrm>
          <a:prstGeom prst="rect">
            <a:avLst/>
          </a:prstGeom>
          <a:noFill/>
          <a:ln/>
        </p:spPr>
        <p:txBody>
          <a:bodyPr wrap="square" lIns="0" tIns="0" rIns="0" bIns="0" rtlCol="0" anchor="ctr"/>
          <a:lstStyle/>
          <a:p>
            <a:pPr algn="l" indent="0" marL="0">
              <a:buNone/>
            </a:pPr>
            <a:r>
              <a:rPr lang="en-US" sz="1580" b="1" dirty="0">
                <a:solidFill>
                  <a:srgbClr val="202020"/>
                </a:solidFill>
                <a:latin typeface="Arial" pitchFamily="34" charset="0"/>
                <a:ea typeface="Arial" pitchFamily="34" charset="-122"/>
                <a:cs typeface="Arial" pitchFamily="34" charset="-120"/>
              </a:rPr>
              <a:t>Component</a:t>
            </a:r>
            <a:endParaRPr lang="en-US" sz="1580" dirty="0"/>
          </a:p>
        </p:txBody>
      </p:sp>
      <p:sp>
        <p:nvSpPr>
          <p:cNvPr id="12" name="Shape 10"/>
          <p:cNvSpPr/>
          <p:nvPr/>
        </p:nvSpPr>
        <p:spPr>
          <a:xfrm>
            <a:off x="3703320" y="2249424"/>
            <a:ext cx="548640" cy="365760"/>
          </a:xfrm>
          <a:prstGeom prst="rect">
            <a:avLst/>
          </a:prstGeom>
          <a:solidFill>
            <a:srgbClr val="E9E9E9"/>
          </a:solidFill>
          <a:ln w="8890">
            <a:solidFill>
              <a:srgbClr val="D4D4D4"/>
            </a:solidFill>
            <a:prstDash val="solid"/>
          </a:ln>
        </p:spPr>
      </p:sp>
      <p:sp>
        <p:nvSpPr>
          <p:cNvPr id="13" name="Text 11"/>
          <p:cNvSpPr/>
          <p:nvPr/>
        </p:nvSpPr>
        <p:spPr>
          <a:xfrm>
            <a:off x="3794760" y="2313432"/>
            <a:ext cx="365760" cy="237744"/>
          </a:xfrm>
          <a:prstGeom prst="rect">
            <a:avLst/>
          </a:prstGeom>
          <a:noFill/>
          <a:ln/>
        </p:spPr>
        <p:txBody>
          <a:bodyPr wrap="square" lIns="0" tIns="0" rIns="0" bIns="0" rtlCol="0" anchor="ctr"/>
          <a:lstStyle/>
          <a:p>
            <a:pPr algn="ctr" indent="0" marL="0">
              <a:buNone/>
            </a:pPr>
            <a:r>
              <a:rPr lang="en-US" sz="1580" b="1" dirty="0">
                <a:solidFill>
                  <a:srgbClr val="202020"/>
                </a:solidFill>
                <a:latin typeface="Arial" pitchFamily="34" charset="0"/>
                <a:ea typeface="Arial" pitchFamily="34" charset="-122"/>
                <a:cs typeface="Arial" pitchFamily="34" charset="-120"/>
              </a:rPr>
              <a:t>Qty</a:t>
            </a:r>
            <a:endParaRPr lang="en-US" sz="1580" dirty="0"/>
          </a:p>
        </p:txBody>
      </p:sp>
      <p:sp>
        <p:nvSpPr>
          <p:cNvPr id="14" name="Shape 12"/>
          <p:cNvSpPr/>
          <p:nvPr/>
        </p:nvSpPr>
        <p:spPr>
          <a:xfrm>
            <a:off x="4251960" y="2249424"/>
            <a:ext cx="3136392" cy="365760"/>
          </a:xfrm>
          <a:prstGeom prst="rect">
            <a:avLst/>
          </a:prstGeom>
          <a:solidFill>
            <a:srgbClr val="E9E9E9"/>
          </a:solidFill>
          <a:ln w="8890">
            <a:solidFill>
              <a:srgbClr val="D4D4D4"/>
            </a:solidFill>
            <a:prstDash val="solid"/>
          </a:ln>
        </p:spPr>
      </p:sp>
      <p:sp>
        <p:nvSpPr>
          <p:cNvPr id="15" name="Text 13"/>
          <p:cNvSpPr/>
          <p:nvPr/>
        </p:nvSpPr>
        <p:spPr>
          <a:xfrm>
            <a:off x="4343400" y="2313432"/>
            <a:ext cx="2953512" cy="237744"/>
          </a:xfrm>
          <a:prstGeom prst="rect">
            <a:avLst/>
          </a:prstGeom>
          <a:noFill/>
          <a:ln/>
        </p:spPr>
        <p:txBody>
          <a:bodyPr wrap="square" lIns="0" tIns="0" rIns="0" bIns="0" rtlCol="0" anchor="ctr"/>
          <a:lstStyle/>
          <a:p>
            <a:pPr algn="l" indent="0" marL="0">
              <a:buNone/>
            </a:pPr>
            <a:r>
              <a:rPr lang="en-US" sz="1580" b="1" dirty="0">
                <a:solidFill>
                  <a:srgbClr val="202020"/>
                </a:solidFill>
                <a:latin typeface="Arial" pitchFamily="34" charset="0"/>
                <a:ea typeface="Arial" pitchFamily="34" charset="-122"/>
                <a:cs typeface="Arial" pitchFamily="34" charset="-120"/>
              </a:rPr>
              <a:t>Role</a:t>
            </a:r>
            <a:endParaRPr lang="en-US" sz="1580" dirty="0"/>
          </a:p>
        </p:txBody>
      </p:sp>
      <p:sp>
        <p:nvSpPr>
          <p:cNvPr id="16" name="Shape 14"/>
          <p:cNvSpPr/>
          <p:nvPr/>
        </p:nvSpPr>
        <p:spPr>
          <a:xfrm>
            <a:off x="960120" y="2615184"/>
            <a:ext cx="2743200" cy="557784"/>
          </a:xfrm>
          <a:prstGeom prst="rect">
            <a:avLst/>
          </a:prstGeom>
          <a:solidFill>
            <a:srgbClr val="FFFFFF"/>
          </a:solidFill>
          <a:ln w="8890">
            <a:solidFill>
              <a:srgbClr val="D4D4D4"/>
            </a:solidFill>
            <a:prstDash val="solid"/>
          </a:ln>
        </p:spPr>
      </p:sp>
      <p:sp>
        <p:nvSpPr>
          <p:cNvPr id="17" name="Text 15"/>
          <p:cNvSpPr/>
          <p:nvPr/>
        </p:nvSpPr>
        <p:spPr>
          <a:xfrm>
            <a:off x="1051560" y="2679192"/>
            <a:ext cx="2560320"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Microcontroller</a:t>
            </a:r>
            <a:endParaRPr lang="en-US" sz="1515" dirty="0"/>
          </a:p>
          <a:p>
            <a:pPr algn="l" indent="0" marL="0">
              <a:buNone/>
            </a:pPr>
            <a:r>
              <a:rPr lang="en-US" sz="1515" dirty="0">
                <a:solidFill>
                  <a:srgbClr val="202020"/>
                </a:solidFill>
                <a:latin typeface="Arial" pitchFamily="34" charset="0"/>
                <a:ea typeface="Arial" pitchFamily="34" charset="-122"/>
                <a:cs typeface="Arial" pitchFamily="34" charset="-120"/>
              </a:rPr>
              <a:t>(Arduino / ESP32)</a:t>
            </a:r>
            <a:endParaRPr lang="en-US" sz="1515" dirty="0"/>
          </a:p>
        </p:txBody>
      </p:sp>
      <p:sp>
        <p:nvSpPr>
          <p:cNvPr id="18" name="Shape 16"/>
          <p:cNvSpPr/>
          <p:nvPr/>
        </p:nvSpPr>
        <p:spPr>
          <a:xfrm>
            <a:off x="3703320" y="2615184"/>
            <a:ext cx="548640" cy="557784"/>
          </a:xfrm>
          <a:prstGeom prst="rect">
            <a:avLst/>
          </a:prstGeom>
          <a:solidFill>
            <a:srgbClr val="FFFFFF"/>
          </a:solidFill>
          <a:ln w="8890">
            <a:solidFill>
              <a:srgbClr val="D4D4D4"/>
            </a:solidFill>
            <a:prstDash val="solid"/>
          </a:ln>
        </p:spPr>
      </p:sp>
      <p:sp>
        <p:nvSpPr>
          <p:cNvPr id="19" name="Text 17"/>
          <p:cNvSpPr/>
          <p:nvPr/>
        </p:nvSpPr>
        <p:spPr>
          <a:xfrm>
            <a:off x="3794760" y="2679192"/>
            <a:ext cx="365760" cy="429768"/>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1</a:t>
            </a:r>
            <a:endParaRPr lang="en-US" sz="1515" dirty="0"/>
          </a:p>
        </p:txBody>
      </p:sp>
      <p:sp>
        <p:nvSpPr>
          <p:cNvPr id="20" name="Shape 18"/>
          <p:cNvSpPr/>
          <p:nvPr/>
        </p:nvSpPr>
        <p:spPr>
          <a:xfrm>
            <a:off x="4251960" y="2615184"/>
            <a:ext cx="3136392" cy="557784"/>
          </a:xfrm>
          <a:prstGeom prst="rect">
            <a:avLst/>
          </a:prstGeom>
          <a:solidFill>
            <a:srgbClr val="FFFFFF"/>
          </a:solidFill>
          <a:ln w="8890">
            <a:solidFill>
              <a:srgbClr val="D4D4D4"/>
            </a:solidFill>
            <a:prstDash val="solid"/>
          </a:ln>
        </p:spPr>
      </p:sp>
      <p:sp>
        <p:nvSpPr>
          <p:cNvPr id="21" name="Text 19"/>
          <p:cNvSpPr/>
          <p:nvPr/>
        </p:nvSpPr>
        <p:spPr>
          <a:xfrm>
            <a:off x="4343400" y="2679192"/>
            <a:ext cx="2953512"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Trajectory logic, IK and motor commands</a:t>
            </a:r>
            <a:endParaRPr lang="en-US" sz="1515" dirty="0"/>
          </a:p>
        </p:txBody>
      </p:sp>
      <p:sp>
        <p:nvSpPr>
          <p:cNvPr id="22" name="Shape 20"/>
          <p:cNvSpPr/>
          <p:nvPr/>
        </p:nvSpPr>
        <p:spPr>
          <a:xfrm>
            <a:off x="960120" y="3172968"/>
            <a:ext cx="2743200" cy="557784"/>
          </a:xfrm>
          <a:prstGeom prst="rect">
            <a:avLst/>
          </a:prstGeom>
          <a:solidFill>
            <a:srgbClr val="F8F8F8"/>
          </a:solidFill>
          <a:ln w="8890">
            <a:solidFill>
              <a:srgbClr val="D4D4D4"/>
            </a:solidFill>
            <a:prstDash val="solid"/>
          </a:ln>
        </p:spPr>
      </p:sp>
      <p:sp>
        <p:nvSpPr>
          <p:cNvPr id="23" name="Text 21"/>
          <p:cNvSpPr/>
          <p:nvPr/>
        </p:nvSpPr>
        <p:spPr>
          <a:xfrm>
            <a:off x="1051560" y="3236976"/>
            <a:ext cx="2560320"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Stepper motors</a:t>
            </a:r>
            <a:endParaRPr lang="en-US" sz="1515" dirty="0"/>
          </a:p>
          <a:p>
            <a:pPr algn="l" indent="0" marL="0">
              <a:buNone/>
            </a:pPr>
            <a:r>
              <a:rPr lang="en-US" sz="1515" dirty="0">
                <a:solidFill>
                  <a:srgbClr val="202020"/>
                </a:solidFill>
                <a:latin typeface="Arial" pitchFamily="34" charset="0"/>
                <a:ea typeface="Arial" pitchFamily="34" charset="-122"/>
                <a:cs typeface="Arial" pitchFamily="34" charset="-120"/>
              </a:rPr>
              <a:t>(NEMA-17 or similar)</a:t>
            </a:r>
            <a:endParaRPr lang="en-US" sz="1515" dirty="0"/>
          </a:p>
        </p:txBody>
      </p:sp>
      <p:sp>
        <p:nvSpPr>
          <p:cNvPr id="24" name="Shape 22"/>
          <p:cNvSpPr/>
          <p:nvPr/>
        </p:nvSpPr>
        <p:spPr>
          <a:xfrm>
            <a:off x="3703320" y="3172968"/>
            <a:ext cx="548640" cy="557784"/>
          </a:xfrm>
          <a:prstGeom prst="rect">
            <a:avLst/>
          </a:prstGeom>
          <a:solidFill>
            <a:srgbClr val="F8F8F8"/>
          </a:solidFill>
          <a:ln w="8890">
            <a:solidFill>
              <a:srgbClr val="D4D4D4"/>
            </a:solidFill>
            <a:prstDash val="solid"/>
          </a:ln>
        </p:spPr>
      </p:sp>
      <p:sp>
        <p:nvSpPr>
          <p:cNvPr id="25" name="Text 23"/>
          <p:cNvSpPr/>
          <p:nvPr/>
        </p:nvSpPr>
        <p:spPr>
          <a:xfrm>
            <a:off x="3794760" y="3236976"/>
            <a:ext cx="365760" cy="429768"/>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2</a:t>
            </a:r>
            <a:endParaRPr lang="en-US" sz="1515" dirty="0"/>
          </a:p>
        </p:txBody>
      </p:sp>
      <p:sp>
        <p:nvSpPr>
          <p:cNvPr id="26" name="Shape 24"/>
          <p:cNvSpPr/>
          <p:nvPr/>
        </p:nvSpPr>
        <p:spPr>
          <a:xfrm>
            <a:off x="4251960" y="3172968"/>
            <a:ext cx="3136392" cy="557784"/>
          </a:xfrm>
          <a:prstGeom prst="rect">
            <a:avLst/>
          </a:prstGeom>
          <a:solidFill>
            <a:srgbClr val="F8F8F8"/>
          </a:solidFill>
          <a:ln w="8890">
            <a:solidFill>
              <a:srgbClr val="D4D4D4"/>
            </a:solidFill>
            <a:prstDash val="solid"/>
          </a:ln>
        </p:spPr>
      </p:sp>
      <p:sp>
        <p:nvSpPr>
          <p:cNvPr id="27" name="Text 25"/>
          <p:cNvSpPr/>
          <p:nvPr/>
        </p:nvSpPr>
        <p:spPr>
          <a:xfrm>
            <a:off x="4343400" y="3236976"/>
            <a:ext cx="2953512"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Actuate joints A and B</a:t>
            </a:r>
            <a:endParaRPr lang="en-US" sz="1515" dirty="0"/>
          </a:p>
        </p:txBody>
      </p:sp>
      <p:sp>
        <p:nvSpPr>
          <p:cNvPr id="28" name="Shape 26"/>
          <p:cNvSpPr/>
          <p:nvPr/>
        </p:nvSpPr>
        <p:spPr>
          <a:xfrm>
            <a:off x="960120" y="3730752"/>
            <a:ext cx="2743200" cy="557784"/>
          </a:xfrm>
          <a:prstGeom prst="rect">
            <a:avLst/>
          </a:prstGeom>
          <a:solidFill>
            <a:srgbClr val="FFFFFF"/>
          </a:solidFill>
          <a:ln w="8890">
            <a:solidFill>
              <a:srgbClr val="D4D4D4"/>
            </a:solidFill>
            <a:prstDash val="solid"/>
          </a:ln>
        </p:spPr>
      </p:sp>
      <p:sp>
        <p:nvSpPr>
          <p:cNvPr id="29" name="Text 27"/>
          <p:cNvSpPr/>
          <p:nvPr/>
        </p:nvSpPr>
        <p:spPr>
          <a:xfrm>
            <a:off x="1051560" y="3794760"/>
            <a:ext cx="2560320"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Stepper drivers</a:t>
            </a:r>
            <a:endParaRPr lang="en-US" sz="1515" dirty="0"/>
          </a:p>
          <a:p>
            <a:pPr algn="l" indent="0" marL="0">
              <a:buNone/>
            </a:pPr>
            <a:r>
              <a:rPr lang="en-US" sz="1515" dirty="0">
                <a:solidFill>
                  <a:srgbClr val="202020"/>
                </a:solidFill>
                <a:latin typeface="Arial" pitchFamily="34" charset="0"/>
                <a:ea typeface="Arial" pitchFamily="34" charset="-122"/>
                <a:cs typeface="Arial" pitchFamily="34" charset="-120"/>
              </a:rPr>
              <a:t>(A4988 / DRV8825)</a:t>
            </a:r>
            <a:endParaRPr lang="en-US" sz="1515" dirty="0"/>
          </a:p>
        </p:txBody>
      </p:sp>
      <p:sp>
        <p:nvSpPr>
          <p:cNvPr id="30" name="Shape 28"/>
          <p:cNvSpPr/>
          <p:nvPr/>
        </p:nvSpPr>
        <p:spPr>
          <a:xfrm>
            <a:off x="3703320" y="3730752"/>
            <a:ext cx="548640" cy="557784"/>
          </a:xfrm>
          <a:prstGeom prst="rect">
            <a:avLst/>
          </a:prstGeom>
          <a:solidFill>
            <a:srgbClr val="FFFFFF"/>
          </a:solidFill>
          <a:ln w="8890">
            <a:solidFill>
              <a:srgbClr val="D4D4D4"/>
            </a:solidFill>
            <a:prstDash val="solid"/>
          </a:ln>
        </p:spPr>
      </p:sp>
      <p:sp>
        <p:nvSpPr>
          <p:cNvPr id="31" name="Text 29"/>
          <p:cNvSpPr/>
          <p:nvPr/>
        </p:nvSpPr>
        <p:spPr>
          <a:xfrm>
            <a:off x="3794760" y="3794760"/>
            <a:ext cx="365760" cy="429768"/>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2</a:t>
            </a:r>
            <a:endParaRPr lang="en-US" sz="1515" dirty="0"/>
          </a:p>
        </p:txBody>
      </p:sp>
      <p:sp>
        <p:nvSpPr>
          <p:cNvPr id="32" name="Shape 30"/>
          <p:cNvSpPr/>
          <p:nvPr/>
        </p:nvSpPr>
        <p:spPr>
          <a:xfrm>
            <a:off x="4251960" y="3730752"/>
            <a:ext cx="3136392" cy="557784"/>
          </a:xfrm>
          <a:prstGeom prst="rect">
            <a:avLst/>
          </a:prstGeom>
          <a:solidFill>
            <a:srgbClr val="FFFFFF"/>
          </a:solidFill>
          <a:ln w="8890">
            <a:solidFill>
              <a:srgbClr val="D4D4D4"/>
            </a:solidFill>
            <a:prstDash val="solid"/>
          </a:ln>
        </p:spPr>
      </p:sp>
      <p:sp>
        <p:nvSpPr>
          <p:cNvPr id="33" name="Text 31"/>
          <p:cNvSpPr/>
          <p:nvPr/>
        </p:nvSpPr>
        <p:spPr>
          <a:xfrm>
            <a:off x="4343400" y="3794760"/>
            <a:ext cx="2953512" cy="429768"/>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Convert step/direction commands into phase currents</a:t>
            </a:r>
            <a:endParaRPr lang="en-US" sz="1515" dirty="0"/>
          </a:p>
        </p:txBody>
      </p:sp>
      <p:sp>
        <p:nvSpPr>
          <p:cNvPr id="34" name="Shape 32"/>
          <p:cNvSpPr/>
          <p:nvPr/>
        </p:nvSpPr>
        <p:spPr>
          <a:xfrm>
            <a:off x="960120" y="4288536"/>
            <a:ext cx="2743200" cy="411480"/>
          </a:xfrm>
          <a:prstGeom prst="rect">
            <a:avLst/>
          </a:prstGeom>
          <a:solidFill>
            <a:srgbClr val="F8F8F8"/>
          </a:solidFill>
          <a:ln w="8890">
            <a:solidFill>
              <a:srgbClr val="D4D4D4"/>
            </a:solidFill>
            <a:prstDash val="solid"/>
          </a:ln>
        </p:spPr>
      </p:sp>
      <p:sp>
        <p:nvSpPr>
          <p:cNvPr id="35" name="Text 33"/>
          <p:cNvSpPr/>
          <p:nvPr/>
        </p:nvSpPr>
        <p:spPr>
          <a:xfrm>
            <a:off x="1051560" y="4352544"/>
            <a:ext cx="2560320" cy="283464"/>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Rotary encoders</a:t>
            </a:r>
            <a:endParaRPr lang="en-US" sz="1515" dirty="0"/>
          </a:p>
        </p:txBody>
      </p:sp>
      <p:sp>
        <p:nvSpPr>
          <p:cNvPr id="36" name="Shape 34"/>
          <p:cNvSpPr/>
          <p:nvPr/>
        </p:nvSpPr>
        <p:spPr>
          <a:xfrm>
            <a:off x="3703320" y="4288536"/>
            <a:ext cx="548640" cy="411480"/>
          </a:xfrm>
          <a:prstGeom prst="rect">
            <a:avLst/>
          </a:prstGeom>
          <a:solidFill>
            <a:srgbClr val="F8F8F8"/>
          </a:solidFill>
          <a:ln w="8890">
            <a:solidFill>
              <a:srgbClr val="D4D4D4"/>
            </a:solidFill>
            <a:prstDash val="solid"/>
          </a:ln>
        </p:spPr>
      </p:sp>
      <p:sp>
        <p:nvSpPr>
          <p:cNvPr id="37" name="Text 35"/>
          <p:cNvSpPr/>
          <p:nvPr/>
        </p:nvSpPr>
        <p:spPr>
          <a:xfrm>
            <a:off x="3794760" y="4352544"/>
            <a:ext cx="365760" cy="283464"/>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2</a:t>
            </a:r>
            <a:endParaRPr lang="en-US" sz="1515" dirty="0"/>
          </a:p>
        </p:txBody>
      </p:sp>
      <p:sp>
        <p:nvSpPr>
          <p:cNvPr id="38" name="Shape 36"/>
          <p:cNvSpPr/>
          <p:nvPr/>
        </p:nvSpPr>
        <p:spPr>
          <a:xfrm>
            <a:off x="4251960" y="4288536"/>
            <a:ext cx="3136392" cy="411480"/>
          </a:xfrm>
          <a:prstGeom prst="rect">
            <a:avLst/>
          </a:prstGeom>
          <a:solidFill>
            <a:srgbClr val="F8F8F8"/>
          </a:solidFill>
          <a:ln w="8890">
            <a:solidFill>
              <a:srgbClr val="D4D4D4"/>
            </a:solidFill>
            <a:prstDash val="solid"/>
          </a:ln>
        </p:spPr>
      </p:sp>
      <p:sp>
        <p:nvSpPr>
          <p:cNvPr id="39" name="Text 37"/>
          <p:cNvSpPr/>
          <p:nvPr/>
        </p:nvSpPr>
        <p:spPr>
          <a:xfrm>
            <a:off x="4343400" y="4352544"/>
            <a:ext cx="2953512" cy="283464"/>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Measure the actual joint angles</a:t>
            </a:r>
            <a:endParaRPr lang="en-US" sz="1515" dirty="0"/>
          </a:p>
        </p:txBody>
      </p:sp>
      <p:sp>
        <p:nvSpPr>
          <p:cNvPr id="40" name="Shape 38"/>
          <p:cNvSpPr/>
          <p:nvPr/>
        </p:nvSpPr>
        <p:spPr>
          <a:xfrm>
            <a:off x="960120" y="4700016"/>
            <a:ext cx="2743200" cy="548640"/>
          </a:xfrm>
          <a:prstGeom prst="rect">
            <a:avLst/>
          </a:prstGeom>
          <a:solidFill>
            <a:srgbClr val="FFFFFF"/>
          </a:solidFill>
          <a:ln w="8890">
            <a:solidFill>
              <a:srgbClr val="D4D4D4"/>
            </a:solidFill>
            <a:prstDash val="solid"/>
          </a:ln>
        </p:spPr>
      </p:sp>
      <p:sp>
        <p:nvSpPr>
          <p:cNvPr id="41" name="Text 39"/>
          <p:cNvSpPr/>
          <p:nvPr/>
        </p:nvSpPr>
        <p:spPr>
          <a:xfrm>
            <a:off x="1051560" y="4764024"/>
            <a:ext cx="2560320" cy="420624"/>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Link members AB and BC</a:t>
            </a:r>
            <a:endParaRPr lang="en-US" sz="1515" dirty="0"/>
          </a:p>
        </p:txBody>
      </p:sp>
      <p:sp>
        <p:nvSpPr>
          <p:cNvPr id="42" name="Shape 40"/>
          <p:cNvSpPr/>
          <p:nvPr/>
        </p:nvSpPr>
        <p:spPr>
          <a:xfrm>
            <a:off x="3703320" y="4700016"/>
            <a:ext cx="548640" cy="548640"/>
          </a:xfrm>
          <a:prstGeom prst="rect">
            <a:avLst/>
          </a:prstGeom>
          <a:solidFill>
            <a:srgbClr val="FFFFFF"/>
          </a:solidFill>
          <a:ln w="8890">
            <a:solidFill>
              <a:srgbClr val="D4D4D4"/>
            </a:solidFill>
            <a:prstDash val="solid"/>
          </a:ln>
        </p:spPr>
      </p:sp>
      <p:sp>
        <p:nvSpPr>
          <p:cNvPr id="43" name="Text 41"/>
          <p:cNvSpPr/>
          <p:nvPr/>
        </p:nvSpPr>
        <p:spPr>
          <a:xfrm>
            <a:off x="3794760" y="4764024"/>
            <a:ext cx="365760" cy="420624"/>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2</a:t>
            </a:r>
            <a:endParaRPr lang="en-US" sz="1515" dirty="0"/>
          </a:p>
        </p:txBody>
      </p:sp>
      <p:sp>
        <p:nvSpPr>
          <p:cNvPr id="44" name="Shape 42"/>
          <p:cNvSpPr/>
          <p:nvPr/>
        </p:nvSpPr>
        <p:spPr>
          <a:xfrm>
            <a:off x="4251960" y="4700016"/>
            <a:ext cx="3136392" cy="548640"/>
          </a:xfrm>
          <a:prstGeom prst="rect">
            <a:avLst/>
          </a:prstGeom>
          <a:solidFill>
            <a:srgbClr val="FFFFFF"/>
          </a:solidFill>
          <a:ln w="8890">
            <a:solidFill>
              <a:srgbClr val="D4D4D4"/>
            </a:solidFill>
            <a:prstDash val="solid"/>
          </a:ln>
        </p:spPr>
      </p:sp>
      <p:sp>
        <p:nvSpPr>
          <p:cNvPr id="45" name="Text 43"/>
          <p:cNvSpPr/>
          <p:nvPr/>
        </p:nvSpPr>
        <p:spPr>
          <a:xfrm>
            <a:off x="4343400" y="4764024"/>
            <a:ext cx="2953512" cy="420624"/>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Rigid aluminium / 3D-printed arm segments</a:t>
            </a:r>
            <a:endParaRPr lang="en-US" sz="1515" dirty="0"/>
          </a:p>
        </p:txBody>
      </p:sp>
      <p:sp>
        <p:nvSpPr>
          <p:cNvPr id="46" name="Shape 44"/>
          <p:cNvSpPr/>
          <p:nvPr/>
        </p:nvSpPr>
        <p:spPr>
          <a:xfrm>
            <a:off x="960120" y="5248656"/>
            <a:ext cx="2743200" cy="539496"/>
          </a:xfrm>
          <a:prstGeom prst="rect">
            <a:avLst/>
          </a:prstGeom>
          <a:solidFill>
            <a:srgbClr val="F8F8F8"/>
          </a:solidFill>
          <a:ln w="8890">
            <a:solidFill>
              <a:srgbClr val="D4D4D4"/>
            </a:solidFill>
            <a:prstDash val="solid"/>
          </a:ln>
        </p:spPr>
      </p:sp>
      <p:sp>
        <p:nvSpPr>
          <p:cNvPr id="47" name="Text 45"/>
          <p:cNvSpPr/>
          <p:nvPr/>
        </p:nvSpPr>
        <p:spPr>
          <a:xfrm>
            <a:off x="1051560" y="5312664"/>
            <a:ext cx="2560320" cy="411480"/>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Base frame and bearings</a:t>
            </a:r>
            <a:endParaRPr lang="en-US" sz="1515" dirty="0"/>
          </a:p>
        </p:txBody>
      </p:sp>
      <p:sp>
        <p:nvSpPr>
          <p:cNvPr id="48" name="Shape 46"/>
          <p:cNvSpPr/>
          <p:nvPr/>
        </p:nvSpPr>
        <p:spPr>
          <a:xfrm>
            <a:off x="3703320" y="5248656"/>
            <a:ext cx="548640" cy="539496"/>
          </a:xfrm>
          <a:prstGeom prst="rect">
            <a:avLst/>
          </a:prstGeom>
          <a:solidFill>
            <a:srgbClr val="F8F8F8"/>
          </a:solidFill>
          <a:ln w="8890">
            <a:solidFill>
              <a:srgbClr val="D4D4D4"/>
            </a:solidFill>
            <a:prstDash val="solid"/>
          </a:ln>
        </p:spPr>
      </p:sp>
      <p:sp>
        <p:nvSpPr>
          <p:cNvPr id="49" name="Text 47"/>
          <p:cNvSpPr/>
          <p:nvPr/>
        </p:nvSpPr>
        <p:spPr>
          <a:xfrm>
            <a:off x="3794760" y="5312664"/>
            <a:ext cx="365760" cy="411480"/>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1 set</a:t>
            </a:r>
            <a:endParaRPr lang="en-US" sz="1515" dirty="0"/>
          </a:p>
        </p:txBody>
      </p:sp>
      <p:sp>
        <p:nvSpPr>
          <p:cNvPr id="50" name="Shape 48"/>
          <p:cNvSpPr/>
          <p:nvPr/>
        </p:nvSpPr>
        <p:spPr>
          <a:xfrm>
            <a:off x="4251960" y="5248656"/>
            <a:ext cx="3136392" cy="539496"/>
          </a:xfrm>
          <a:prstGeom prst="rect">
            <a:avLst/>
          </a:prstGeom>
          <a:solidFill>
            <a:srgbClr val="F8F8F8"/>
          </a:solidFill>
          <a:ln w="8890">
            <a:solidFill>
              <a:srgbClr val="D4D4D4"/>
            </a:solidFill>
            <a:prstDash val="solid"/>
          </a:ln>
        </p:spPr>
      </p:sp>
      <p:sp>
        <p:nvSpPr>
          <p:cNvPr id="51" name="Text 49"/>
          <p:cNvSpPr/>
          <p:nvPr/>
        </p:nvSpPr>
        <p:spPr>
          <a:xfrm>
            <a:off x="4343400" y="5312664"/>
            <a:ext cx="2953512" cy="411480"/>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Mount joint A and support structural loads</a:t>
            </a:r>
            <a:endParaRPr lang="en-US" sz="1515" dirty="0"/>
          </a:p>
        </p:txBody>
      </p:sp>
      <p:sp>
        <p:nvSpPr>
          <p:cNvPr id="52" name="Shape 50"/>
          <p:cNvSpPr/>
          <p:nvPr/>
        </p:nvSpPr>
        <p:spPr>
          <a:xfrm>
            <a:off x="960120" y="5788152"/>
            <a:ext cx="2743200" cy="530352"/>
          </a:xfrm>
          <a:prstGeom prst="rect">
            <a:avLst/>
          </a:prstGeom>
          <a:solidFill>
            <a:srgbClr val="FFFFFF"/>
          </a:solidFill>
          <a:ln w="8890">
            <a:solidFill>
              <a:srgbClr val="D4D4D4"/>
            </a:solidFill>
            <a:prstDash val="solid"/>
          </a:ln>
        </p:spPr>
      </p:sp>
      <p:sp>
        <p:nvSpPr>
          <p:cNvPr id="53" name="Text 51"/>
          <p:cNvSpPr/>
          <p:nvPr/>
        </p:nvSpPr>
        <p:spPr>
          <a:xfrm>
            <a:off x="1051560" y="5852160"/>
            <a:ext cx="2560320" cy="402336"/>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Power supply unit</a:t>
            </a:r>
            <a:endParaRPr lang="en-US" sz="1515" dirty="0"/>
          </a:p>
        </p:txBody>
      </p:sp>
      <p:sp>
        <p:nvSpPr>
          <p:cNvPr id="54" name="Shape 52"/>
          <p:cNvSpPr/>
          <p:nvPr/>
        </p:nvSpPr>
        <p:spPr>
          <a:xfrm>
            <a:off x="3703320" y="5788152"/>
            <a:ext cx="548640" cy="530352"/>
          </a:xfrm>
          <a:prstGeom prst="rect">
            <a:avLst/>
          </a:prstGeom>
          <a:solidFill>
            <a:srgbClr val="FFFFFF"/>
          </a:solidFill>
          <a:ln w="8890">
            <a:solidFill>
              <a:srgbClr val="D4D4D4"/>
            </a:solidFill>
            <a:prstDash val="solid"/>
          </a:ln>
        </p:spPr>
      </p:sp>
      <p:sp>
        <p:nvSpPr>
          <p:cNvPr id="55" name="Text 53"/>
          <p:cNvSpPr/>
          <p:nvPr/>
        </p:nvSpPr>
        <p:spPr>
          <a:xfrm>
            <a:off x="3794760" y="5852160"/>
            <a:ext cx="365760" cy="402336"/>
          </a:xfrm>
          <a:prstGeom prst="rect">
            <a:avLst/>
          </a:prstGeom>
          <a:noFill/>
          <a:ln/>
        </p:spPr>
        <p:txBody>
          <a:bodyPr wrap="square" lIns="0" tIns="0" rIns="0" bIns="0" rtlCol="0" anchor="ctr"/>
          <a:lstStyle/>
          <a:p>
            <a:pPr algn="ctr" indent="0" marL="0">
              <a:buNone/>
            </a:pPr>
            <a:r>
              <a:rPr lang="en-US" sz="1515" dirty="0">
                <a:solidFill>
                  <a:srgbClr val="202020"/>
                </a:solidFill>
                <a:latin typeface="Arial" pitchFamily="34" charset="0"/>
                <a:ea typeface="Arial" pitchFamily="34" charset="-122"/>
                <a:cs typeface="Arial" pitchFamily="34" charset="-120"/>
              </a:rPr>
              <a:t>1</a:t>
            </a:r>
            <a:endParaRPr lang="en-US" sz="1515" dirty="0"/>
          </a:p>
        </p:txBody>
      </p:sp>
      <p:sp>
        <p:nvSpPr>
          <p:cNvPr id="56" name="Shape 54"/>
          <p:cNvSpPr/>
          <p:nvPr/>
        </p:nvSpPr>
        <p:spPr>
          <a:xfrm>
            <a:off x="4251960" y="5788152"/>
            <a:ext cx="3136392" cy="530352"/>
          </a:xfrm>
          <a:prstGeom prst="rect">
            <a:avLst/>
          </a:prstGeom>
          <a:solidFill>
            <a:srgbClr val="FFFFFF"/>
          </a:solidFill>
          <a:ln w="8890">
            <a:solidFill>
              <a:srgbClr val="D4D4D4"/>
            </a:solidFill>
            <a:prstDash val="solid"/>
          </a:ln>
        </p:spPr>
      </p:sp>
      <p:sp>
        <p:nvSpPr>
          <p:cNvPr id="57" name="Text 55"/>
          <p:cNvSpPr/>
          <p:nvPr/>
        </p:nvSpPr>
        <p:spPr>
          <a:xfrm>
            <a:off x="4343400" y="5852160"/>
            <a:ext cx="2953512" cy="402336"/>
          </a:xfrm>
          <a:prstGeom prst="rect">
            <a:avLst/>
          </a:prstGeom>
          <a:noFill/>
          <a:ln/>
        </p:spPr>
        <p:txBody>
          <a:bodyPr wrap="square" lIns="0" tIns="0" rIns="0" bIns="0" rtlCol="0" anchor="ctr"/>
          <a:lstStyle/>
          <a:p>
            <a:pPr algn="l" indent="0" marL="0">
              <a:buNone/>
            </a:pPr>
            <a:r>
              <a:rPr lang="en-US" sz="1515" dirty="0">
                <a:solidFill>
                  <a:srgbClr val="202020"/>
                </a:solidFill>
                <a:latin typeface="Arial" pitchFamily="34" charset="0"/>
                <a:ea typeface="Arial" pitchFamily="34" charset="-122"/>
                <a:cs typeface="Arial" pitchFamily="34" charset="-120"/>
              </a:rPr>
              <a:t>Supply regulated power to the motors and controller</a:t>
            </a:r>
            <a:endParaRPr lang="en-US" sz="1515" dirty="0"/>
          </a:p>
        </p:txBody>
      </p:sp>
      <p:sp>
        <p:nvSpPr>
          <p:cNvPr id="58" name="Text 56"/>
          <p:cNvSpPr/>
          <p:nvPr/>
        </p:nvSpPr>
        <p:spPr>
          <a:xfrm>
            <a:off x="7927848" y="1810512"/>
            <a:ext cx="3300984" cy="283464"/>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Implementation sequence</a:t>
            </a:r>
            <a:endParaRPr lang="en-US" sz="2000" dirty="0"/>
          </a:p>
        </p:txBody>
      </p:sp>
      <p:sp>
        <p:nvSpPr>
          <p:cNvPr id="59" name="Text 57"/>
          <p:cNvSpPr/>
          <p:nvPr/>
        </p:nvSpPr>
        <p:spPr>
          <a:xfrm>
            <a:off x="7936992" y="2286000"/>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1</a:t>
            </a:r>
            <a:endParaRPr lang="en-US" sz="1700" dirty="0"/>
          </a:p>
        </p:txBody>
      </p:sp>
      <p:sp>
        <p:nvSpPr>
          <p:cNvPr id="60" name="Text 58"/>
          <p:cNvSpPr/>
          <p:nvPr/>
        </p:nvSpPr>
        <p:spPr>
          <a:xfrm>
            <a:off x="8284464" y="2276856"/>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Mechanical design</a:t>
            </a:r>
            <a:endParaRPr lang="en-US" sz="1710" dirty="0"/>
          </a:p>
        </p:txBody>
      </p:sp>
      <p:sp>
        <p:nvSpPr>
          <p:cNvPr id="61" name="Text 59"/>
          <p:cNvSpPr/>
          <p:nvPr/>
        </p:nvSpPr>
        <p:spPr>
          <a:xfrm>
            <a:off x="8284464" y="2551176"/>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Model links, joints and base; select link lengths.</a:t>
            </a:r>
            <a:endParaRPr lang="en-US" sz="1350" dirty="0"/>
          </a:p>
        </p:txBody>
      </p:sp>
      <p:sp>
        <p:nvSpPr>
          <p:cNvPr id="62" name="Text 60"/>
          <p:cNvSpPr/>
          <p:nvPr/>
        </p:nvSpPr>
        <p:spPr>
          <a:xfrm>
            <a:off x="7936992" y="2958084"/>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2</a:t>
            </a:r>
            <a:endParaRPr lang="en-US" sz="1700" dirty="0"/>
          </a:p>
        </p:txBody>
      </p:sp>
      <p:sp>
        <p:nvSpPr>
          <p:cNvPr id="63" name="Text 61"/>
          <p:cNvSpPr/>
          <p:nvPr/>
        </p:nvSpPr>
        <p:spPr>
          <a:xfrm>
            <a:off x="8284464" y="2948940"/>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Kinematic modelling</a:t>
            </a:r>
            <a:endParaRPr lang="en-US" sz="1710" dirty="0"/>
          </a:p>
        </p:txBody>
      </p:sp>
      <p:sp>
        <p:nvSpPr>
          <p:cNvPr id="64" name="Text 62"/>
          <p:cNvSpPr/>
          <p:nvPr/>
        </p:nvSpPr>
        <p:spPr>
          <a:xfrm>
            <a:off x="8284464" y="3223260"/>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Simulate forward / inverse kinematics and workspace.</a:t>
            </a:r>
            <a:endParaRPr lang="en-US" sz="1350" dirty="0"/>
          </a:p>
        </p:txBody>
      </p:sp>
      <p:sp>
        <p:nvSpPr>
          <p:cNvPr id="65" name="Text 63"/>
          <p:cNvSpPr/>
          <p:nvPr/>
        </p:nvSpPr>
        <p:spPr>
          <a:xfrm>
            <a:off x="7936992" y="3630168"/>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3</a:t>
            </a:r>
            <a:endParaRPr lang="en-US" sz="1700" dirty="0"/>
          </a:p>
        </p:txBody>
      </p:sp>
      <p:sp>
        <p:nvSpPr>
          <p:cNvPr id="66" name="Text 64"/>
          <p:cNvSpPr/>
          <p:nvPr/>
        </p:nvSpPr>
        <p:spPr>
          <a:xfrm>
            <a:off x="8284464" y="3621024"/>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Electronics and wiring</a:t>
            </a:r>
            <a:endParaRPr lang="en-US" sz="1710" dirty="0"/>
          </a:p>
        </p:txBody>
      </p:sp>
      <p:sp>
        <p:nvSpPr>
          <p:cNvPr id="67" name="Text 65"/>
          <p:cNvSpPr/>
          <p:nvPr/>
        </p:nvSpPr>
        <p:spPr>
          <a:xfrm>
            <a:off x="8284464" y="3895344"/>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Connect drivers, motors, encoders and power.</a:t>
            </a:r>
            <a:endParaRPr lang="en-US" sz="1350" dirty="0"/>
          </a:p>
        </p:txBody>
      </p:sp>
      <p:sp>
        <p:nvSpPr>
          <p:cNvPr id="68" name="Text 66"/>
          <p:cNvSpPr/>
          <p:nvPr/>
        </p:nvSpPr>
        <p:spPr>
          <a:xfrm>
            <a:off x="7936992" y="4302252"/>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4</a:t>
            </a:r>
            <a:endParaRPr lang="en-US" sz="1700" dirty="0"/>
          </a:p>
        </p:txBody>
      </p:sp>
      <p:sp>
        <p:nvSpPr>
          <p:cNvPr id="69" name="Text 67"/>
          <p:cNvSpPr/>
          <p:nvPr/>
        </p:nvSpPr>
        <p:spPr>
          <a:xfrm>
            <a:off x="8284464" y="4293108"/>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Firmware development</a:t>
            </a:r>
            <a:endParaRPr lang="en-US" sz="1710" dirty="0"/>
          </a:p>
        </p:txBody>
      </p:sp>
      <p:sp>
        <p:nvSpPr>
          <p:cNvPr id="70" name="Text 68"/>
          <p:cNvSpPr/>
          <p:nvPr/>
        </p:nvSpPr>
        <p:spPr>
          <a:xfrm>
            <a:off x="8284464" y="4567428"/>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Implement IK, motor pulses and waypoint sequencing.</a:t>
            </a:r>
            <a:endParaRPr lang="en-US" sz="1350" dirty="0"/>
          </a:p>
        </p:txBody>
      </p:sp>
      <p:sp>
        <p:nvSpPr>
          <p:cNvPr id="71" name="Text 69"/>
          <p:cNvSpPr/>
          <p:nvPr/>
        </p:nvSpPr>
        <p:spPr>
          <a:xfrm>
            <a:off x="7936992" y="4974336"/>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5</a:t>
            </a:r>
            <a:endParaRPr lang="en-US" sz="1700" dirty="0"/>
          </a:p>
        </p:txBody>
      </p:sp>
      <p:sp>
        <p:nvSpPr>
          <p:cNvPr id="72" name="Text 70"/>
          <p:cNvSpPr/>
          <p:nvPr/>
        </p:nvSpPr>
        <p:spPr>
          <a:xfrm>
            <a:off x="8284464" y="4965192"/>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Feedback integration</a:t>
            </a:r>
            <a:endParaRPr lang="en-US" sz="1710" dirty="0"/>
          </a:p>
        </p:txBody>
      </p:sp>
      <p:sp>
        <p:nvSpPr>
          <p:cNvPr id="73" name="Text 71"/>
          <p:cNvSpPr/>
          <p:nvPr/>
        </p:nvSpPr>
        <p:spPr>
          <a:xfrm>
            <a:off x="8284464" y="5239512"/>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Read encoders and calibrate joint zero positions.</a:t>
            </a:r>
            <a:endParaRPr lang="en-US" sz="1350" dirty="0"/>
          </a:p>
        </p:txBody>
      </p:sp>
      <p:sp>
        <p:nvSpPr>
          <p:cNvPr id="74" name="Text 72"/>
          <p:cNvSpPr/>
          <p:nvPr/>
        </p:nvSpPr>
        <p:spPr>
          <a:xfrm>
            <a:off x="7936992" y="5646420"/>
            <a:ext cx="256032" cy="256032"/>
          </a:xfrm>
          <a:prstGeom prst="rect">
            <a:avLst/>
          </a:prstGeom>
          <a:noFill/>
          <a:ln/>
        </p:spPr>
        <p:txBody>
          <a:bodyPr wrap="square" lIns="0" tIns="0" rIns="0" bIns="0" rtlCol="0" anchor="ctr"/>
          <a:lstStyle/>
          <a:p>
            <a:pPr indent="0" marL="0">
              <a:buNone/>
            </a:pPr>
            <a:r>
              <a:rPr lang="en-US" sz="1700" b="1" dirty="0">
                <a:solidFill>
                  <a:srgbClr val="646464"/>
                </a:solidFill>
                <a:latin typeface="Arial" pitchFamily="34" charset="0"/>
                <a:ea typeface="Arial" pitchFamily="34" charset="-122"/>
                <a:cs typeface="Arial" pitchFamily="34" charset="-120"/>
              </a:rPr>
              <a:t>6</a:t>
            </a:r>
            <a:endParaRPr lang="en-US" sz="1700" dirty="0"/>
          </a:p>
        </p:txBody>
      </p:sp>
      <p:sp>
        <p:nvSpPr>
          <p:cNvPr id="75" name="Text 73"/>
          <p:cNvSpPr/>
          <p:nvPr/>
        </p:nvSpPr>
        <p:spPr>
          <a:xfrm>
            <a:off x="8284464" y="5637276"/>
            <a:ext cx="2926080" cy="246888"/>
          </a:xfrm>
          <a:prstGeom prst="rect">
            <a:avLst/>
          </a:prstGeom>
          <a:noFill/>
          <a:ln/>
        </p:spPr>
        <p:txBody>
          <a:bodyPr wrap="square" lIns="0" tIns="0" rIns="0" bIns="0" rtlCol="0" anchor="ctr"/>
          <a:lstStyle/>
          <a:p>
            <a:pPr indent="0" marL="0">
              <a:buNone/>
            </a:pPr>
            <a:r>
              <a:rPr lang="en-US" sz="1710" b="1" dirty="0">
                <a:solidFill>
                  <a:srgbClr val="000000"/>
                </a:solidFill>
                <a:latin typeface="Arial" pitchFamily="34" charset="0"/>
                <a:ea typeface="Arial" pitchFamily="34" charset="-122"/>
                <a:cs typeface="Arial" pitchFamily="34" charset="-120"/>
              </a:rPr>
              <a:t>Trajectory testing</a:t>
            </a:r>
            <a:endParaRPr lang="en-US" sz="1710" dirty="0"/>
          </a:p>
        </p:txBody>
      </p:sp>
      <p:sp>
        <p:nvSpPr>
          <p:cNvPr id="76" name="Text 74"/>
          <p:cNvSpPr/>
          <p:nvPr/>
        </p:nvSpPr>
        <p:spPr>
          <a:xfrm>
            <a:off x="8284464" y="5911596"/>
            <a:ext cx="2926080" cy="365760"/>
          </a:xfrm>
          <a:prstGeom prst="rect">
            <a:avLst/>
          </a:prstGeom>
          <a:noFill/>
          <a:ln/>
        </p:spPr>
        <p:txBody>
          <a:bodyPr wrap="square" lIns="0" tIns="0" rIns="0" bIns="0" rtlCol="0" anchor="t"/>
          <a:lstStyle/>
          <a:p>
            <a:pPr indent="0" marL="0">
              <a:buNone/>
            </a:pPr>
            <a:r>
              <a:rPr lang="en-US" sz="1350" dirty="0">
                <a:solidFill>
                  <a:srgbClr val="202020"/>
                </a:solidFill>
                <a:latin typeface="Arial" pitchFamily="34" charset="0"/>
                <a:ea typeface="Arial" pitchFamily="34" charset="-122"/>
                <a:cs typeface="Arial" pitchFamily="34" charset="-120"/>
              </a:rPr>
              <a:t>Run paths, measure tracking error and tune.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Literature Survey</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Technical background: kinematic modelling and workspace</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5 / 11</a:t>
            </a:r>
            <a:endParaRPr lang="en-US" sz="1020" dirty="0"/>
          </a:p>
        </p:txBody>
      </p:sp>
      <p:sp>
        <p:nvSpPr>
          <p:cNvPr id="9" name="Text 7"/>
          <p:cNvSpPr/>
          <p:nvPr/>
        </p:nvSpPr>
        <p:spPr>
          <a:xfrm>
            <a:off x="960120" y="1828800"/>
            <a:ext cx="5980176" cy="283464"/>
          </a:xfrm>
          <a:prstGeom prst="rect">
            <a:avLst/>
          </a:prstGeom>
          <a:noFill/>
          <a:ln/>
        </p:spPr>
        <p:txBody>
          <a:bodyPr wrap="square" lIns="0" tIns="0" rIns="0" bIns="0" rtlCol="0" anchor="ctr"/>
          <a:lstStyle/>
          <a:p>
            <a:pPr indent="0" marL="0">
              <a:buNone/>
            </a:pPr>
            <a:r>
              <a:rPr lang="en-US" sz="2080" b="1" dirty="0">
                <a:solidFill>
                  <a:srgbClr val="000000"/>
                </a:solidFill>
                <a:latin typeface="Arial" pitchFamily="34" charset="0"/>
                <a:ea typeface="Arial" pitchFamily="34" charset="-122"/>
                <a:cs typeface="Arial" pitchFamily="34" charset="-120"/>
              </a:rPr>
              <a:t>Forward kinematics</a:t>
            </a:r>
            <a:endParaRPr lang="en-US" sz="2080" dirty="0"/>
          </a:p>
        </p:txBody>
      </p:sp>
      <p:sp>
        <p:nvSpPr>
          <p:cNvPr id="10" name="Text 8"/>
          <p:cNvSpPr/>
          <p:nvPr/>
        </p:nvSpPr>
        <p:spPr>
          <a:xfrm>
            <a:off x="960120" y="2249424"/>
            <a:ext cx="5925312" cy="566928"/>
          </a:xfrm>
          <a:prstGeom prst="rect">
            <a:avLst/>
          </a:prstGeom>
          <a:noFill/>
          <a:ln/>
        </p:spPr>
        <p:txBody>
          <a:bodyPr wrap="square" lIns="0" tIns="0" rIns="0" bIns="0" rtlCol="0" anchor="t"/>
          <a:lstStyle/>
          <a:p>
            <a:pPr indent="0" marL="0">
              <a:buNone/>
            </a:pPr>
            <a:r>
              <a:rPr lang="en-US" sz="1970" dirty="0">
                <a:solidFill>
                  <a:srgbClr val="202020"/>
                </a:solidFill>
                <a:latin typeface="Arial" pitchFamily="34" charset="0"/>
                <a:ea typeface="Arial" pitchFamily="34" charset="-122"/>
                <a:cs typeface="Arial" pitchFamily="34" charset="-120"/>
              </a:rPr>
              <a:t>Known joint angles and link lengths determine</a:t>
            </a:r>
            <a:endParaRPr lang="en-US" sz="1970" dirty="0"/>
          </a:p>
          <a:p>
            <a:pPr indent="0" marL="0">
              <a:buNone/>
            </a:pPr>
            <a:r>
              <a:rPr lang="en-US" sz="1970" dirty="0">
                <a:solidFill>
                  <a:srgbClr val="202020"/>
                </a:solidFill>
                <a:latin typeface="Arial" pitchFamily="34" charset="0"/>
                <a:ea typeface="Arial" pitchFamily="34" charset="-122"/>
                <a:cs typeface="Arial" pitchFamily="34" charset="-120"/>
              </a:rPr>
              <a:t>the end-effector position.</a:t>
            </a:r>
            <a:endParaRPr lang="en-US" sz="1970" dirty="0"/>
          </a:p>
        </p:txBody>
      </p:sp>
      <p:sp>
        <p:nvSpPr>
          <p:cNvPr id="11" name="Shape 9"/>
          <p:cNvSpPr/>
          <p:nvPr/>
        </p:nvSpPr>
        <p:spPr>
          <a:xfrm>
            <a:off x="960120" y="2953512"/>
            <a:ext cx="5934456" cy="1097280"/>
          </a:xfrm>
          <a:prstGeom prst="rect">
            <a:avLst/>
          </a:prstGeom>
          <a:solidFill>
            <a:srgbClr val="F5F5F5"/>
          </a:solidFill>
          <a:ln w="8890">
            <a:solidFill>
              <a:srgbClr val="D7D7D7"/>
            </a:solidFill>
            <a:prstDash val="solid"/>
          </a:ln>
        </p:spPr>
      </p:sp>
      <p:sp>
        <p:nvSpPr>
          <p:cNvPr id="12" name="Text 10"/>
          <p:cNvSpPr/>
          <p:nvPr/>
        </p:nvSpPr>
        <p:spPr>
          <a:xfrm>
            <a:off x="1170432" y="3127248"/>
            <a:ext cx="5486400" cy="310896"/>
          </a:xfrm>
          <a:prstGeom prst="rect">
            <a:avLst/>
          </a:prstGeom>
          <a:noFill/>
          <a:ln/>
        </p:spPr>
        <p:txBody>
          <a:bodyPr wrap="square" lIns="0" tIns="0" rIns="0" bIns="0" rtlCol="0" anchor="ctr"/>
          <a:lstStyle/>
          <a:p>
            <a:pPr indent="0" marL="0">
              <a:buNone/>
            </a:pPr>
            <a:r>
              <a:rPr lang="en-US" sz="2250" dirty="0">
                <a:solidFill>
                  <a:srgbClr val="000000"/>
                </a:solidFill>
                <a:latin typeface="Noto Serif" pitchFamily="34" charset="0"/>
                <a:ea typeface="Noto Serif" pitchFamily="34" charset="-122"/>
                <a:cs typeface="Noto Serif" pitchFamily="34" charset="-120"/>
              </a:rPr>
              <a:t>x = L₁ cos(θ₁) + L₂ cos(θ₁ + θ₂)</a:t>
            </a:r>
            <a:endParaRPr lang="en-US" sz="2250" dirty="0"/>
          </a:p>
        </p:txBody>
      </p:sp>
      <p:sp>
        <p:nvSpPr>
          <p:cNvPr id="13" name="Text 11"/>
          <p:cNvSpPr/>
          <p:nvPr/>
        </p:nvSpPr>
        <p:spPr>
          <a:xfrm>
            <a:off x="1170432" y="3621024"/>
            <a:ext cx="5486400" cy="310896"/>
          </a:xfrm>
          <a:prstGeom prst="rect">
            <a:avLst/>
          </a:prstGeom>
          <a:noFill/>
          <a:ln/>
        </p:spPr>
        <p:txBody>
          <a:bodyPr wrap="square" lIns="0" tIns="0" rIns="0" bIns="0" rtlCol="0" anchor="ctr"/>
          <a:lstStyle/>
          <a:p>
            <a:pPr indent="0" marL="0">
              <a:buNone/>
            </a:pPr>
            <a:r>
              <a:rPr lang="en-US" sz="2250" dirty="0">
                <a:solidFill>
                  <a:srgbClr val="000000"/>
                </a:solidFill>
                <a:latin typeface="Noto Serif" pitchFamily="34" charset="0"/>
                <a:ea typeface="Noto Serif" pitchFamily="34" charset="-122"/>
                <a:cs typeface="Noto Serif" pitchFamily="34" charset="-120"/>
              </a:rPr>
              <a:t>y = L₁ sin(θ₁) + L₂ sin(θ₁ + θ₂)</a:t>
            </a:r>
            <a:endParaRPr lang="en-US" sz="2250" dirty="0"/>
          </a:p>
        </p:txBody>
      </p:sp>
      <p:sp>
        <p:nvSpPr>
          <p:cNvPr id="14" name="Text 12"/>
          <p:cNvSpPr/>
          <p:nvPr/>
        </p:nvSpPr>
        <p:spPr>
          <a:xfrm>
            <a:off x="987552" y="4352544"/>
            <a:ext cx="146304" cy="22860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1234440" y="4334256"/>
            <a:ext cx="5632704" cy="301752"/>
          </a:xfrm>
          <a:prstGeom prst="rect">
            <a:avLst/>
          </a:prstGeom>
          <a:noFill/>
          <a:ln/>
        </p:spPr>
        <p:txBody>
          <a:bodyPr wrap="square" lIns="0" tIns="0" rIns="0" bIns="0" rtlCol="0" anchor="t"/>
          <a:lstStyle/>
          <a:p>
            <a:pPr indent="0" marL="0">
              <a:buNone/>
            </a:pPr>
            <a:r>
              <a:rPr lang="en-US" sz="1800" dirty="0">
                <a:solidFill>
                  <a:srgbClr val="202020"/>
                </a:solidFill>
                <a:latin typeface="Arial" pitchFamily="34" charset="0"/>
                <a:ea typeface="Arial" pitchFamily="34" charset="-122"/>
                <a:cs typeface="Arial" pitchFamily="34" charset="-120"/>
              </a:rPr>
              <a:t>L₁ and L₂: fixed lengths of links AB and BC.</a:t>
            </a:r>
            <a:endParaRPr lang="en-US" sz="1800" dirty="0"/>
          </a:p>
        </p:txBody>
      </p:sp>
      <p:sp>
        <p:nvSpPr>
          <p:cNvPr id="16" name="Text 14"/>
          <p:cNvSpPr/>
          <p:nvPr/>
        </p:nvSpPr>
        <p:spPr>
          <a:xfrm>
            <a:off x="987552" y="4773168"/>
            <a:ext cx="146304" cy="22860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234440" y="4754880"/>
            <a:ext cx="5632704" cy="301752"/>
          </a:xfrm>
          <a:prstGeom prst="rect">
            <a:avLst/>
          </a:prstGeom>
          <a:noFill/>
          <a:ln/>
        </p:spPr>
        <p:txBody>
          <a:bodyPr wrap="square" lIns="0" tIns="0" rIns="0" bIns="0" rtlCol="0" anchor="t"/>
          <a:lstStyle/>
          <a:p>
            <a:pPr indent="0" marL="0">
              <a:buNone/>
            </a:pPr>
            <a:r>
              <a:rPr lang="en-US" sz="1800" dirty="0">
                <a:solidFill>
                  <a:srgbClr val="202020"/>
                </a:solidFill>
                <a:latin typeface="Arial" pitchFamily="34" charset="0"/>
                <a:ea typeface="Arial" pitchFamily="34" charset="-122"/>
                <a:cs typeface="Arial" pitchFamily="34" charset="-120"/>
              </a:rPr>
              <a:t>θ₁: angle of AB relative to the base x-axis.</a:t>
            </a:r>
            <a:endParaRPr lang="en-US" sz="1800" dirty="0"/>
          </a:p>
        </p:txBody>
      </p:sp>
      <p:sp>
        <p:nvSpPr>
          <p:cNvPr id="18" name="Text 16"/>
          <p:cNvSpPr/>
          <p:nvPr/>
        </p:nvSpPr>
        <p:spPr>
          <a:xfrm>
            <a:off x="987552" y="5193792"/>
            <a:ext cx="146304" cy="22860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1234440" y="5175504"/>
            <a:ext cx="5632704" cy="301752"/>
          </a:xfrm>
          <a:prstGeom prst="rect">
            <a:avLst/>
          </a:prstGeom>
          <a:noFill/>
          <a:ln/>
        </p:spPr>
        <p:txBody>
          <a:bodyPr wrap="square" lIns="0" tIns="0" rIns="0" bIns="0" rtlCol="0" anchor="t"/>
          <a:lstStyle/>
          <a:p>
            <a:pPr indent="0" marL="0">
              <a:buNone/>
            </a:pPr>
            <a:r>
              <a:rPr lang="en-US" sz="1800" dirty="0">
                <a:solidFill>
                  <a:srgbClr val="202020"/>
                </a:solidFill>
                <a:latin typeface="Arial" pitchFamily="34" charset="0"/>
                <a:ea typeface="Arial" pitchFamily="34" charset="-122"/>
                <a:cs typeface="Arial" pitchFamily="34" charset="-120"/>
              </a:rPr>
              <a:t>θ₂: angle of BC relative to link AB.</a:t>
            </a:r>
            <a:endParaRPr lang="en-US" sz="1800" dirty="0"/>
          </a:p>
        </p:txBody>
      </p:sp>
      <p:sp>
        <p:nvSpPr>
          <p:cNvPr id="20" name="Text 18"/>
          <p:cNvSpPr/>
          <p:nvPr/>
        </p:nvSpPr>
        <p:spPr>
          <a:xfrm>
            <a:off x="7424928" y="1828800"/>
            <a:ext cx="3767328" cy="283464"/>
          </a:xfrm>
          <a:prstGeom prst="rect">
            <a:avLst/>
          </a:prstGeom>
          <a:noFill/>
          <a:ln/>
        </p:spPr>
        <p:txBody>
          <a:bodyPr wrap="square" lIns="0" tIns="0" rIns="0" bIns="0" rtlCol="0" anchor="ctr"/>
          <a:lstStyle/>
          <a:p>
            <a:pPr indent="0" marL="0">
              <a:buNone/>
            </a:pPr>
            <a:r>
              <a:rPr lang="en-US" sz="2080" b="1" dirty="0">
                <a:solidFill>
                  <a:srgbClr val="000000"/>
                </a:solidFill>
                <a:latin typeface="Arial" pitchFamily="34" charset="0"/>
                <a:ea typeface="Arial" pitchFamily="34" charset="-122"/>
                <a:cs typeface="Arial" pitchFamily="34" charset="-120"/>
              </a:rPr>
              <a:t>Reachable workspace</a:t>
            </a:r>
            <a:endParaRPr lang="en-US" sz="2080" dirty="0"/>
          </a:p>
        </p:txBody>
      </p:sp>
      <p:sp>
        <p:nvSpPr>
          <p:cNvPr id="21" name="Shape 19"/>
          <p:cNvSpPr/>
          <p:nvPr/>
        </p:nvSpPr>
        <p:spPr>
          <a:xfrm>
            <a:off x="7927848" y="2633472"/>
            <a:ext cx="2560320" cy="2560320"/>
          </a:xfrm>
          <a:prstGeom prst="ellipse">
            <a:avLst/>
          </a:prstGeom>
          <a:solidFill>
            <a:srgbClr val="ECF3F6"/>
          </a:solidFill>
          <a:ln w="16510">
            <a:solidFill>
              <a:srgbClr val="075D7B"/>
            </a:solidFill>
            <a:prstDash val="solid"/>
          </a:ln>
        </p:spPr>
      </p:sp>
      <p:sp>
        <p:nvSpPr>
          <p:cNvPr id="22" name="Shape 20"/>
          <p:cNvSpPr/>
          <p:nvPr/>
        </p:nvSpPr>
        <p:spPr>
          <a:xfrm>
            <a:off x="8778240" y="3483864"/>
            <a:ext cx="859536" cy="859536"/>
          </a:xfrm>
          <a:prstGeom prst="ellipse">
            <a:avLst/>
          </a:prstGeom>
          <a:solidFill>
            <a:srgbClr val="FFFFFF"/>
          </a:solidFill>
          <a:ln w="13970">
            <a:solidFill>
              <a:srgbClr val="BE4F14"/>
            </a:solidFill>
            <a:prstDash val="solid"/>
          </a:ln>
        </p:spPr>
      </p:sp>
      <p:sp>
        <p:nvSpPr>
          <p:cNvPr id="23" name="Shape 21"/>
          <p:cNvSpPr/>
          <p:nvPr/>
        </p:nvSpPr>
        <p:spPr>
          <a:xfrm>
            <a:off x="9165031" y="3870655"/>
            <a:ext cx="85954" cy="85954"/>
          </a:xfrm>
          <a:prstGeom prst="ellipse">
            <a:avLst/>
          </a:prstGeom>
          <a:solidFill>
            <a:srgbClr val="242C5D"/>
          </a:solidFill>
          <a:ln w="12700">
            <a:solidFill>
              <a:srgbClr val="242C5D"/>
            </a:solidFill>
            <a:prstDash val="solid"/>
          </a:ln>
        </p:spPr>
      </p:sp>
      <p:sp>
        <p:nvSpPr>
          <p:cNvPr id="24" name="Shape 22"/>
          <p:cNvSpPr/>
          <p:nvPr/>
        </p:nvSpPr>
        <p:spPr>
          <a:xfrm>
            <a:off x="9208008" y="3913632"/>
            <a:ext cx="914400" cy="-896112"/>
          </a:xfrm>
          <a:prstGeom prst="line">
            <a:avLst/>
          </a:prstGeom>
          <a:noFill/>
          <a:ln w="16510">
            <a:solidFill>
              <a:srgbClr val="075D7B"/>
            </a:solidFill>
            <a:prstDash val="dash"/>
          </a:ln>
        </p:spPr>
      </p:sp>
      <p:sp>
        <p:nvSpPr>
          <p:cNvPr id="25" name="Shape 23"/>
          <p:cNvSpPr/>
          <p:nvPr/>
        </p:nvSpPr>
        <p:spPr>
          <a:xfrm>
            <a:off x="9208008" y="3913632"/>
            <a:ext cx="-365760" cy="-224028"/>
          </a:xfrm>
          <a:prstGeom prst="line">
            <a:avLst/>
          </a:prstGeom>
          <a:noFill/>
          <a:ln w="15240">
            <a:solidFill>
              <a:srgbClr val="BE4F14"/>
            </a:solidFill>
            <a:prstDash val="dash"/>
          </a:ln>
        </p:spPr>
      </p:sp>
      <p:sp>
        <p:nvSpPr>
          <p:cNvPr id="26" name="Text 24"/>
          <p:cNvSpPr/>
          <p:nvPr/>
        </p:nvSpPr>
        <p:spPr>
          <a:xfrm>
            <a:off x="9125712" y="4005072"/>
            <a:ext cx="201168" cy="237744"/>
          </a:xfrm>
          <a:prstGeom prst="rect">
            <a:avLst/>
          </a:prstGeom>
          <a:noFill/>
          <a:ln/>
        </p:spPr>
        <p:txBody>
          <a:bodyPr wrap="square" lIns="0" tIns="0" rIns="0" bIns="0" rtlCol="0" anchor="ctr"/>
          <a:lstStyle/>
          <a:p>
            <a:pPr algn="ctr" indent="0" marL="0">
              <a:buNone/>
            </a:pPr>
            <a:r>
              <a:rPr lang="en-US" sz="1620" b="1" dirty="0">
                <a:solidFill>
                  <a:srgbClr val="242C5D"/>
                </a:solidFill>
                <a:latin typeface="Arial" pitchFamily="34" charset="0"/>
                <a:ea typeface="Arial" pitchFamily="34" charset="-122"/>
                <a:cs typeface="Arial" pitchFamily="34" charset="-120"/>
              </a:rPr>
              <a:t>A</a:t>
            </a:r>
            <a:endParaRPr lang="en-US" sz="1620" dirty="0"/>
          </a:p>
        </p:txBody>
      </p:sp>
      <p:sp>
        <p:nvSpPr>
          <p:cNvPr id="27" name="Text 25"/>
          <p:cNvSpPr/>
          <p:nvPr/>
        </p:nvSpPr>
        <p:spPr>
          <a:xfrm>
            <a:off x="9253728" y="4480560"/>
            <a:ext cx="1124712" cy="475488"/>
          </a:xfrm>
          <a:prstGeom prst="rect">
            <a:avLst/>
          </a:prstGeom>
          <a:noFill/>
          <a:ln/>
        </p:spPr>
        <p:txBody>
          <a:bodyPr wrap="square" lIns="0" tIns="0" rIns="0" bIns="0" rtlCol="0" anchor="ctr"/>
          <a:lstStyle/>
          <a:p>
            <a:pPr algn="ctr" indent="0" marL="0">
              <a:buNone/>
            </a:pPr>
            <a:r>
              <a:rPr lang="en-US" sz="1410" dirty="0">
                <a:solidFill>
                  <a:srgbClr val="075D7B"/>
                </a:solidFill>
                <a:latin typeface="Arial" pitchFamily="34" charset="0"/>
                <a:ea typeface="Arial" pitchFamily="34" charset="-122"/>
                <a:cs typeface="Arial" pitchFamily="34" charset="-120"/>
              </a:rPr>
              <a:t>Reachable</a:t>
            </a:r>
            <a:endParaRPr lang="en-US" sz="1410" dirty="0"/>
          </a:p>
          <a:p>
            <a:pPr algn="ctr" indent="0" marL="0">
              <a:buNone/>
            </a:pPr>
            <a:r>
              <a:rPr lang="en-US" sz="1410" dirty="0">
                <a:solidFill>
                  <a:srgbClr val="075D7B"/>
                </a:solidFill>
                <a:latin typeface="Arial" pitchFamily="34" charset="0"/>
                <a:ea typeface="Arial" pitchFamily="34" charset="-122"/>
                <a:cs typeface="Arial" pitchFamily="34" charset="-120"/>
              </a:rPr>
              <a:t>region</a:t>
            </a:r>
            <a:endParaRPr lang="en-US" sz="1410" dirty="0"/>
          </a:p>
        </p:txBody>
      </p:sp>
      <p:sp>
        <p:nvSpPr>
          <p:cNvPr id="28" name="Text 26"/>
          <p:cNvSpPr/>
          <p:nvPr/>
        </p:nvSpPr>
        <p:spPr>
          <a:xfrm>
            <a:off x="7342632" y="2313432"/>
            <a:ext cx="3749040" cy="283464"/>
          </a:xfrm>
          <a:prstGeom prst="rect">
            <a:avLst/>
          </a:prstGeom>
          <a:noFill/>
          <a:ln/>
        </p:spPr>
        <p:txBody>
          <a:bodyPr wrap="square" lIns="0" tIns="0" rIns="0" bIns="0" rtlCol="0" anchor="ctr"/>
          <a:lstStyle/>
          <a:p>
            <a:pPr algn="ctr" indent="0" marL="0">
              <a:buNone/>
            </a:pPr>
            <a:r>
              <a:rPr lang="en-US" sz="1890" dirty="0">
                <a:solidFill>
                  <a:srgbClr val="075D7B"/>
                </a:solidFill>
                <a:latin typeface="Arial" pitchFamily="34" charset="0"/>
                <a:ea typeface="Arial" pitchFamily="34" charset="-122"/>
                <a:cs typeface="Arial" pitchFamily="34" charset="-120"/>
              </a:rPr>
              <a:t>Rmax = L₁ + L₂</a:t>
            </a:r>
            <a:endParaRPr lang="en-US" sz="1890" dirty="0"/>
          </a:p>
        </p:txBody>
      </p:sp>
      <p:sp>
        <p:nvSpPr>
          <p:cNvPr id="29" name="Text 27"/>
          <p:cNvSpPr/>
          <p:nvPr/>
        </p:nvSpPr>
        <p:spPr>
          <a:xfrm>
            <a:off x="7342632" y="5458968"/>
            <a:ext cx="3749040" cy="274320"/>
          </a:xfrm>
          <a:prstGeom prst="rect">
            <a:avLst/>
          </a:prstGeom>
          <a:noFill/>
          <a:ln/>
        </p:spPr>
        <p:txBody>
          <a:bodyPr wrap="square" lIns="0" tIns="0" rIns="0" bIns="0" rtlCol="0" anchor="ctr"/>
          <a:lstStyle/>
          <a:p>
            <a:pPr algn="ctr" indent="0" marL="0">
              <a:buNone/>
            </a:pPr>
            <a:r>
              <a:rPr lang="en-US" sz="1890" dirty="0">
                <a:solidFill>
                  <a:srgbClr val="BE4F14"/>
                </a:solidFill>
                <a:latin typeface="Arial" pitchFamily="34" charset="0"/>
                <a:ea typeface="Arial" pitchFamily="34" charset="-122"/>
                <a:cs typeface="Arial" pitchFamily="34" charset="-120"/>
              </a:rPr>
              <a:t>Rmin = | L₁ − L₂ |</a:t>
            </a:r>
            <a:endParaRPr lang="en-US" sz="1890" dirty="0"/>
          </a:p>
        </p:txBody>
      </p:sp>
      <p:sp>
        <p:nvSpPr>
          <p:cNvPr id="30" name="Text 28"/>
          <p:cNvSpPr/>
          <p:nvPr/>
        </p:nvSpPr>
        <p:spPr>
          <a:xfrm>
            <a:off x="7342632" y="5824728"/>
            <a:ext cx="3749040" cy="219456"/>
          </a:xfrm>
          <a:prstGeom prst="rect">
            <a:avLst/>
          </a:prstGeom>
          <a:noFill/>
          <a:ln/>
        </p:spPr>
        <p:txBody>
          <a:bodyPr wrap="square" lIns="0" tIns="0" rIns="0" bIns="0" rtlCol="0" anchor="ctr"/>
          <a:lstStyle/>
          <a:p>
            <a:pPr algn="ctr" indent="0" marL="0">
              <a:buNone/>
            </a:pPr>
            <a:r>
              <a:rPr lang="en-US" sz="1300" dirty="0">
                <a:solidFill>
                  <a:srgbClr val="646464"/>
                </a:solidFill>
                <a:latin typeface="Arial" pitchFamily="34" charset="0"/>
                <a:ea typeface="Arial" pitchFamily="34" charset="-122"/>
                <a:cs typeface="Arial" pitchFamily="34" charset="-120"/>
              </a:rPr>
              <a:t>Source-model schematic; not to scale.</a:t>
            </a:r>
            <a:endParaRPr lang="en-US" sz="1300" dirty="0"/>
          </a:p>
        </p:txBody>
      </p:sp>
      <p:sp>
        <p:nvSpPr>
          <p:cNvPr id="31" name="Text 29"/>
          <p:cNvSpPr/>
          <p:nvPr/>
        </p:nvSpPr>
        <p:spPr>
          <a:xfrm>
            <a:off x="969264" y="6144768"/>
            <a:ext cx="10250424" cy="173736"/>
          </a:xfrm>
          <a:prstGeom prst="rect">
            <a:avLst/>
          </a:prstGeom>
          <a:noFill/>
          <a:ln/>
        </p:spPr>
        <p:txBody>
          <a:bodyPr wrap="square" lIns="0" tIns="0" rIns="0" bIns="0" rtlCol="0" anchor="ctr"/>
          <a:lstStyle/>
          <a:p>
            <a:pPr indent="0" marL="0">
              <a:buNone/>
            </a:pPr>
            <a:r>
              <a:rPr lang="en-US" sz="1200" dirty="0">
                <a:solidFill>
                  <a:srgbClr val="646464"/>
                </a:solidFill>
                <a:latin typeface="Arial" pitchFamily="34" charset="0"/>
                <a:ea typeface="Arial" pitchFamily="34" charset="-122"/>
                <a:cs typeface="Arial" pitchFamily="34" charset="-120"/>
              </a:rPr>
              <a:t>Source scope: slides 5–7 review the supplied technical background. Published research papers were not supplied.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Literature Survey</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Technical background: trajectory planning and inverse kinematics</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6 / 11</a:t>
            </a:r>
            <a:endParaRPr lang="en-US" sz="1020" dirty="0"/>
          </a:p>
        </p:txBody>
      </p:sp>
      <p:sp>
        <p:nvSpPr>
          <p:cNvPr id="9" name="Text 7"/>
          <p:cNvSpPr/>
          <p:nvPr/>
        </p:nvSpPr>
        <p:spPr>
          <a:xfrm>
            <a:off x="960120" y="1819656"/>
            <a:ext cx="6035040" cy="283464"/>
          </a:xfrm>
          <a:prstGeom prst="rect">
            <a:avLst/>
          </a:prstGeom>
          <a:noFill/>
          <a:ln/>
        </p:spPr>
        <p:txBody>
          <a:bodyPr wrap="square" lIns="0" tIns="0" rIns="0" bIns="0" rtlCol="0" anchor="ctr"/>
          <a:lstStyle/>
          <a:p>
            <a:pPr indent="0" marL="0">
              <a:buNone/>
            </a:pPr>
            <a:r>
              <a:rPr lang="en-US" sz="2050" b="1" dirty="0">
                <a:solidFill>
                  <a:srgbClr val="000000"/>
                </a:solidFill>
                <a:latin typeface="Arial" pitchFamily="34" charset="0"/>
                <a:ea typeface="Arial" pitchFamily="34" charset="-122"/>
                <a:cs typeface="Arial" pitchFamily="34" charset="-120"/>
              </a:rPr>
              <a:t>An ordered path of target coordinates</a:t>
            </a:r>
            <a:endParaRPr lang="en-US" sz="2050" dirty="0"/>
          </a:p>
        </p:txBody>
      </p:sp>
      <p:sp>
        <p:nvSpPr>
          <p:cNvPr id="10" name="Text 8"/>
          <p:cNvSpPr/>
          <p:nvPr/>
        </p:nvSpPr>
        <p:spPr>
          <a:xfrm>
            <a:off x="969264" y="2249424"/>
            <a:ext cx="6062472" cy="356616"/>
          </a:xfrm>
          <a:prstGeom prst="rect">
            <a:avLst/>
          </a:prstGeom>
          <a:noFill/>
          <a:ln/>
        </p:spPr>
        <p:txBody>
          <a:bodyPr wrap="square" lIns="0" tIns="0" rIns="0" bIns="0" rtlCol="0" anchor="ctr"/>
          <a:lstStyle/>
          <a:p>
            <a:pPr indent="0" marL="0">
              <a:buNone/>
            </a:pPr>
            <a:r>
              <a:rPr lang="en-US" sz="2170" dirty="0">
                <a:solidFill>
                  <a:srgbClr val="000000"/>
                </a:solidFill>
                <a:latin typeface="Noto Serif" pitchFamily="34" charset="0"/>
                <a:ea typeface="Noto Serif" pitchFamily="34" charset="-122"/>
                <a:cs typeface="Noto Serif" pitchFamily="34" charset="-120"/>
              </a:rPr>
              <a:t>Path = { (x₁, y₁), (x₂, y₂), … , (xₙ, yₙ) }</a:t>
            </a:r>
            <a:endParaRPr lang="en-US" sz="2170" dirty="0"/>
          </a:p>
        </p:txBody>
      </p:sp>
      <p:sp>
        <p:nvSpPr>
          <p:cNvPr id="11" name="Text 9"/>
          <p:cNvSpPr/>
          <p:nvPr/>
        </p:nvSpPr>
        <p:spPr>
          <a:xfrm>
            <a:off x="978408" y="2788920"/>
            <a:ext cx="146304" cy="228600"/>
          </a:xfrm>
          <a:prstGeom prst="rect">
            <a:avLst/>
          </a:prstGeom>
          <a:noFill/>
          <a:ln/>
        </p:spPr>
        <p:txBody>
          <a:bodyPr wrap="square" lIns="0" tIns="0" rIns="0" bIns="0" rtlCol="0" anchor="ctr"/>
          <a:lstStyle/>
          <a:p>
            <a:pPr indent="0" marL="0">
              <a:buNone/>
            </a:pPr>
            <a:r>
              <a:rPr lang="en-US" sz="1830" dirty="0">
                <a:solidFill>
                  <a:srgbClr val="000000"/>
                </a:solidFill>
                <a:latin typeface="Arial" pitchFamily="34" charset="0"/>
                <a:ea typeface="Arial" pitchFamily="34" charset="-122"/>
                <a:cs typeface="Arial" pitchFamily="34" charset="-120"/>
              </a:rPr>
              <a:t>•</a:t>
            </a:r>
            <a:endParaRPr lang="en-US" sz="1830" dirty="0"/>
          </a:p>
        </p:txBody>
      </p:sp>
      <p:sp>
        <p:nvSpPr>
          <p:cNvPr id="12" name="Text 10"/>
          <p:cNvSpPr/>
          <p:nvPr/>
        </p:nvSpPr>
        <p:spPr>
          <a:xfrm>
            <a:off x="1225296" y="2770632"/>
            <a:ext cx="5788152" cy="365760"/>
          </a:xfrm>
          <a:prstGeom prst="rect">
            <a:avLst/>
          </a:prstGeom>
          <a:noFill/>
          <a:ln/>
        </p:spPr>
        <p:txBody>
          <a:bodyPr wrap="square" lIns="0" tIns="0" rIns="0" bIns="0" rtlCol="0" anchor="t"/>
          <a:lstStyle/>
          <a:p>
            <a:pPr indent="0" marL="0">
              <a:buNone/>
            </a:pPr>
            <a:r>
              <a:rPr lang="en-US" sz="1830" dirty="0">
                <a:solidFill>
                  <a:srgbClr val="202020"/>
                </a:solidFill>
                <a:latin typeface="Arial" pitchFamily="34" charset="0"/>
                <a:ea typeface="Arial" pitchFamily="34" charset="-122"/>
                <a:cs typeface="Arial" pitchFamily="34" charset="-120"/>
              </a:rPr>
              <a:t>Discretise the path into closely spaced waypoints.</a:t>
            </a:r>
            <a:endParaRPr lang="en-US" sz="1830" dirty="0"/>
          </a:p>
        </p:txBody>
      </p:sp>
      <p:sp>
        <p:nvSpPr>
          <p:cNvPr id="13" name="Text 11"/>
          <p:cNvSpPr/>
          <p:nvPr/>
        </p:nvSpPr>
        <p:spPr>
          <a:xfrm>
            <a:off x="978408" y="3255264"/>
            <a:ext cx="146304" cy="228600"/>
          </a:xfrm>
          <a:prstGeom prst="rect">
            <a:avLst/>
          </a:prstGeom>
          <a:noFill/>
          <a:ln/>
        </p:spPr>
        <p:txBody>
          <a:bodyPr wrap="square" lIns="0" tIns="0" rIns="0" bIns="0" rtlCol="0" anchor="ctr"/>
          <a:lstStyle/>
          <a:p>
            <a:pPr indent="0" marL="0">
              <a:buNone/>
            </a:pPr>
            <a:r>
              <a:rPr lang="en-US" sz="1830" dirty="0">
                <a:solidFill>
                  <a:srgbClr val="000000"/>
                </a:solidFill>
                <a:latin typeface="Arial" pitchFamily="34" charset="0"/>
                <a:ea typeface="Arial" pitchFamily="34" charset="-122"/>
                <a:cs typeface="Arial" pitchFamily="34" charset="-120"/>
              </a:rPr>
              <a:t>•</a:t>
            </a:r>
            <a:endParaRPr lang="en-US" sz="1830" dirty="0"/>
          </a:p>
        </p:txBody>
      </p:sp>
      <p:sp>
        <p:nvSpPr>
          <p:cNvPr id="14" name="Text 12"/>
          <p:cNvSpPr/>
          <p:nvPr/>
        </p:nvSpPr>
        <p:spPr>
          <a:xfrm>
            <a:off x="1225296" y="3236976"/>
            <a:ext cx="5788152" cy="365760"/>
          </a:xfrm>
          <a:prstGeom prst="rect">
            <a:avLst/>
          </a:prstGeom>
          <a:noFill/>
          <a:ln/>
        </p:spPr>
        <p:txBody>
          <a:bodyPr wrap="square" lIns="0" tIns="0" rIns="0" bIns="0" rtlCol="0" anchor="t"/>
          <a:lstStyle/>
          <a:p>
            <a:pPr indent="0" marL="0">
              <a:buNone/>
            </a:pPr>
            <a:r>
              <a:rPr lang="en-US" sz="1830" dirty="0">
                <a:solidFill>
                  <a:srgbClr val="202020"/>
                </a:solidFill>
                <a:latin typeface="Arial" pitchFamily="34" charset="0"/>
                <a:ea typeface="Arial" pitchFamily="34" charset="-122"/>
                <a:cs typeface="Arial" pitchFamily="34" charset="-120"/>
              </a:rPr>
              <a:t>Check each point against the reachable workspace.</a:t>
            </a:r>
            <a:endParaRPr lang="en-US" sz="1830" dirty="0"/>
          </a:p>
        </p:txBody>
      </p:sp>
      <p:sp>
        <p:nvSpPr>
          <p:cNvPr id="15" name="Text 13"/>
          <p:cNvSpPr/>
          <p:nvPr/>
        </p:nvSpPr>
        <p:spPr>
          <a:xfrm>
            <a:off x="978408" y="3721608"/>
            <a:ext cx="146304" cy="228600"/>
          </a:xfrm>
          <a:prstGeom prst="rect">
            <a:avLst/>
          </a:prstGeom>
          <a:noFill/>
          <a:ln/>
        </p:spPr>
        <p:txBody>
          <a:bodyPr wrap="square" lIns="0" tIns="0" rIns="0" bIns="0" rtlCol="0" anchor="ctr"/>
          <a:lstStyle/>
          <a:p>
            <a:pPr indent="0" marL="0">
              <a:buNone/>
            </a:pPr>
            <a:r>
              <a:rPr lang="en-US" sz="1830" dirty="0">
                <a:solidFill>
                  <a:srgbClr val="000000"/>
                </a:solidFill>
                <a:latin typeface="Arial" pitchFamily="34" charset="0"/>
                <a:ea typeface="Arial" pitchFamily="34" charset="-122"/>
                <a:cs typeface="Arial" pitchFamily="34" charset="-120"/>
              </a:rPr>
              <a:t>•</a:t>
            </a:r>
            <a:endParaRPr lang="en-US" sz="1830" dirty="0"/>
          </a:p>
        </p:txBody>
      </p:sp>
      <p:sp>
        <p:nvSpPr>
          <p:cNvPr id="16" name="Text 14"/>
          <p:cNvSpPr/>
          <p:nvPr/>
        </p:nvSpPr>
        <p:spPr>
          <a:xfrm>
            <a:off x="1225296" y="3703320"/>
            <a:ext cx="5788152" cy="365760"/>
          </a:xfrm>
          <a:prstGeom prst="rect">
            <a:avLst/>
          </a:prstGeom>
          <a:noFill/>
          <a:ln/>
        </p:spPr>
        <p:txBody>
          <a:bodyPr wrap="square" lIns="0" tIns="0" rIns="0" bIns="0" rtlCol="0" anchor="t"/>
          <a:lstStyle/>
          <a:p>
            <a:pPr indent="0" marL="0">
              <a:buNone/>
            </a:pPr>
            <a:r>
              <a:rPr lang="en-US" sz="1830" dirty="0">
                <a:solidFill>
                  <a:srgbClr val="202020"/>
                </a:solidFill>
                <a:latin typeface="Arial" pitchFamily="34" charset="0"/>
                <a:ea typeface="Arial" pitchFamily="34" charset="-122"/>
                <a:cs typeface="Arial" pitchFamily="34" charset="-120"/>
              </a:rPr>
              <a:t>Solve IK and command the next joint-angle pair.</a:t>
            </a:r>
            <a:endParaRPr lang="en-US" sz="1830" dirty="0"/>
          </a:p>
        </p:txBody>
      </p:sp>
      <p:pic>
        <p:nvPicPr>
          <p:cNvPr id="17" name="Image 0" descr="/mnt/data/robotic_arm_work/assets/crop_source_s08_im3.png">    </p:cNvPr>
          <p:cNvPicPr>
            <a:picLocks noChangeAspect="1"/>
          </p:cNvPicPr>
          <p:nvPr/>
        </p:nvPicPr>
        <p:blipFill>
          <a:blip r:embed="rId3"/>
          <a:stretch>
            <a:fillRect/>
          </a:stretch>
        </p:blipFill>
        <p:spPr>
          <a:xfrm>
            <a:off x="7357060" y="1920240"/>
            <a:ext cx="3857343" cy="1901952"/>
          </a:xfrm>
          <a:prstGeom prst="rect">
            <a:avLst/>
          </a:prstGeom>
        </p:spPr>
      </p:pic>
      <p:sp>
        <p:nvSpPr>
          <p:cNvPr id="18" name="Text 15"/>
          <p:cNvSpPr/>
          <p:nvPr/>
        </p:nvSpPr>
        <p:spPr>
          <a:xfrm>
            <a:off x="7351776" y="3931920"/>
            <a:ext cx="3867912" cy="201168"/>
          </a:xfrm>
          <a:prstGeom prst="rect">
            <a:avLst/>
          </a:prstGeom>
          <a:noFill/>
          <a:ln/>
        </p:spPr>
        <p:txBody>
          <a:bodyPr wrap="square" lIns="0" tIns="0" rIns="0" bIns="0" rtlCol="0" anchor="ctr"/>
          <a:lstStyle/>
          <a:p>
            <a:pPr algn="ctr" indent="0" marL="0">
              <a:buNone/>
            </a:pPr>
            <a:r>
              <a:rPr lang="en-US" sz="1300" dirty="0">
                <a:solidFill>
                  <a:srgbClr val="646464"/>
                </a:solidFill>
                <a:latin typeface="Arial" pitchFamily="34" charset="0"/>
                <a:ea typeface="Arial" pitchFamily="34" charset="-122"/>
                <a:cs typeface="Arial" pitchFamily="34" charset="-120"/>
              </a:rPr>
              <a:t>Waypoints from the source path illustration.</a:t>
            </a:r>
            <a:endParaRPr lang="en-US" sz="1300" dirty="0"/>
          </a:p>
        </p:txBody>
      </p:sp>
      <p:sp>
        <p:nvSpPr>
          <p:cNvPr id="19" name="Shape 16"/>
          <p:cNvSpPr/>
          <p:nvPr/>
        </p:nvSpPr>
        <p:spPr>
          <a:xfrm>
            <a:off x="960120" y="4251960"/>
            <a:ext cx="10268712" cy="0"/>
          </a:xfrm>
          <a:prstGeom prst="line">
            <a:avLst/>
          </a:prstGeom>
          <a:noFill/>
          <a:ln w="8890">
            <a:solidFill>
              <a:srgbClr val="D8D8D8"/>
            </a:solidFill>
            <a:prstDash val="solid"/>
          </a:ln>
        </p:spPr>
      </p:sp>
      <p:sp>
        <p:nvSpPr>
          <p:cNvPr id="20" name="Text 17"/>
          <p:cNvSpPr/>
          <p:nvPr/>
        </p:nvSpPr>
        <p:spPr>
          <a:xfrm>
            <a:off x="969264" y="4471416"/>
            <a:ext cx="2011680" cy="283464"/>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Elbow angle</a:t>
            </a:r>
            <a:endParaRPr lang="en-US" sz="1800" dirty="0"/>
          </a:p>
        </p:txBody>
      </p:sp>
      <p:sp>
        <p:nvSpPr>
          <p:cNvPr id="21" name="Text 18"/>
          <p:cNvSpPr/>
          <p:nvPr/>
        </p:nvSpPr>
        <p:spPr>
          <a:xfrm>
            <a:off x="2953512" y="4425696"/>
            <a:ext cx="8247888" cy="374904"/>
          </a:xfrm>
          <a:prstGeom prst="rect">
            <a:avLst/>
          </a:prstGeom>
          <a:noFill/>
          <a:ln/>
        </p:spPr>
        <p:txBody>
          <a:bodyPr wrap="square" lIns="0" tIns="0" rIns="0" bIns="0" rtlCol="0" anchor="ctr"/>
          <a:lstStyle/>
          <a:p>
            <a:pPr indent="0" marL="0">
              <a:buNone/>
            </a:pPr>
            <a:r>
              <a:rPr lang="en-US" sz="2240" dirty="0">
                <a:solidFill>
                  <a:srgbClr val="000000"/>
                </a:solidFill>
                <a:latin typeface="Noto Serif" pitchFamily="34" charset="0"/>
                <a:ea typeface="Noto Serif" pitchFamily="34" charset="-122"/>
                <a:cs typeface="Noto Serif" pitchFamily="34" charset="-120"/>
              </a:rPr>
              <a:t>cos(θ₂) = (x² + y² − L₁² − L₂²) / (2L₁L₂)</a:t>
            </a:r>
            <a:endParaRPr lang="en-US" sz="2240" dirty="0"/>
          </a:p>
        </p:txBody>
      </p:sp>
      <p:sp>
        <p:nvSpPr>
          <p:cNvPr id="22" name="Text 19"/>
          <p:cNvSpPr/>
          <p:nvPr/>
        </p:nvSpPr>
        <p:spPr>
          <a:xfrm>
            <a:off x="2962656" y="4864608"/>
            <a:ext cx="8257032" cy="246888"/>
          </a:xfrm>
          <a:prstGeom prst="rect">
            <a:avLst/>
          </a:prstGeom>
          <a:noFill/>
          <a:ln/>
        </p:spPr>
        <p:txBody>
          <a:bodyPr wrap="square" lIns="0" tIns="0" rIns="0" bIns="0" rtlCol="0" anchor="ctr"/>
          <a:lstStyle/>
          <a:p>
            <a:pPr indent="0" marL="0">
              <a:buNone/>
            </a:pPr>
            <a:r>
              <a:rPr lang="en-US" sz="1500" dirty="0">
                <a:solidFill>
                  <a:srgbClr val="646464"/>
                </a:solidFill>
                <a:latin typeface="Arial" pitchFamily="34" charset="0"/>
                <a:ea typeface="Arial" pitchFamily="34" charset="-122"/>
                <a:cs typeface="Arial" pitchFamily="34" charset="-120"/>
              </a:rPr>
              <a:t>Two solutions in the source model: elbow-up and elbow-down.</a:t>
            </a:r>
            <a:endParaRPr lang="en-US" sz="1500" dirty="0"/>
          </a:p>
        </p:txBody>
      </p:sp>
      <p:sp>
        <p:nvSpPr>
          <p:cNvPr id="23" name="Text 20"/>
          <p:cNvSpPr/>
          <p:nvPr/>
        </p:nvSpPr>
        <p:spPr>
          <a:xfrm>
            <a:off x="969264" y="5340096"/>
            <a:ext cx="2011680" cy="283464"/>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Shoulder angle</a:t>
            </a:r>
            <a:endParaRPr lang="en-US" sz="1800" dirty="0"/>
          </a:p>
        </p:txBody>
      </p:sp>
      <p:sp>
        <p:nvSpPr>
          <p:cNvPr id="24" name="Text 21"/>
          <p:cNvSpPr/>
          <p:nvPr/>
        </p:nvSpPr>
        <p:spPr>
          <a:xfrm>
            <a:off x="2953512" y="5303520"/>
            <a:ext cx="8247888" cy="384048"/>
          </a:xfrm>
          <a:prstGeom prst="rect">
            <a:avLst/>
          </a:prstGeom>
          <a:noFill/>
          <a:ln/>
        </p:spPr>
        <p:txBody>
          <a:bodyPr wrap="square" lIns="0" tIns="0" rIns="0" bIns="0" rtlCol="0" anchor="ctr"/>
          <a:lstStyle/>
          <a:p>
            <a:pPr indent="0" marL="0">
              <a:buNone/>
            </a:pPr>
            <a:r>
              <a:rPr lang="en-US" sz="2070" dirty="0">
                <a:solidFill>
                  <a:srgbClr val="000000"/>
                </a:solidFill>
                <a:latin typeface="Noto Serif" pitchFamily="34" charset="0"/>
                <a:ea typeface="Noto Serif" pitchFamily="34" charset="-122"/>
                <a:cs typeface="Noto Serif" pitchFamily="34" charset="-120"/>
              </a:rPr>
              <a:t>θ₁ = atan2(y, x) − atan2(L₂ sinθ₂, L₁ + L₂ cosθ₂)</a:t>
            </a:r>
            <a:endParaRPr lang="en-US" sz="2070" dirty="0"/>
          </a:p>
        </p:txBody>
      </p:sp>
      <p:sp>
        <p:nvSpPr>
          <p:cNvPr id="25" name="Shape 22"/>
          <p:cNvSpPr/>
          <p:nvPr/>
        </p:nvSpPr>
        <p:spPr>
          <a:xfrm>
            <a:off x="960120" y="5879592"/>
            <a:ext cx="10268712" cy="365760"/>
          </a:xfrm>
          <a:prstGeom prst="rect">
            <a:avLst/>
          </a:prstGeom>
          <a:solidFill>
            <a:srgbClr val="F5F5F5"/>
          </a:solidFill>
          <a:ln w="8890">
            <a:solidFill>
              <a:srgbClr val="D7D7D7"/>
            </a:solidFill>
            <a:prstDash val="solid"/>
          </a:ln>
        </p:spPr>
      </p:sp>
      <p:sp>
        <p:nvSpPr>
          <p:cNvPr id="26" name="Text 23"/>
          <p:cNvSpPr/>
          <p:nvPr/>
        </p:nvSpPr>
        <p:spPr>
          <a:xfrm>
            <a:off x="1115568" y="5925312"/>
            <a:ext cx="9957816" cy="246888"/>
          </a:xfrm>
          <a:prstGeom prst="rect">
            <a:avLst/>
          </a:prstGeom>
          <a:noFill/>
          <a:ln/>
        </p:spPr>
        <p:txBody>
          <a:bodyPr wrap="square" lIns="0" tIns="0" rIns="0" bIns="0" rtlCol="0" anchor="ctr"/>
          <a:lstStyle/>
          <a:p>
            <a:pPr indent="0" marL="0">
              <a:buNone/>
            </a:pPr>
            <a:r>
              <a:rPr lang="en-US" sz="1600" dirty="0">
                <a:solidFill>
                  <a:srgbClr val="202020"/>
                </a:solidFill>
                <a:latin typeface="Arial" pitchFamily="34" charset="0"/>
                <a:ea typeface="Arial" pitchFamily="34" charset="-122"/>
                <a:cs typeface="Arial" pitchFamily="34" charset="-120"/>
              </a:rPr>
              <a:t>Reachability check:  Rmin ≤ √(x² + y²) ≤ Rmax   |   Reject / clamp targets outside the workspace.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Literature Survey</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Technical background: encoder feedback and control architecture</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7 / 11</a:t>
            </a:r>
            <a:endParaRPr lang="en-US" sz="1020" dirty="0"/>
          </a:p>
        </p:txBody>
      </p:sp>
      <p:sp>
        <p:nvSpPr>
          <p:cNvPr id="9" name="Shape 7"/>
          <p:cNvSpPr/>
          <p:nvPr/>
        </p:nvSpPr>
        <p:spPr>
          <a:xfrm>
            <a:off x="960120" y="1911096"/>
            <a:ext cx="1554480" cy="768096"/>
          </a:xfrm>
          <a:prstGeom prst="rect">
            <a:avLst/>
          </a:prstGeom>
          <a:solidFill>
            <a:srgbClr val="F4F7F8"/>
          </a:solidFill>
          <a:ln w="8890">
            <a:solidFill>
              <a:srgbClr val="A3B6BF"/>
            </a:solidFill>
            <a:prstDash val="solid"/>
          </a:ln>
        </p:spPr>
      </p:sp>
      <p:sp>
        <p:nvSpPr>
          <p:cNvPr id="10" name="Text 8"/>
          <p:cNvSpPr/>
          <p:nvPr/>
        </p:nvSpPr>
        <p:spPr>
          <a:xfrm>
            <a:off x="1033272"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Path input</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(x, y)</a:t>
            </a:r>
            <a:endParaRPr lang="en-US" sz="1700" dirty="0"/>
          </a:p>
        </p:txBody>
      </p:sp>
      <p:sp>
        <p:nvSpPr>
          <p:cNvPr id="11" name="Shape 9"/>
          <p:cNvSpPr/>
          <p:nvPr/>
        </p:nvSpPr>
        <p:spPr>
          <a:xfrm>
            <a:off x="2551176" y="2295144"/>
            <a:ext cx="182880" cy="0"/>
          </a:xfrm>
          <a:prstGeom prst="line">
            <a:avLst/>
          </a:prstGeom>
          <a:noFill/>
          <a:ln w="18415">
            <a:solidFill>
              <a:srgbClr val="075D7B"/>
            </a:solidFill>
            <a:prstDash val="solid"/>
            <a:headEnd type="none"/>
            <a:tailEnd type="triangle"/>
          </a:ln>
        </p:spPr>
      </p:sp>
      <p:sp>
        <p:nvSpPr>
          <p:cNvPr id="12" name="Shape 10"/>
          <p:cNvSpPr/>
          <p:nvPr/>
        </p:nvSpPr>
        <p:spPr>
          <a:xfrm>
            <a:off x="2770632" y="1911096"/>
            <a:ext cx="1554480" cy="768096"/>
          </a:xfrm>
          <a:prstGeom prst="rect">
            <a:avLst/>
          </a:prstGeom>
          <a:solidFill>
            <a:srgbClr val="F4F7F8"/>
          </a:solidFill>
          <a:ln w="8890">
            <a:solidFill>
              <a:srgbClr val="A3B6BF"/>
            </a:solidFill>
            <a:prstDash val="solid"/>
          </a:ln>
        </p:spPr>
      </p:sp>
      <p:sp>
        <p:nvSpPr>
          <p:cNvPr id="13" name="Text 11"/>
          <p:cNvSpPr/>
          <p:nvPr/>
        </p:nvSpPr>
        <p:spPr>
          <a:xfrm>
            <a:off x="2843784"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Inverse</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kinematics</a:t>
            </a:r>
            <a:endParaRPr lang="en-US" sz="1700" dirty="0"/>
          </a:p>
        </p:txBody>
      </p:sp>
      <p:sp>
        <p:nvSpPr>
          <p:cNvPr id="14" name="Shape 12"/>
          <p:cNvSpPr/>
          <p:nvPr/>
        </p:nvSpPr>
        <p:spPr>
          <a:xfrm>
            <a:off x="4361688" y="2295144"/>
            <a:ext cx="182880" cy="0"/>
          </a:xfrm>
          <a:prstGeom prst="line">
            <a:avLst/>
          </a:prstGeom>
          <a:noFill/>
          <a:ln w="18415">
            <a:solidFill>
              <a:srgbClr val="075D7B"/>
            </a:solidFill>
            <a:prstDash val="solid"/>
            <a:headEnd type="none"/>
            <a:tailEnd type="triangle"/>
          </a:ln>
        </p:spPr>
      </p:sp>
      <p:sp>
        <p:nvSpPr>
          <p:cNvPr id="15" name="Shape 13"/>
          <p:cNvSpPr/>
          <p:nvPr/>
        </p:nvSpPr>
        <p:spPr>
          <a:xfrm>
            <a:off x="4581144" y="1911096"/>
            <a:ext cx="1554480" cy="768096"/>
          </a:xfrm>
          <a:prstGeom prst="rect">
            <a:avLst/>
          </a:prstGeom>
          <a:solidFill>
            <a:srgbClr val="F4F7F8"/>
          </a:solidFill>
          <a:ln w="8890">
            <a:solidFill>
              <a:srgbClr val="A3B6BF"/>
            </a:solidFill>
            <a:prstDash val="solid"/>
          </a:ln>
        </p:spPr>
      </p:sp>
      <p:sp>
        <p:nvSpPr>
          <p:cNvPr id="16" name="Text 14"/>
          <p:cNvSpPr/>
          <p:nvPr/>
        </p:nvSpPr>
        <p:spPr>
          <a:xfrm>
            <a:off x="4654296"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Motion</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controller</a:t>
            </a:r>
            <a:endParaRPr lang="en-US" sz="1700" dirty="0"/>
          </a:p>
        </p:txBody>
      </p:sp>
      <p:sp>
        <p:nvSpPr>
          <p:cNvPr id="17" name="Shape 15"/>
          <p:cNvSpPr/>
          <p:nvPr/>
        </p:nvSpPr>
        <p:spPr>
          <a:xfrm>
            <a:off x="6172200" y="2295144"/>
            <a:ext cx="182880" cy="0"/>
          </a:xfrm>
          <a:prstGeom prst="line">
            <a:avLst/>
          </a:prstGeom>
          <a:noFill/>
          <a:ln w="18415">
            <a:solidFill>
              <a:srgbClr val="075D7B"/>
            </a:solidFill>
            <a:prstDash val="solid"/>
            <a:headEnd type="none"/>
            <a:tailEnd type="triangle"/>
          </a:ln>
        </p:spPr>
      </p:sp>
      <p:sp>
        <p:nvSpPr>
          <p:cNvPr id="18" name="Shape 16"/>
          <p:cNvSpPr/>
          <p:nvPr/>
        </p:nvSpPr>
        <p:spPr>
          <a:xfrm>
            <a:off x="6391656" y="1911096"/>
            <a:ext cx="1554480" cy="768096"/>
          </a:xfrm>
          <a:prstGeom prst="rect">
            <a:avLst/>
          </a:prstGeom>
          <a:solidFill>
            <a:srgbClr val="F4F7F8"/>
          </a:solidFill>
          <a:ln w="8890">
            <a:solidFill>
              <a:srgbClr val="A3B6BF"/>
            </a:solidFill>
            <a:prstDash val="solid"/>
          </a:ln>
        </p:spPr>
      </p:sp>
      <p:sp>
        <p:nvSpPr>
          <p:cNvPr id="19" name="Text 17"/>
          <p:cNvSpPr/>
          <p:nvPr/>
        </p:nvSpPr>
        <p:spPr>
          <a:xfrm>
            <a:off x="6464808"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Stepper</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drivers × 2</a:t>
            </a:r>
            <a:endParaRPr lang="en-US" sz="1700" dirty="0"/>
          </a:p>
        </p:txBody>
      </p:sp>
      <p:sp>
        <p:nvSpPr>
          <p:cNvPr id="20" name="Shape 18"/>
          <p:cNvSpPr/>
          <p:nvPr/>
        </p:nvSpPr>
        <p:spPr>
          <a:xfrm>
            <a:off x="7982712" y="2295144"/>
            <a:ext cx="182880" cy="0"/>
          </a:xfrm>
          <a:prstGeom prst="line">
            <a:avLst/>
          </a:prstGeom>
          <a:noFill/>
          <a:ln w="18415">
            <a:solidFill>
              <a:srgbClr val="075D7B"/>
            </a:solidFill>
            <a:prstDash val="solid"/>
            <a:headEnd type="none"/>
            <a:tailEnd type="triangle"/>
          </a:ln>
        </p:spPr>
      </p:sp>
      <p:sp>
        <p:nvSpPr>
          <p:cNvPr id="21" name="Shape 19"/>
          <p:cNvSpPr/>
          <p:nvPr/>
        </p:nvSpPr>
        <p:spPr>
          <a:xfrm>
            <a:off x="8202168" y="1911096"/>
            <a:ext cx="1554480" cy="768096"/>
          </a:xfrm>
          <a:prstGeom prst="rect">
            <a:avLst/>
          </a:prstGeom>
          <a:solidFill>
            <a:srgbClr val="F4F7F8"/>
          </a:solidFill>
          <a:ln w="8890">
            <a:solidFill>
              <a:srgbClr val="A3B6BF"/>
            </a:solidFill>
            <a:prstDash val="solid"/>
          </a:ln>
        </p:spPr>
      </p:sp>
      <p:sp>
        <p:nvSpPr>
          <p:cNvPr id="22" name="Text 20"/>
          <p:cNvSpPr/>
          <p:nvPr/>
        </p:nvSpPr>
        <p:spPr>
          <a:xfrm>
            <a:off x="8275320"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Stepper</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motors × 2</a:t>
            </a:r>
            <a:endParaRPr lang="en-US" sz="1700" dirty="0"/>
          </a:p>
        </p:txBody>
      </p:sp>
      <p:sp>
        <p:nvSpPr>
          <p:cNvPr id="23" name="Shape 21"/>
          <p:cNvSpPr/>
          <p:nvPr/>
        </p:nvSpPr>
        <p:spPr>
          <a:xfrm>
            <a:off x="9793224" y="2295144"/>
            <a:ext cx="182880" cy="0"/>
          </a:xfrm>
          <a:prstGeom prst="line">
            <a:avLst/>
          </a:prstGeom>
          <a:noFill/>
          <a:ln w="18415">
            <a:solidFill>
              <a:srgbClr val="075D7B"/>
            </a:solidFill>
            <a:prstDash val="solid"/>
            <a:headEnd type="none"/>
            <a:tailEnd type="triangle"/>
          </a:ln>
        </p:spPr>
      </p:sp>
      <p:sp>
        <p:nvSpPr>
          <p:cNvPr id="24" name="Shape 22"/>
          <p:cNvSpPr/>
          <p:nvPr/>
        </p:nvSpPr>
        <p:spPr>
          <a:xfrm>
            <a:off x="10012680" y="1911096"/>
            <a:ext cx="1554480" cy="768096"/>
          </a:xfrm>
          <a:prstGeom prst="rect">
            <a:avLst/>
          </a:prstGeom>
          <a:solidFill>
            <a:srgbClr val="F4F7F8"/>
          </a:solidFill>
          <a:ln w="8890">
            <a:solidFill>
              <a:srgbClr val="A3B6BF"/>
            </a:solidFill>
            <a:prstDash val="solid"/>
          </a:ln>
        </p:spPr>
      </p:sp>
      <p:sp>
        <p:nvSpPr>
          <p:cNvPr id="25" name="Text 23"/>
          <p:cNvSpPr/>
          <p:nvPr/>
        </p:nvSpPr>
        <p:spPr>
          <a:xfrm>
            <a:off x="10085832" y="1956816"/>
            <a:ext cx="1408176" cy="676656"/>
          </a:xfrm>
          <a:prstGeom prst="rect">
            <a:avLst/>
          </a:prstGeom>
          <a:noFill/>
          <a:ln/>
        </p:spPr>
        <p:txBody>
          <a:bodyPr wrap="square" lIns="0" tIns="0" rIns="0" bIns="0" rtlCol="0" anchor="ctr"/>
          <a:lstStyle/>
          <a:p>
            <a:pPr algn="ctr" indent="0" marL="0">
              <a:buNone/>
            </a:pPr>
            <a:r>
              <a:rPr lang="en-US" sz="1700" dirty="0">
                <a:solidFill>
                  <a:srgbClr val="242C5D"/>
                </a:solidFill>
                <a:latin typeface="Arial" pitchFamily="34" charset="0"/>
                <a:ea typeface="Arial" pitchFamily="34" charset="-122"/>
                <a:cs typeface="Arial" pitchFamily="34" charset="-120"/>
              </a:rPr>
              <a:t>Two-link arm</a:t>
            </a:r>
            <a:endParaRPr lang="en-US" sz="1700" dirty="0"/>
          </a:p>
          <a:p>
            <a:pPr algn="ctr" indent="0" marL="0">
              <a:buNone/>
            </a:pPr>
            <a:r>
              <a:rPr lang="en-US" sz="1700" dirty="0">
                <a:solidFill>
                  <a:srgbClr val="242C5D"/>
                </a:solidFill>
                <a:latin typeface="Arial" pitchFamily="34" charset="0"/>
                <a:ea typeface="Arial" pitchFamily="34" charset="-122"/>
                <a:cs typeface="Arial" pitchFamily="34" charset="-120"/>
              </a:rPr>
              <a:t>C at (x, y)</a:t>
            </a:r>
            <a:endParaRPr lang="en-US" sz="1700" dirty="0"/>
          </a:p>
        </p:txBody>
      </p:sp>
      <p:sp>
        <p:nvSpPr>
          <p:cNvPr id="26" name="Shape 24"/>
          <p:cNvSpPr/>
          <p:nvPr/>
        </p:nvSpPr>
        <p:spPr>
          <a:xfrm>
            <a:off x="8037576" y="3182112"/>
            <a:ext cx="1883664" cy="658368"/>
          </a:xfrm>
          <a:prstGeom prst="rect">
            <a:avLst/>
          </a:prstGeom>
          <a:solidFill>
            <a:srgbClr val="FFF4ED"/>
          </a:solidFill>
          <a:ln w="8890">
            <a:solidFill>
              <a:srgbClr val="D9A181"/>
            </a:solidFill>
            <a:prstDash val="solid"/>
          </a:ln>
        </p:spPr>
      </p:sp>
      <p:sp>
        <p:nvSpPr>
          <p:cNvPr id="27" name="Text 25"/>
          <p:cNvSpPr/>
          <p:nvPr/>
        </p:nvSpPr>
        <p:spPr>
          <a:xfrm>
            <a:off x="8110728" y="3227832"/>
            <a:ext cx="1737360" cy="566928"/>
          </a:xfrm>
          <a:prstGeom prst="rect">
            <a:avLst/>
          </a:prstGeom>
          <a:noFill/>
          <a:ln/>
        </p:spPr>
        <p:txBody>
          <a:bodyPr wrap="square" lIns="0" tIns="0" rIns="0" bIns="0" rtlCol="0" anchor="ctr"/>
          <a:lstStyle/>
          <a:p>
            <a:pPr algn="ctr" indent="0" marL="0">
              <a:buNone/>
            </a:pPr>
            <a:r>
              <a:rPr lang="en-US" sz="1620" dirty="0">
                <a:solidFill>
                  <a:srgbClr val="BE4F14"/>
                </a:solidFill>
                <a:latin typeface="Arial" pitchFamily="34" charset="0"/>
                <a:ea typeface="Arial" pitchFamily="34" charset="-122"/>
                <a:cs typeface="Arial" pitchFamily="34" charset="-120"/>
              </a:rPr>
              <a:t>Encoders × 2</a:t>
            </a:r>
            <a:endParaRPr lang="en-US" sz="1620" dirty="0"/>
          </a:p>
          <a:p>
            <a:pPr algn="ctr" indent="0" marL="0">
              <a:buNone/>
            </a:pPr>
            <a:r>
              <a:rPr lang="en-US" sz="1620" dirty="0">
                <a:solidFill>
                  <a:srgbClr val="BE4F14"/>
                </a:solidFill>
                <a:latin typeface="Arial" pitchFamily="34" charset="0"/>
                <a:ea typeface="Arial" pitchFamily="34" charset="-122"/>
                <a:cs typeface="Arial" pitchFamily="34" charset="-120"/>
              </a:rPr>
              <a:t>Actual θ₁, θ₂</a:t>
            </a:r>
            <a:endParaRPr lang="en-US" sz="1620" dirty="0"/>
          </a:p>
        </p:txBody>
      </p:sp>
      <p:sp>
        <p:nvSpPr>
          <p:cNvPr id="28" name="Shape 26"/>
          <p:cNvSpPr/>
          <p:nvPr/>
        </p:nvSpPr>
        <p:spPr>
          <a:xfrm>
            <a:off x="8979408" y="2679192"/>
            <a:ext cx="0" cy="484632"/>
          </a:xfrm>
          <a:prstGeom prst="line">
            <a:avLst/>
          </a:prstGeom>
          <a:noFill/>
          <a:ln w="18415">
            <a:solidFill>
              <a:srgbClr val="BE4F14"/>
            </a:solidFill>
            <a:prstDash val="solid"/>
            <a:headEnd type="none"/>
            <a:tailEnd type="triangle"/>
          </a:ln>
        </p:spPr>
      </p:sp>
      <p:sp>
        <p:nvSpPr>
          <p:cNvPr id="29" name="Shape 27"/>
          <p:cNvSpPr/>
          <p:nvPr/>
        </p:nvSpPr>
        <p:spPr>
          <a:xfrm>
            <a:off x="8037576" y="3511296"/>
            <a:ext cx="-2679192" cy="0"/>
          </a:xfrm>
          <a:prstGeom prst="line">
            <a:avLst/>
          </a:prstGeom>
          <a:noFill/>
          <a:ln w="18415">
            <a:solidFill>
              <a:srgbClr val="BE4F14"/>
            </a:solidFill>
            <a:prstDash val="solid"/>
          </a:ln>
        </p:spPr>
      </p:sp>
      <p:sp>
        <p:nvSpPr>
          <p:cNvPr id="30" name="Shape 28"/>
          <p:cNvSpPr/>
          <p:nvPr/>
        </p:nvSpPr>
        <p:spPr>
          <a:xfrm>
            <a:off x="5358384" y="3511296"/>
            <a:ext cx="0" cy="-804672"/>
          </a:xfrm>
          <a:prstGeom prst="line">
            <a:avLst/>
          </a:prstGeom>
          <a:noFill/>
          <a:ln w="18415">
            <a:solidFill>
              <a:srgbClr val="BE4F14"/>
            </a:solidFill>
            <a:prstDash val="solid"/>
            <a:headEnd type="none"/>
            <a:tailEnd type="triangle"/>
          </a:ln>
        </p:spPr>
      </p:sp>
      <p:sp>
        <p:nvSpPr>
          <p:cNvPr id="31" name="Text 29"/>
          <p:cNvSpPr/>
          <p:nvPr/>
        </p:nvSpPr>
        <p:spPr>
          <a:xfrm>
            <a:off x="5696712" y="3063240"/>
            <a:ext cx="2039112" cy="228600"/>
          </a:xfrm>
          <a:prstGeom prst="rect">
            <a:avLst/>
          </a:prstGeom>
          <a:noFill/>
          <a:ln/>
        </p:spPr>
        <p:txBody>
          <a:bodyPr wrap="square" lIns="0" tIns="0" rIns="0" bIns="0" rtlCol="0" anchor="ctr"/>
          <a:lstStyle/>
          <a:p>
            <a:pPr algn="ctr" indent="0" marL="0">
              <a:buNone/>
            </a:pPr>
            <a:r>
              <a:rPr lang="en-US" sz="1400" dirty="0">
                <a:solidFill>
                  <a:srgbClr val="BE4F14"/>
                </a:solidFill>
                <a:latin typeface="Arial" pitchFamily="34" charset="0"/>
                <a:ea typeface="Arial" pitchFamily="34" charset="-122"/>
                <a:cs typeface="Arial" pitchFamily="34" charset="-120"/>
              </a:rPr>
              <a:t>Joint-angle feedback</a:t>
            </a:r>
            <a:endParaRPr lang="en-US" sz="1400" dirty="0"/>
          </a:p>
        </p:txBody>
      </p:sp>
      <p:sp>
        <p:nvSpPr>
          <p:cNvPr id="32" name="Text 30"/>
          <p:cNvSpPr/>
          <p:nvPr/>
        </p:nvSpPr>
        <p:spPr>
          <a:xfrm>
            <a:off x="978408" y="4059936"/>
            <a:ext cx="10259568" cy="338328"/>
          </a:xfrm>
          <a:prstGeom prst="rect">
            <a:avLst/>
          </a:prstGeom>
          <a:noFill/>
          <a:ln/>
        </p:spPr>
        <p:txBody>
          <a:bodyPr wrap="square" lIns="0" tIns="0" rIns="0" bIns="0" rtlCol="0" anchor="ctr"/>
          <a:lstStyle/>
          <a:p>
            <a:pPr algn="ctr" indent="0" marL="0">
              <a:buNone/>
            </a:pPr>
            <a:r>
              <a:rPr lang="en-US" sz="1900" dirty="0">
                <a:solidFill>
                  <a:srgbClr val="000000"/>
                </a:solidFill>
                <a:latin typeface="Arial" pitchFamily="34" charset="0"/>
                <a:ea typeface="Arial" pitchFamily="34" charset="-122"/>
                <a:cs typeface="Arial" pitchFamily="34" charset="-120"/>
              </a:rPr>
              <a:t>Compare actual and desired angles; correct any discrepancy before the next waypoint.</a:t>
            </a:r>
            <a:endParaRPr lang="en-US" sz="1900" dirty="0"/>
          </a:p>
        </p:txBody>
      </p:sp>
      <p:sp>
        <p:nvSpPr>
          <p:cNvPr id="33" name="Shape 31"/>
          <p:cNvSpPr/>
          <p:nvPr/>
        </p:nvSpPr>
        <p:spPr>
          <a:xfrm>
            <a:off x="960120" y="4608576"/>
            <a:ext cx="10607040" cy="0"/>
          </a:xfrm>
          <a:prstGeom prst="line">
            <a:avLst/>
          </a:prstGeom>
          <a:noFill/>
          <a:ln w="8890">
            <a:solidFill>
              <a:srgbClr val="D8D8D8"/>
            </a:solidFill>
            <a:prstDash val="solid"/>
          </a:ln>
        </p:spPr>
      </p:sp>
      <p:sp>
        <p:nvSpPr>
          <p:cNvPr id="34" name="Text 32"/>
          <p:cNvSpPr/>
          <p:nvPr/>
        </p:nvSpPr>
        <p:spPr>
          <a:xfrm>
            <a:off x="960120" y="4809744"/>
            <a:ext cx="4956048" cy="283464"/>
          </a:xfrm>
          <a:prstGeom prst="rect">
            <a:avLst/>
          </a:prstGeom>
          <a:noFill/>
          <a:ln/>
        </p:spPr>
        <p:txBody>
          <a:bodyPr wrap="square" lIns="0" tIns="0" rIns="0" bIns="0" rtlCol="0" anchor="ctr"/>
          <a:lstStyle/>
          <a:p>
            <a:pPr indent="0" marL="0">
              <a:buNone/>
            </a:pPr>
            <a:r>
              <a:rPr lang="en-US" sz="2030" b="1" dirty="0">
                <a:solidFill>
                  <a:srgbClr val="000000"/>
                </a:solidFill>
                <a:latin typeface="Arial" pitchFamily="34" charset="0"/>
                <a:ea typeface="Arial" pitchFamily="34" charset="-122"/>
                <a:cs typeface="Arial" pitchFamily="34" charset="-120"/>
              </a:rPr>
              <a:t>Open-loop: motor commands only</a:t>
            </a:r>
            <a:endParaRPr lang="en-US" sz="2030" dirty="0"/>
          </a:p>
        </p:txBody>
      </p:sp>
      <p:sp>
        <p:nvSpPr>
          <p:cNvPr id="35" name="Text 33"/>
          <p:cNvSpPr/>
          <p:nvPr/>
        </p:nvSpPr>
        <p:spPr>
          <a:xfrm>
            <a:off x="969264" y="530352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36" name="Text 34"/>
          <p:cNvSpPr/>
          <p:nvPr/>
        </p:nvSpPr>
        <p:spPr>
          <a:xfrm>
            <a:off x="1216152" y="5285232"/>
            <a:ext cx="4681728" cy="33832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Assumes every commanded step occurs.</a:t>
            </a:r>
            <a:endParaRPr lang="en-US" sz="1750" dirty="0"/>
          </a:p>
        </p:txBody>
      </p:sp>
      <p:sp>
        <p:nvSpPr>
          <p:cNvPr id="37" name="Text 35"/>
          <p:cNvSpPr/>
          <p:nvPr/>
        </p:nvSpPr>
        <p:spPr>
          <a:xfrm>
            <a:off x="969264" y="566928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38" name="Text 36"/>
          <p:cNvSpPr/>
          <p:nvPr/>
        </p:nvSpPr>
        <p:spPr>
          <a:xfrm>
            <a:off x="1216152" y="5650992"/>
            <a:ext cx="4681728" cy="33832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No measurement of the true joint angle.</a:t>
            </a:r>
            <a:endParaRPr lang="en-US" sz="1750" dirty="0"/>
          </a:p>
        </p:txBody>
      </p:sp>
      <p:sp>
        <p:nvSpPr>
          <p:cNvPr id="39" name="Text 37"/>
          <p:cNvSpPr/>
          <p:nvPr/>
        </p:nvSpPr>
        <p:spPr>
          <a:xfrm>
            <a:off x="969264" y="603504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40" name="Text 38"/>
          <p:cNvSpPr/>
          <p:nvPr/>
        </p:nvSpPr>
        <p:spPr>
          <a:xfrm>
            <a:off x="1216152" y="6016752"/>
            <a:ext cx="4681728" cy="29260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Missed steps can accumulate as drift.</a:t>
            </a:r>
            <a:endParaRPr lang="en-US" sz="1750" dirty="0"/>
          </a:p>
        </p:txBody>
      </p:sp>
      <p:sp>
        <p:nvSpPr>
          <p:cNvPr id="41" name="Text 39"/>
          <p:cNvSpPr/>
          <p:nvPr/>
        </p:nvSpPr>
        <p:spPr>
          <a:xfrm>
            <a:off x="6446520" y="4809744"/>
            <a:ext cx="4983480" cy="283464"/>
          </a:xfrm>
          <a:prstGeom prst="rect">
            <a:avLst/>
          </a:prstGeom>
          <a:noFill/>
          <a:ln/>
        </p:spPr>
        <p:txBody>
          <a:bodyPr wrap="square" lIns="0" tIns="0" rIns="0" bIns="0" rtlCol="0" anchor="ctr"/>
          <a:lstStyle/>
          <a:p>
            <a:pPr indent="0" marL="0">
              <a:buNone/>
            </a:pPr>
            <a:r>
              <a:rPr lang="en-US" sz="2030" b="1" dirty="0">
                <a:solidFill>
                  <a:srgbClr val="000000"/>
                </a:solidFill>
                <a:latin typeface="Arial" pitchFamily="34" charset="0"/>
                <a:ea typeface="Arial" pitchFamily="34" charset="-122"/>
                <a:cs typeface="Arial" pitchFamily="34" charset="-120"/>
              </a:rPr>
              <a:t>Closed-loop: encoder feedback</a:t>
            </a:r>
            <a:endParaRPr lang="en-US" sz="2030" dirty="0"/>
          </a:p>
        </p:txBody>
      </p:sp>
      <p:sp>
        <p:nvSpPr>
          <p:cNvPr id="42" name="Text 40"/>
          <p:cNvSpPr/>
          <p:nvPr/>
        </p:nvSpPr>
        <p:spPr>
          <a:xfrm>
            <a:off x="6455664" y="530352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43" name="Text 41"/>
          <p:cNvSpPr/>
          <p:nvPr/>
        </p:nvSpPr>
        <p:spPr>
          <a:xfrm>
            <a:off x="6702552" y="5285232"/>
            <a:ext cx="4727448" cy="33832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Encoders report the actual joint angles.</a:t>
            </a:r>
            <a:endParaRPr lang="en-US" sz="1750" dirty="0"/>
          </a:p>
        </p:txBody>
      </p:sp>
      <p:sp>
        <p:nvSpPr>
          <p:cNvPr id="44" name="Text 42"/>
          <p:cNvSpPr/>
          <p:nvPr/>
        </p:nvSpPr>
        <p:spPr>
          <a:xfrm>
            <a:off x="6455664" y="566928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45" name="Text 43"/>
          <p:cNvSpPr/>
          <p:nvPr/>
        </p:nvSpPr>
        <p:spPr>
          <a:xfrm>
            <a:off x="6702552" y="5650992"/>
            <a:ext cx="4727448" cy="33832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Controller compares actual and desired θ.</a:t>
            </a:r>
            <a:endParaRPr lang="en-US" sz="1750" dirty="0"/>
          </a:p>
        </p:txBody>
      </p:sp>
      <p:sp>
        <p:nvSpPr>
          <p:cNvPr id="46" name="Text 44"/>
          <p:cNvSpPr/>
          <p:nvPr/>
        </p:nvSpPr>
        <p:spPr>
          <a:xfrm>
            <a:off x="6455664" y="6035040"/>
            <a:ext cx="146304" cy="228600"/>
          </a:xfrm>
          <a:prstGeom prst="rect">
            <a:avLst/>
          </a:prstGeom>
          <a:noFill/>
          <a:ln/>
        </p:spPr>
        <p:txBody>
          <a:bodyPr wrap="square" lIns="0" tIns="0" rIns="0" bIns="0" rtlCol="0" anchor="ctr"/>
          <a:lstStyle/>
          <a:p>
            <a:pPr indent="0" marL="0">
              <a:buNone/>
            </a:pPr>
            <a:r>
              <a:rPr lang="en-US" sz="1750" dirty="0">
                <a:solidFill>
                  <a:srgbClr val="000000"/>
                </a:solidFill>
                <a:latin typeface="Arial" pitchFamily="34" charset="0"/>
                <a:ea typeface="Arial" pitchFamily="34" charset="-122"/>
                <a:cs typeface="Arial" pitchFamily="34" charset="-120"/>
              </a:rPr>
              <a:t>•</a:t>
            </a:r>
            <a:endParaRPr lang="en-US" sz="1750" dirty="0"/>
          </a:p>
        </p:txBody>
      </p:sp>
      <p:sp>
        <p:nvSpPr>
          <p:cNvPr id="47" name="Text 45"/>
          <p:cNvSpPr/>
          <p:nvPr/>
        </p:nvSpPr>
        <p:spPr>
          <a:xfrm>
            <a:off x="6702552" y="6016752"/>
            <a:ext cx="4727448" cy="292608"/>
          </a:xfrm>
          <a:prstGeom prst="rect">
            <a:avLst/>
          </a:prstGeom>
          <a:noFill/>
          <a:ln/>
        </p:spPr>
        <p:txBody>
          <a:bodyPr wrap="square" lIns="0" tIns="0" rIns="0" bIns="0" rtlCol="0" anchor="t"/>
          <a:lstStyle/>
          <a:p>
            <a:pPr indent="0" marL="0">
              <a:buNone/>
            </a:pPr>
            <a:r>
              <a:rPr lang="en-US" sz="1750" dirty="0">
                <a:solidFill>
                  <a:srgbClr val="202020"/>
                </a:solidFill>
                <a:latin typeface="Arial" pitchFamily="34" charset="0"/>
                <a:ea typeface="Arial" pitchFamily="34" charset="-122"/>
                <a:cs typeface="Arial" pitchFamily="34" charset="-120"/>
              </a:rPr>
              <a:t>Correction supports repeatable path tracking.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Research Gaps and Problem Formulation</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Project-level issues identified in the supplied presentation</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8 / 11</a:t>
            </a:r>
            <a:endParaRPr lang="en-US" sz="1020" dirty="0"/>
          </a:p>
        </p:txBody>
      </p:sp>
      <p:sp>
        <p:nvSpPr>
          <p:cNvPr id="9" name="Shape 7"/>
          <p:cNvSpPr/>
          <p:nvPr/>
        </p:nvSpPr>
        <p:spPr>
          <a:xfrm>
            <a:off x="960120" y="1847088"/>
            <a:ext cx="4553712" cy="411480"/>
          </a:xfrm>
          <a:prstGeom prst="rect">
            <a:avLst/>
          </a:prstGeom>
          <a:solidFill>
            <a:srgbClr val="E9E9E9"/>
          </a:solidFill>
          <a:ln w="8890">
            <a:solidFill>
              <a:srgbClr val="D3D3D3"/>
            </a:solidFill>
            <a:prstDash val="solid"/>
          </a:ln>
        </p:spPr>
      </p:sp>
      <p:sp>
        <p:nvSpPr>
          <p:cNvPr id="10" name="Text 8"/>
          <p:cNvSpPr/>
          <p:nvPr/>
        </p:nvSpPr>
        <p:spPr>
          <a:xfrm>
            <a:off x="1106424" y="1938528"/>
            <a:ext cx="4261104" cy="228600"/>
          </a:xfrm>
          <a:prstGeom prst="rect">
            <a:avLst/>
          </a:prstGeom>
          <a:noFill/>
          <a:ln/>
        </p:spPr>
        <p:txBody>
          <a:bodyPr wrap="square" lIns="0" tIns="0" rIns="0" bIns="0" rtlCol="0" anchor="ctr"/>
          <a:lstStyle/>
          <a:p>
            <a:pPr indent="0" marL="0">
              <a:buNone/>
            </a:pPr>
            <a:r>
              <a:rPr lang="en-US" sz="1800" b="1" dirty="0">
                <a:solidFill>
                  <a:srgbClr val="202020"/>
                </a:solidFill>
                <a:latin typeface="Arial" pitchFamily="34" charset="0"/>
                <a:ea typeface="Arial" pitchFamily="34" charset="-122"/>
                <a:cs typeface="Arial" pitchFamily="34" charset="-120"/>
              </a:rPr>
              <a:t>Issue in the source model</a:t>
            </a:r>
            <a:endParaRPr lang="en-US" sz="1800" dirty="0"/>
          </a:p>
        </p:txBody>
      </p:sp>
      <p:sp>
        <p:nvSpPr>
          <p:cNvPr id="11" name="Shape 9"/>
          <p:cNvSpPr/>
          <p:nvPr/>
        </p:nvSpPr>
        <p:spPr>
          <a:xfrm>
            <a:off x="5513832" y="1847088"/>
            <a:ext cx="5705856" cy="411480"/>
          </a:xfrm>
          <a:prstGeom prst="rect">
            <a:avLst/>
          </a:prstGeom>
          <a:solidFill>
            <a:srgbClr val="E9E9E9"/>
          </a:solidFill>
          <a:ln w="8890">
            <a:solidFill>
              <a:srgbClr val="D3D3D3"/>
            </a:solidFill>
            <a:prstDash val="solid"/>
          </a:ln>
        </p:spPr>
      </p:sp>
      <p:sp>
        <p:nvSpPr>
          <p:cNvPr id="12" name="Text 10"/>
          <p:cNvSpPr/>
          <p:nvPr/>
        </p:nvSpPr>
        <p:spPr>
          <a:xfrm>
            <a:off x="5660136" y="1938528"/>
            <a:ext cx="5413248" cy="228600"/>
          </a:xfrm>
          <a:prstGeom prst="rect">
            <a:avLst/>
          </a:prstGeom>
          <a:noFill/>
          <a:ln/>
        </p:spPr>
        <p:txBody>
          <a:bodyPr wrap="square" lIns="0" tIns="0" rIns="0" bIns="0" rtlCol="0" anchor="ctr"/>
          <a:lstStyle/>
          <a:p>
            <a:pPr indent="0" marL="0">
              <a:buNone/>
            </a:pPr>
            <a:r>
              <a:rPr lang="en-US" sz="1800" b="1" dirty="0">
                <a:solidFill>
                  <a:srgbClr val="202020"/>
                </a:solidFill>
                <a:latin typeface="Arial" pitchFamily="34" charset="0"/>
                <a:ea typeface="Arial" pitchFamily="34" charset="-122"/>
                <a:cs typeface="Arial" pitchFamily="34" charset="-120"/>
              </a:rPr>
              <a:t>Project response</a:t>
            </a:r>
            <a:endParaRPr lang="en-US" sz="1800" dirty="0"/>
          </a:p>
        </p:txBody>
      </p:sp>
      <p:sp>
        <p:nvSpPr>
          <p:cNvPr id="13" name="Shape 11"/>
          <p:cNvSpPr/>
          <p:nvPr/>
        </p:nvSpPr>
        <p:spPr>
          <a:xfrm>
            <a:off x="960120" y="2258568"/>
            <a:ext cx="4553712" cy="603504"/>
          </a:xfrm>
          <a:prstGeom prst="rect">
            <a:avLst/>
          </a:prstGeom>
          <a:solidFill>
            <a:srgbClr val="FFFFFF"/>
          </a:solidFill>
          <a:ln w="8890">
            <a:solidFill>
              <a:srgbClr val="D3D3D3"/>
            </a:solidFill>
            <a:prstDash val="solid"/>
          </a:ln>
        </p:spPr>
      </p:sp>
      <p:sp>
        <p:nvSpPr>
          <p:cNvPr id="14" name="Text 12"/>
          <p:cNvSpPr/>
          <p:nvPr/>
        </p:nvSpPr>
        <p:spPr>
          <a:xfrm>
            <a:off x="1106424" y="2350008"/>
            <a:ext cx="4261104"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Open-loop control does not measure the true joint angle.</a:t>
            </a:r>
            <a:endParaRPr lang="en-US" sz="1800" dirty="0"/>
          </a:p>
        </p:txBody>
      </p:sp>
      <p:sp>
        <p:nvSpPr>
          <p:cNvPr id="15" name="Shape 13"/>
          <p:cNvSpPr/>
          <p:nvPr/>
        </p:nvSpPr>
        <p:spPr>
          <a:xfrm>
            <a:off x="5513832" y="2258568"/>
            <a:ext cx="5705856" cy="603504"/>
          </a:xfrm>
          <a:prstGeom prst="rect">
            <a:avLst/>
          </a:prstGeom>
          <a:solidFill>
            <a:srgbClr val="FFFFFF"/>
          </a:solidFill>
          <a:ln w="8890">
            <a:solidFill>
              <a:srgbClr val="D3D3D3"/>
            </a:solidFill>
            <a:prstDash val="solid"/>
          </a:ln>
        </p:spPr>
      </p:sp>
      <p:sp>
        <p:nvSpPr>
          <p:cNvPr id="16" name="Text 14"/>
          <p:cNvSpPr/>
          <p:nvPr/>
        </p:nvSpPr>
        <p:spPr>
          <a:xfrm>
            <a:off x="5660136" y="2350008"/>
            <a:ext cx="5413248"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Measure each joint using a rotary encoder.</a:t>
            </a:r>
            <a:endParaRPr lang="en-US" sz="1800" dirty="0"/>
          </a:p>
        </p:txBody>
      </p:sp>
      <p:sp>
        <p:nvSpPr>
          <p:cNvPr id="17" name="Shape 15"/>
          <p:cNvSpPr/>
          <p:nvPr/>
        </p:nvSpPr>
        <p:spPr>
          <a:xfrm>
            <a:off x="960120" y="2862072"/>
            <a:ext cx="4553712" cy="603504"/>
          </a:xfrm>
          <a:prstGeom prst="rect">
            <a:avLst/>
          </a:prstGeom>
          <a:solidFill>
            <a:srgbClr val="F8F8F8"/>
          </a:solidFill>
          <a:ln w="8890">
            <a:solidFill>
              <a:srgbClr val="D3D3D3"/>
            </a:solidFill>
            <a:prstDash val="solid"/>
          </a:ln>
        </p:spPr>
      </p:sp>
      <p:sp>
        <p:nvSpPr>
          <p:cNvPr id="18" name="Text 16"/>
          <p:cNvSpPr/>
          <p:nvPr/>
        </p:nvSpPr>
        <p:spPr>
          <a:xfrm>
            <a:off x="1106424" y="2953512"/>
            <a:ext cx="4261104"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Missed steps / drift can accumulate along the path.</a:t>
            </a:r>
            <a:endParaRPr lang="en-US" sz="1800" dirty="0"/>
          </a:p>
        </p:txBody>
      </p:sp>
      <p:sp>
        <p:nvSpPr>
          <p:cNvPr id="19" name="Shape 17"/>
          <p:cNvSpPr/>
          <p:nvPr/>
        </p:nvSpPr>
        <p:spPr>
          <a:xfrm>
            <a:off x="5513832" y="2862072"/>
            <a:ext cx="5705856" cy="603504"/>
          </a:xfrm>
          <a:prstGeom prst="rect">
            <a:avLst/>
          </a:prstGeom>
          <a:solidFill>
            <a:srgbClr val="F8F8F8"/>
          </a:solidFill>
          <a:ln w="8890">
            <a:solidFill>
              <a:srgbClr val="D3D3D3"/>
            </a:solidFill>
            <a:prstDash val="solid"/>
          </a:ln>
        </p:spPr>
      </p:sp>
      <p:sp>
        <p:nvSpPr>
          <p:cNvPr id="20" name="Text 18"/>
          <p:cNvSpPr/>
          <p:nvPr/>
        </p:nvSpPr>
        <p:spPr>
          <a:xfrm>
            <a:off x="5660136" y="2953512"/>
            <a:ext cx="5413248"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Compare desired and actual angles, then correct the error.</a:t>
            </a:r>
            <a:endParaRPr lang="en-US" sz="1800" dirty="0"/>
          </a:p>
        </p:txBody>
      </p:sp>
      <p:sp>
        <p:nvSpPr>
          <p:cNvPr id="21" name="Shape 19"/>
          <p:cNvSpPr/>
          <p:nvPr/>
        </p:nvSpPr>
        <p:spPr>
          <a:xfrm>
            <a:off x="960120" y="3465576"/>
            <a:ext cx="4553712" cy="603504"/>
          </a:xfrm>
          <a:prstGeom prst="rect">
            <a:avLst/>
          </a:prstGeom>
          <a:solidFill>
            <a:srgbClr val="FFFFFF"/>
          </a:solidFill>
          <a:ln w="8890">
            <a:solidFill>
              <a:srgbClr val="D3D3D3"/>
            </a:solidFill>
            <a:prstDash val="solid"/>
          </a:ln>
        </p:spPr>
      </p:sp>
      <p:sp>
        <p:nvSpPr>
          <p:cNvPr id="22" name="Text 20"/>
          <p:cNvSpPr/>
          <p:nvPr/>
        </p:nvSpPr>
        <p:spPr>
          <a:xfrm>
            <a:off x="1106424" y="3557016"/>
            <a:ext cx="4261104"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A Cartesian path must be reachable and mapped to joint motion.</a:t>
            </a:r>
            <a:endParaRPr lang="en-US" sz="1800" dirty="0"/>
          </a:p>
        </p:txBody>
      </p:sp>
      <p:sp>
        <p:nvSpPr>
          <p:cNvPr id="23" name="Shape 21"/>
          <p:cNvSpPr/>
          <p:nvPr/>
        </p:nvSpPr>
        <p:spPr>
          <a:xfrm>
            <a:off x="5513832" y="3465576"/>
            <a:ext cx="5705856" cy="603504"/>
          </a:xfrm>
          <a:prstGeom prst="rect">
            <a:avLst/>
          </a:prstGeom>
          <a:solidFill>
            <a:srgbClr val="FFFFFF"/>
          </a:solidFill>
          <a:ln w="8890">
            <a:solidFill>
              <a:srgbClr val="D3D3D3"/>
            </a:solidFill>
            <a:prstDash val="solid"/>
          </a:ln>
        </p:spPr>
      </p:sp>
      <p:sp>
        <p:nvSpPr>
          <p:cNvPr id="24" name="Text 22"/>
          <p:cNvSpPr/>
          <p:nvPr/>
        </p:nvSpPr>
        <p:spPr>
          <a:xfrm>
            <a:off x="5660136" y="3557016"/>
            <a:ext cx="5413248" cy="420624"/>
          </a:xfrm>
          <a:prstGeom prst="rect">
            <a:avLst/>
          </a:prstGeom>
          <a:noFill/>
          <a:ln/>
        </p:spPr>
        <p:txBody>
          <a:bodyPr wrap="square" lIns="0" tIns="0" rIns="0" bIns="0" rtlCol="0" anchor="ctr"/>
          <a:lstStyle/>
          <a:p>
            <a:pPr indent="0" marL="0">
              <a:buNone/>
            </a:pPr>
            <a:r>
              <a:rPr lang="en-US" sz="1800" dirty="0">
                <a:solidFill>
                  <a:srgbClr val="202020"/>
                </a:solidFill>
                <a:latin typeface="Arial" pitchFamily="34" charset="0"/>
                <a:ea typeface="Arial" pitchFamily="34" charset="-122"/>
                <a:cs typeface="Arial" pitchFamily="34" charset="-120"/>
              </a:rPr>
              <a:t>Check workspace limits and solve IK for each waypoint.</a:t>
            </a:r>
            <a:endParaRPr lang="en-US" sz="1800" dirty="0"/>
          </a:p>
        </p:txBody>
      </p:sp>
      <p:sp>
        <p:nvSpPr>
          <p:cNvPr id="25" name="Text 23"/>
          <p:cNvSpPr/>
          <p:nvPr/>
        </p:nvSpPr>
        <p:spPr>
          <a:xfrm>
            <a:off x="960120" y="4407408"/>
            <a:ext cx="10259568" cy="283464"/>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Problem formulation</a:t>
            </a:r>
            <a:endParaRPr lang="en-US" sz="2200" dirty="0"/>
          </a:p>
        </p:txBody>
      </p:sp>
      <p:sp>
        <p:nvSpPr>
          <p:cNvPr id="26" name="Shape 24"/>
          <p:cNvSpPr/>
          <p:nvPr/>
        </p:nvSpPr>
        <p:spPr>
          <a:xfrm>
            <a:off x="960120" y="4846320"/>
            <a:ext cx="10259568" cy="1069848"/>
          </a:xfrm>
          <a:prstGeom prst="rect">
            <a:avLst/>
          </a:prstGeom>
          <a:solidFill>
            <a:srgbClr val="F5F5F5"/>
          </a:solidFill>
          <a:ln w="8890">
            <a:solidFill>
              <a:srgbClr val="D3D3D3"/>
            </a:solidFill>
            <a:prstDash val="solid"/>
          </a:ln>
        </p:spPr>
      </p:sp>
      <p:sp>
        <p:nvSpPr>
          <p:cNvPr id="27" name="Text 25"/>
          <p:cNvSpPr/>
          <p:nvPr/>
        </p:nvSpPr>
        <p:spPr>
          <a:xfrm>
            <a:off x="1179576" y="5020056"/>
            <a:ext cx="9829800" cy="73152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Design and implement a 2-link, 2-degree-of-freedom planar robotic arm whose end-effector can be commanded to follow a pre-defined trajectory of (x, y) coordinates with accuracy and repeatability.</a:t>
            </a:r>
            <a:endParaRPr lang="en-US" sz="2200" dirty="0"/>
          </a:p>
        </p:txBody>
      </p:sp>
      <p:sp>
        <p:nvSpPr>
          <p:cNvPr id="28" name="Text 26"/>
          <p:cNvSpPr/>
          <p:nvPr/>
        </p:nvSpPr>
        <p:spPr>
          <a:xfrm>
            <a:off x="978408" y="6126480"/>
            <a:ext cx="10213848" cy="192024"/>
          </a:xfrm>
          <a:prstGeom prst="rect">
            <a:avLst/>
          </a:prstGeom>
          <a:noFill/>
          <a:ln/>
        </p:spPr>
        <p:txBody>
          <a:bodyPr wrap="square" lIns="0" tIns="0" rIns="0" bIns="0" rtlCol="0" anchor="ctr"/>
          <a:lstStyle/>
          <a:p>
            <a:pPr indent="0" marL="0">
              <a:buNone/>
            </a:pPr>
            <a:r>
              <a:rPr lang="en-US" sz="1250" dirty="0">
                <a:solidFill>
                  <a:srgbClr val="646464"/>
                </a:solidFill>
                <a:latin typeface="Arial" pitchFamily="34" charset="0"/>
                <a:ea typeface="Arial" pitchFamily="34" charset="-122"/>
                <a:cs typeface="Arial" pitchFamily="34" charset="-120"/>
              </a:rPr>
              <a:t>These are design gaps from the supplied project source, not claims of novelty established by published research.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Project Objectives</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From reachable coordinates to closed-loop path tracking</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9 / 11</a:t>
            </a:r>
            <a:endParaRPr lang="en-US" sz="1020" dirty="0"/>
          </a:p>
        </p:txBody>
      </p:sp>
      <p:sp>
        <p:nvSpPr>
          <p:cNvPr id="9" name="Text 7"/>
          <p:cNvSpPr/>
          <p:nvPr/>
        </p:nvSpPr>
        <p:spPr>
          <a:xfrm>
            <a:off x="969264" y="1824228"/>
            <a:ext cx="411480" cy="356616"/>
          </a:xfrm>
          <a:prstGeom prst="rect">
            <a:avLst/>
          </a:prstGeom>
          <a:noFill/>
          <a:ln/>
        </p:spPr>
        <p:txBody>
          <a:bodyPr wrap="square" lIns="0" tIns="0" rIns="0" bIns="0" rtlCol="0" anchor="ctr"/>
          <a:lstStyle/>
          <a:p>
            <a:pPr indent="0" marL="0">
              <a:buNone/>
            </a:pPr>
            <a:r>
              <a:rPr lang="en-US" sz="2300" dirty="0">
                <a:solidFill>
                  <a:srgbClr val="000000"/>
                </a:solidFill>
                <a:latin typeface="Noto Serif" pitchFamily="34" charset="0"/>
                <a:ea typeface="Noto Serif" pitchFamily="34" charset="-122"/>
                <a:cs typeface="Noto Serif" pitchFamily="34" charset="-120"/>
              </a:rPr>
              <a:t>1.</a:t>
            </a:r>
            <a:endParaRPr lang="en-US" sz="2300" dirty="0"/>
          </a:p>
        </p:txBody>
      </p:sp>
      <p:sp>
        <p:nvSpPr>
          <p:cNvPr id="10" name="Text 8"/>
          <p:cNvSpPr/>
          <p:nvPr/>
        </p:nvSpPr>
        <p:spPr>
          <a:xfrm>
            <a:off x="1563624" y="1810512"/>
            <a:ext cx="9601200" cy="283464"/>
          </a:xfrm>
          <a:prstGeom prst="rect">
            <a:avLst/>
          </a:prstGeom>
          <a:noFill/>
          <a:ln/>
        </p:spPr>
        <p:txBody>
          <a:bodyPr wrap="square" lIns="0" tIns="0" rIns="0" bIns="0" rtlCol="0" anchor="ctr"/>
          <a:lstStyle/>
          <a:p>
            <a:pPr indent="0" marL="0">
              <a:buNone/>
            </a:pPr>
            <a:r>
              <a:rPr lang="en-US" sz="2180" b="1" dirty="0">
                <a:solidFill>
                  <a:srgbClr val="000000"/>
                </a:solidFill>
                <a:latin typeface="Arial" pitchFamily="34" charset="0"/>
                <a:ea typeface="Arial" pitchFamily="34" charset="-122"/>
                <a:cs typeface="Arial" pitchFamily="34" charset="-120"/>
              </a:rPr>
              <a:t>Determine the workspace</a:t>
            </a:r>
            <a:endParaRPr lang="en-US" sz="2180" dirty="0"/>
          </a:p>
        </p:txBody>
      </p:sp>
      <p:sp>
        <p:nvSpPr>
          <p:cNvPr id="11" name="Text 9"/>
          <p:cNvSpPr/>
          <p:nvPr/>
        </p:nvSpPr>
        <p:spPr>
          <a:xfrm>
            <a:off x="1563624" y="2203704"/>
            <a:ext cx="9564624" cy="411480"/>
          </a:xfrm>
          <a:prstGeom prst="rect">
            <a:avLst/>
          </a:prstGeom>
          <a:noFill/>
          <a:ln/>
        </p:spPr>
        <p:txBody>
          <a:bodyPr wrap="square" lIns="0" tIns="0" rIns="0" bIns="0" rtlCol="0" anchor="t"/>
          <a:lstStyle/>
          <a:p>
            <a:pPr indent="0" marL="0">
              <a:buNone/>
            </a:pPr>
            <a:r>
              <a:rPr lang="en-US" sz="1950" dirty="0">
                <a:solidFill>
                  <a:srgbClr val="202020"/>
                </a:solidFill>
                <a:latin typeface="Arial" pitchFamily="34" charset="0"/>
                <a:ea typeface="Arial" pitchFamily="34" charset="-122"/>
                <a:cs typeface="Arial" pitchFamily="34" charset="-120"/>
              </a:rPr>
              <a:t>Determine the full set of reachable (x, y) coordinates for a given pair of link lengths.</a:t>
            </a:r>
            <a:endParaRPr lang="en-US" sz="1950" dirty="0"/>
          </a:p>
        </p:txBody>
      </p:sp>
      <p:sp>
        <p:nvSpPr>
          <p:cNvPr id="12" name="Shape 10"/>
          <p:cNvSpPr/>
          <p:nvPr/>
        </p:nvSpPr>
        <p:spPr>
          <a:xfrm>
            <a:off x="1563624" y="2596896"/>
            <a:ext cx="9619488" cy="0"/>
          </a:xfrm>
          <a:prstGeom prst="line">
            <a:avLst/>
          </a:prstGeom>
          <a:noFill/>
          <a:ln w="6350">
            <a:solidFill>
              <a:srgbClr val="D8D8D8"/>
            </a:solidFill>
            <a:prstDash val="solid"/>
          </a:ln>
        </p:spPr>
      </p:sp>
      <p:sp>
        <p:nvSpPr>
          <p:cNvPr id="13" name="Text 11"/>
          <p:cNvSpPr/>
          <p:nvPr/>
        </p:nvSpPr>
        <p:spPr>
          <a:xfrm>
            <a:off x="969264" y="2752344"/>
            <a:ext cx="411480" cy="356616"/>
          </a:xfrm>
          <a:prstGeom prst="rect">
            <a:avLst/>
          </a:prstGeom>
          <a:noFill/>
          <a:ln/>
        </p:spPr>
        <p:txBody>
          <a:bodyPr wrap="square" lIns="0" tIns="0" rIns="0" bIns="0" rtlCol="0" anchor="ctr"/>
          <a:lstStyle/>
          <a:p>
            <a:pPr indent="0" marL="0">
              <a:buNone/>
            </a:pPr>
            <a:r>
              <a:rPr lang="en-US" sz="2300" dirty="0">
                <a:solidFill>
                  <a:srgbClr val="000000"/>
                </a:solidFill>
                <a:latin typeface="Noto Serif" pitchFamily="34" charset="0"/>
                <a:ea typeface="Noto Serif" pitchFamily="34" charset="-122"/>
                <a:cs typeface="Noto Serif" pitchFamily="34" charset="-120"/>
              </a:rPr>
              <a:t>2.</a:t>
            </a:r>
            <a:endParaRPr lang="en-US" sz="2300" dirty="0"/>
          </a:p>
        </p:txBody>
      </p:sp>
      <p:sp>
        <p:nvSpPr>
          <p:cNvPr id="14" name="Text 12"/>
          <p:cNvSpPr/>
          <p:nvPr/>
        </p:nvSpPr>
        <p:spPr>
          <a:xfrm>
            <a:off x="1563624" y="2738628"/>
            <a:ext cx="9601200" cy="283464"/>
          </a:xfrm>
          <a:prstGeom prst="rect">
            <a:avLst/>
          </a:prstGeom>
          <a:noFill/>
          <a:ln/>
        </p:spPr>
        <p:txBody>
          <a:bodyPr wrap="square" lIns="0" tIns="0" rIns="0" bIns="0" rtlCol="0" anchor="ctr"/>
          <a:lstStyle/>
          <a:p>
            <a:pPr indent="0" marL="0">
              <a:buNone/>
            </a:pPr>
            <a:r>
              <a:rPr lang="en-US" sz="2180" b="1" dirty="0">
                <a:solidFill>
                  <a:srgbClr val="000000"/>
                </a:solidFill>
                <a:latin typeface="Arial" pitchFamily="34" charset="0"/>
                <a:ea typeface="Arial" pitchFamily="34" charset="-122"/>
                <a:cs typeface="Arial" pitchFamily="34" charset="-120"/>
              </a:rPr>
              <a:t>Control both joints independently</a:t>
            </a:r>
            <a:endParaRPr lang="en-US" sz="2180" dirty="0"/>
          </a:p>
        </p:txBody>
      </p:sp>
      <p:sp>
        <p:nvSpPr>
          <p:cNvPr id="15" name="Text 13"/>
          <p:cNvSpPr/>
          <p:nvPr/>
        </p:nvSpPr>
        <p:spPr>
          <a:xfrm>
            <a:off x="1563624" y="3131820"/>
            <a:ext cx="9564624" cy="411480"/>
          </a:xfrm>
          <a:prstGeom prst="rect">
            <a:avLst/>
          </a:prstGeom>
          <a:noFill/>
          <a:ln/>
        </p:spPr>
        <p:txBody>
          <a:bodyPr wrap="square" lIns="0" tIns="0" rIns="0" bIns="0" rtlCol="0" anchor="t"/>
          <a:lstStyle/>
          <a:p>
            <a:pPr indent="0" marL="0">
              <a:buNone/>
            </a:pPr>
            <a:r>
              <a:rPr lang="en-US" sz="1950" dirty="0">
                <a:solidFill>
                  <a:srgbClr val="202020"/>
                </a:solidFill>
                <a:latin typeface="Arial" pitchFamily="34" charset="0"/>
                <a:ea typeface="Arial" pitchFamily="34" charset="-122"/>
                <a:cs typeface="Arial" pitchFamily="34" charset="-120"/>
              </a:rPr>
              <a:t>Actuate each joint using a dedicated stepper motor for precise angular control.</a:t>
            </a:r>
            <a:endParaRPr lang="en-US" sz="1950" dirty="0"/>
          </a:p>
        </p:txBody>
      </p:sp>
      <p:sp>
        <p:nvSpPr>
          <p:cNvPr id="16" name="Shape 14"/>
          <p:cNvSpPr/>
          <p:nvPr/>
        </p:nvSpPr>
        <p:spPr>
          <a:xfrm>
            <a:off x="1563624" y="3525012"/>
            <a:ext cx="9619488" cy="0"/>
          </a:xfrm>
          <a:prstGeom prst="line">
            <a:avLst/>
          </a:prstGeom>
          <a:noFill/>
          <a:ln w="6350">
            <a:solidFill>
              <a:srgbClr val="D8D8D8"/>
            </a:solidFill>
            <a:prstDash val="solid"/>
          </a:ln>
        </p:spPr>
      </p:sp>
      <p:sp>
        <p:nvSpPr>
          <p:cNvPr id="17" name="Text 15"/>
          <p:cNvSpPr/>
          <p:nvPr/>
        </p:nvSpPr>
        <p:spPr>
          <a:xfrm>
            <a:off x="969264" y="3680460"/>
            <a:ext cx="411480" cy="356616"/>
          </a:xfrm>
          <a:prstGeom prst="rect">
            <a:avLst/>
          </a:prstGeom>
          <a:noFill/>
          <a:ln/>
        </p:spPr>
        <p:txBody>
          <a:bodyPr wrap="square" lIns="0" tIns="0" rIns="0" bIns="0" rtlCol="0" anchor="ctr"/>
          <a:lstStyle/>
          <a:p>
            <a:pPr indent="0" marL="0">
              <a:buNone/>
            </a:pPr>
            <a:r>
              <a:rPr lang="en-US" sz="2300" dirty="0">
                <a:solidFill>
                  <a:srgbClr val="000000"/>
                </a:solidFill>
                <a:latin typeface="Noto Serif" pitchFamily="34" charset="0"/>
                <a:ea typeface="Noto Serif" pitchFamily="34" charset="-122"/>
                <a:cs typeface="Noto Serif" pitchFamily="34" charset="-120"/>
              </a:rPr>
              <a:t>3.</a:t>
            </a:r>
            <a:endParaRPr lang="en-US" sz="2300" dirty="0"/>
          </a:p>
        </p:txBody>
      </p:sp>
      <p:sp>
        <p:nvSpPr>
          <p:cNvPr id="18" name="Text 16"/>
          <p:cNvSpPr/>
          <p:nvPr/>
        </p:nvSpPr>
        <p:spPr>
          <a:xfrm>
            <a:off x="1563624" y="3666744"/>
            <a:ext cx="9601200" cy="283464"/>
          </a:xfrm>
          <a:prstGeom prst="rect">
            <a:avLst/>
          </a:prstGeom>
          <a:noFill/>
          <a:ln/>
        </p:spPr>
        <p:txBody>
          <a:bodyPr wrap="square" lIns="0" tIns="0" rIns="0" bIns="0" rtlCol="0" anchor="ctr"/>
          <a:lstStyle/>
          <a:p>
            <a:pPr indent="0" marL="0">
              <a:buNone/>
            </a:pPr>
            <a:r>
              <a:rPr lang="en-US" sz="2180" b="1" dirty="0">
                <a:solidFill>
                  <a:srgbClr val="000000"/>
                </a:solidFill>
                <a:latin typeface="Arial" pitchFamily="34" charset="0"/>
                <a:ea typeface="Arial" pitchFamily="34" charset="-122"/>
                <a:cs typeface="Arial" pitchFamily="34" charset="-120"/>
              </a:rPr>
              <a:t>Close the feedback loop</a:t>
            </a:r>
            <a:endParaRPr lang="en-US" sz="2180" dirty="0"/>
          </a:p>
        </p:txBody>
      </p:sp>
      <p:sp>
        <p:nvSpPr>
          <p:cNvPr id="19" name="Text 17"/>
          <p:cNvSpPr/>
          <p:nvPr/>
        </p:nvSpPr>
        <p:spPr>
          <a:xfrm>
            <a:off x="1563624" y="4059936"/>
            <a:ext cx="9564624" cy="411480"/>
          </a:xfrm>
          <a:prstGeom prst="rect">
            <a:avLst/>
          </a:prstGeom>
          <a:noFill/>
          <a:ln/>
        </p:spPr>
        <p:txBody>
          <a:bodyPr wrap="square" lIns="0" tIns="0" rIns="0" bIns="0" rtlCol="0" anchor="t"/>
          <a:lstStyle/>
          <a:p>
            <a:pPr indent="0" marL="0">
              <a:buNone/>
            </a:pPr>
            <a:r>
              <a:rPr lang="en-US" sz="1950" dirty="0">
                <a:solidFill>
                  <a:srgbClr val="202020"/>
                </a:solidFill>
                <a:latin typeface="Arial" pitchFamily="34" charset="0"/>
                <a:ea typeface="Arial" pitchFamily="34" charset="-122"/>
                <a:cs typeface="Arial" pitchFamily="34" charset="-120"/>
              </a:rPr>
              <a:t>Use rotary encoders on each joint to correct for step loss and drift.</a:t>
            </a:r>
            <a:endParaRPr lang="en-US" sz="1950" dirty="0"/>
          </a:p>
        </p:txBody>
      </p:sp>
      <p:sp>
        <p:nvSpPr>
          <p:cNvPr id="20" name="Shape 18"/>
          <p:cNvSpPr/>
          <p:nvPr/>
        </p:nvSpPr>
        <p:spPr>
          <a:xfrm>
            <a:off x="1563624" y="4453128"/>
            <a:ext cx="9619488" cy="0"/>
          </a:xfrm>
          <a:prstGeom prst="line">
            <a:avLst/>
          </a:prstGeom>
          <a:noFill/>
          <a:ln w="6350">
            <a:solidFill>
              <a:srgbClr val="D8D8D8"/>
            </a:solidFill>
            <a:prstDash val="solid"/>
          </a:ln>
        </p:spPr>
      </p:sp>
      <p:sp>
        <p:nvSpPr>
          <p:cNvPr id="21" name="Text 19"/>
          <p:cNvSpPr/>
          <p:nvPr/>
        </p:nvSpPr>
        <p:spPr>
          <a:xfrm>
            <a:off x="969264" y="4608576"/>
            <a:ext cx="411480" cy="356616"/>
          </a:xfrm>
          <a:prstGeom prst="rect">
            <a:avLst/>
          </a:prstGeom>
          <a:noFill/>
          <a:ln/>
        </p:spPr>
        <p:txBody>
          <a:bodyPr wrap="square" lIns="0" tIns="0" rIns="0" bIns="0" rtlCol="0" anchor="ctr"/>
          <a:lstStyle/>
          <a:p>
            <a:pPr indent="0" marL="0">
              <a:buNone/>
            </a:pPr>
            <a:r>
              <a:rPr lang="en-US" sz="2300" dirty="0">
                <a:solidFill>
                  <a:srgbClr val="000000"/>
                </a:solidFill>
                <a:latin typeface="Noto Serif" pitchFamily="34" charset="0"/>
                <a:ea typeface="Noto Serif" pitchFamily="34" charset="-122"/>
                <a:cs typeface="Noto Serif" pitchFamily="34" charset="-120"/>
              </a:rPr>
              <a:t>4.</a:t>
            </a:r>
            <a:endParaRPr lang="en-US" sz="2300" dirty="0"/>
          </a:p>
        </p:txBody>
      </p:sp>
      <p:sp>
        <p:nvSpPr>
          <p:cNvPr id="22" name="Text 20"/>
          <p:cNvSpPr/>
          <p:nvPr/>
        </p:nvSpPr>
        <p:spPr>
          <a:xfrm>
            <a:off x="1563624" y="4594860"/>
            <a:ext cx="9601200" cy="283464"/>
          </a:xfrm>
          <a:prstGeom prst="rect">
            <a:avLst/>
          </a:prstGeom>
          <a:noFill/>
          <a:ln/>
        </p:spPr>
        <p:txBody>
          <a:bodyPr wrap="square" lIns="0" tIns="0" rIns="0" bIns="0" rtlCol="0" anchor="ctr"/>
          <a:lstStyle/>
          <a:p>
            <a:pPr indent="0" marL="0">
              <a:buNone/>
            </a:pPr>
            <a:r>
              <a:rPr lang="en-US" sz="2180" b="1" dirty="0">
                <a:solidFill>
                  <a:srgbClr val="000000"/>
                </a:solidFill>
                <a:latin typeface="Arial" pitchFamily="34" charset="0"/>
                <a:ea typeface="Arial" pitchFamily="34" charset="-122"/>
                <a:cs typeface="Arial" pitchFamily="34" charset="-120"/>
              </a:rPr>
              <a:t>Follow a Cartesian trajectory</a:t>
            </a:r>
            <a:endParaRPr lang="en-US" sz="2180" dirty="0"/>
          </a:p>
        </p:txBody>
      </p:sp>
      <p:sp>
        <p:nvSpPr>
          <p:cNvPr id="23" name="Text 21"/>
          <p:cNvSpPr/>
          <p:nvPr/>
        </p:nvSpPr>
        <p:spPr>
          <a:xfrm>
            <a:off x="1563624" y="4988052"/>
            <a:ext cx="9564624" cy="411480"/>
          </a:xfrm>
          <a:prstGeom prst="rect">
            <a:avLst/>
          </a:prstGeom>
          <a:noFill/>
          <a:ln/>
        </p:spPr>
        <p:txBody>
          <a:bodyPr wrap="square" lIns="0" tIns="0" rIns="0" bIns="0" rtlCol="0" anchor="t"/>
          <a:lstStyle/>
          <a:p>
            <a:pPr indent="0" marL="0">
              <a:buNone/>
            </a:pPr>
            <a:r>
              <a:rPr lang="en-US" sz="1950" dirty="0">
                <a:solidFill>
                  <a:srgbClr val="202020"/>
                </a:solidFill>
                <a:latin typeface="Arial" pitchFamily="34" charset="0"/>
                <a:ea typeface="Arial" pitchFamily="34" charset="-122"/>
                <a:cs typeface="Arial" pitchFamily="34" charset="-120"/>
              </a:rPr>
              <a:t>Convert a desired path into joint angles using inverse kinematics and drive the arm smoothly along it.</a:t>
            </a:r>
            <a:endParaRPr lang="en-US" sz="1950" dirty="0"/>
          </a:p>
        </p:txBody>
      </p:sp>
      <p:sp>
        <p:nvSpPr>
          <p:cNvPr id="24" name="Text 22"/>
          <p:cNvSpPr/>
          <p:nvPr/>
        </p:nvSpPr>
        <p:spPr>
          <a:xfrm>
            <a:off x="978408" y="5669280"/>
            <a:ext cx="10213848" cy="283464"/>
          </a:xfrm>
          <a:prstGeom prst="rect">
            <a:avLst/>
          </a:prstGeom>
          <a:noFill/>
          <a:ln/>
        </p:spPr>
        <p:txBody>
          <a:bodyPr wrap="square" lIns="0" tIns="0" rIns="0" bIns="0" rtlCol="0" anchor="ctr"/>
          <a:lstStyle/>
          <a:p>
            <a:pPr indent="0" marL="0">
              <a:buNone/>
            </a:pPr>
            <a:r>
              <a:rPr lang="en-US" sz="1850" b="1" dirty="0">
                <a:solidFill>
                  <a:srgbClr val="000000"/>
                </a:solidFill>
                <a:latin typeface="Arial" pitchFamily="34" charset="0"/>
                <a:ea typeface="Arial" pitchFamily="34" charset="-122"/>
                <a:cs typeface="Arial" pitchFamily="34" charset="-120"/>
              </a:rPr>
              <a:t>Control sequence</a:t>
            </a:r>
            <a:endParaRPr lang="en-US" sz="1850" dirty="0"/>
          </a:p>
        </p:txBody>
      </p:sp>
      <p:sp>
        <p:nvSpPr>
          <p:cNvPr id="25" name="Text 23"/>
          <p:cNvSpPr/>
          <p:nvPr/>
        </p:nvSpPr>
        <p:spPr>
          <a:xfrm>
            <a:off x="978408" y="6071616"/>
            <a:ext cx="10204704" cy="256032"/>
          </a:xfrm>
          <a:prstGeom prst="rect">
            <a:avLst/>
          </a:prstGeom>
          <a:noFill/>
          <a:ln/>
        </p:spPr>
        <p:txBody>
          <a:bodyPr wrap="square" lIns="0" tIns="0" rIns="0" bIns="0" rtlCol="0" anchor="ctr"/>
          <a:lstStyle/>
          <a:p>
            <a:pPr indent="0" marL="0">
              <a:buNone/>
            </a:pPr>
            <a:r>
              <a:rPr lang="en-US" sz="1700" dirty="0">
                <a:solidFill>
                  <a:srgbClr val="075D7B"/>
                </a:solidFill>
                <a:latin typeface="Arial" pitchFamily="34" charset="0"/>
                <a:ea typeface="Arial" pitchFamily="34" charset="-122"/>
                <a:cs typeface="Arial" pitchFamily="34" charset="-120"/>
              </a:rPr>
              <a:t>Load path → solve IK → command motors → read encoders → correct error → next waypoint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Conclusions</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Design summary and future scope</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7680960" y="6519672"/>
            <a:ext cx="1645920" cy="14630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[1]</a:t>
            </a:r>
            <a:endParaRPr lang="en-US" sz="1020" dirty="0"/>
          </a:p>
        </p:txBody>
      </p:sp>
      <p:sp>
        <p:nvSpPr>
          <p:cNvPr id="7" name="Text 5">
            <a:hlinkClick r:id="rId2"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8" name="Text 6"/>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10 / 11</a:t>
            </a:r>
            <a:endParaRPr lang="en-US" sz="1020" dirty="0"/>
          </a:p>
        </p:txBody>
      </p:sp>
      <p:sp>
        <p:nvSpPr>
          <p:cNvPr id="9" name="Text 7"/>
          <p:cNvSpPr/>
          <p:nvPr/>
        </p:nvSpPr>
        <p:spPr>
          <a:xfrm>
            <a:off x="960120" y="1847088"/>
            <a:ext cx="4974336" cy="283464"/>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Design summary</a:t>
            </a:r>
            <a:endParaRPr lang="en-US" sz="2200" dirty="0"/>
          </a:p>
        </p:txBody>
      </p:sp>
      <p:sp>
        <p:nvSpPr>
          <p:cNvPr id="10" name="Text 8"/>
          <p:cNvSpPr/>
          <p:nvPr/>
        </p:nvSpPr>
        <p:spPr>
          <a:xfrm>
            <a:off x="969264" y="2386584"/>
            <a:ext cx="146304" cy="228600"/>
          </a:xfrm>
          <a:prstGeom prst="rect">
            <a:avLst/>
          </a:prstGeom>
          <a:noFill/>
          <a:ln/>
        </p:spPr>
        <p:txBody>
          <a:bodyPr wrap="square" lIns="0" tIns="0" rIns="0" bIns="0" rtlCol="0" anchor="ctr"/>
          <a:lstStyle/>
          <a:p>
            <a:pPr indent="0" marL="0">
              <a:buNone/>
            </a:pPr>
            <a:r>
              <a:rPr lang="en-US" sz="1930" dirty="0">
                <a:solidFill>
                  <a:srgbClr val="000000"/>
                </a:solidFill>
                <a:latin typeface="Arial" pitchFamily="34" charset="0"/>
                <a:ea typeface="Arial" pitchFamily="34" charset="-122"/>
                <a:cs typeface="Arial" pitchFamily="34" charset="-120"/>
              </a:rPr>
              <a:t>•</a:t>
            </a:r>
            <a:endParaRPr lang="en-US" sz="1930" dirty="0"/>
          </a:p>
        </p:txBody>
      </p:sp>
      <p:sp>
        <p:nvSpPr>
          <p:cNvPr id="11" name="Text 9"/>
          <p:cNvSpPr/>
          <p:nvPr/>
        </p:nvSpPr>
        <p:spPr>
          <a:xfrm>
            <a:off x="1216152" y="2368296"/>
            <a:ext cx="4754880" cy="768096"/>
          </a:xfrm>
          <a:prstGeom prst="rect">
            <a:avLst/>
          </a:prstGeom>
          <a:noFill/>
          <a:ln/>
        </p:spPr>
        <p:txBody>
          <a:bodyPr wrap="square" lIns="0" tIns="0" rIns="0" bIns="0" rtlCol="0" anchor="t"/>
          <a:lstStyle/>
          <a:p>
            <a:pPr indent="0" marL="0">
              <a:buNone/>
            </a:pPr>
            <a:r>
              <a:rPr lang="en-US" sz="1930" dirty="0">
                <a:solidFill>
                  <a:srgbClr val="202020"/>
                </a:solidFill>
                <a:latin typeface="Arial" pitchFamily="34" charset="0"/>
                <a:ea typeface="Arial" pitchFamily="34" charset="-122"/>
                <a:cs typeface="Arial" pitchFamily="34" charset="-120"/>
              </a:rPr>
              <a:t>Link lengths and joint angles determine the end-effector position.</a:t>
            </a:r>
            <a:endParaRPr lang="en-US" sz="1930" dirty="0"/>
          </a:p>
        </p:txBody>
      </p:sp>
      <p:sp>
        <p:nvSpPr>
          <p:cNvPr id="12" name="Text 10"/>
          <p:cNvSpPr/>
          <p:nvPr/>
        </p:nvSpPr>
        <p:spPr>
          <a:xfrm>
            <a:off x="969264" y="3369564"/>
            <a:ext cx="146304" cy="228600"/>
          </a:xfrm>
          <a:prstGeom prst="rect">
            <a:avLst/>
          </a:prstGeom>
          <a:noFill/>
          <a:ln/>
        </p:spPr>
        <p:txBody>
          <a:bodyPr wrap="square" lIns="0" tIns="0" rIns="0" bIns="0" rtlCol="0" anchor="ctr"/>
          <a:lstStyle/>
          <a:p>
            <a:pPr indent="0" marL="0">
              <a:buNone/>
            </a:pPr>
            <a:r>
              <a:rPr lang="en-US" sz="1930" dirty="0">
                <a:solidFill>
                  <a:srgbClr val="000000"/>
                </a:solidFill>
                <a:latin typeface="Arial" pitchFamily="34" charset="0"/>
                <a:ea typeface="Arial" pitchFamily="34" charset="-122"/>
                <a:cs typeface="Arial" pitchFamily="34" charset="-120"/>
              </a:rPr>
              <a:t>•</a:t>
            </a:r>
            <a:endParaRPr lang="en-US" sz="1930" dirty="0"/>
          </a:p>
        </p:txBody>
      </p:sp>
      <p:sp>
        <p:nvSpPr>
          <p:cNvPr id="13" name="Text 11"/>
          <p:cNvSpPr/>
          <p:nvPr/>
        </p:nvSpPr>
        <p:spPr>
          <a:xfrm>
            <a:off x="1216152" y="3351276"/>
            <a:ext cx="4754880" cy="768096"/>
          </a:xfrm>
          <a:prstGeom prst="rect">
            <a:avLst/>
          </a:prstGeom>
          <a:noFill/>
          <a:ln/>
        </p:spPr>
        <p:txBody>
          <a:bodyPr wrap="square" lIns="0" tIns="0" rIns="0" bIns="0" rtlCol="0" anchor="t"/>
          <a:lstStyle/>
          <a:p>
            <a:pPr indent="0" marL="0">
              <a:buNone/>
            </a:pPr>
            <a:r>
              <a:rPr lang="en-US" sz="1930" dirty="0">
                <a:solidFill>
                  <a:srgbClr val="202020"/>
                </a:solidFill>
                <a:latin typeface="Arial" pitchFamily="34" charset="0"/>
                <a:ea typeface="Arial" pitchFamily="34" charset="-122"/>
                <a:cs typeface="Arial" pitchFamily="34" charset="-120"/>
              </a:rPr>
              <a:t>Independent steppers and inverse kinematics produce the commanded joint motion.</a:t>
            </a:r>
            <a:endParaRPr lang="en-US" sz="1930" dirty="0"/>
          </a:p>
        </p:txBody>
      </p:sp>
      <p:sp>
        <p:nvSpPr>
          <p:cNvPr id="14" name="Text 12"/>
          <p:cNvSpPr/>
          <p:nvPr/>
        </p:nvSpPr>
        <p:spPr>
          <a:xfrm>
            <a:off x="969264" y="4352544"/>
            <a:ext cx="146304" cy="228600"/>
          </a:xfrm>
          <a:prstGeom prst="rect">
            <a:avLst/>
          </a:prstGeom>
          <a:noFill/>
          <a:ln/>
        </p:spPr>
        <p:txBody>
          <a:bodyPr wrap="square" lIns="0" tIns="0" rIns="0" bIns="0" rtlCol="0" anchor="ctr"/>
          <a:lstStyle/>
          <a:p>
            <a:pPr indent="0" marL="0">
              <a:buNone/>
            </a:pPr>
            <a:r>
              <a:rPr lang="en-US" sz="1930" dirty="0">
                <a:solidFill>
                  <a:srgbClr val="000000"/>
                </a:solidFill>
                <a:latin typeface="Arial" pitchFamily="34" charset="0"/>
                <a:ea typeface="Arial" pitchFamily="34" charset="-122"/>
                <a:cs typeface="Arial" pitchFamily="34" charset="-120"/>
              </a:rPr>
              <a:t>•</a:t>
            </a:r>
            <a:endParaRPr lang="en-US" sz="1930" dirty="0"/>
          </a:p>
        </p:txBody>
      </p:sp>
      <p:sp>
        <p:nvSpPr>
          <p:cNvPr id="15" name="Text 13"/>
          <p:cNvSpPr/>
          <p:nvPr/>
        </p:nvSpPr>
        <p:spPr>
          <a:xfrm>
            <a:off x="1216152" y="4334256"/>
            <a:ext cx="4754880" cy="768096"/>
          </a:xfrm>
          <a:prstGeom prst="rect">
            <a:avLst/>
          </a:prstGeom>
          <a:noFill/>
          <a:ln/>
        </p:spPr>
        <p:txBody>
          <a:bodyPr wrap="square" lIns="0" tIns="0" rIns="0" bIns="0" rtlCol="0" anchor="t"/>
          <a:lstStyle/>
          <a:p>
            <a:pPr indent="0" marL="0">
              <a:buNone/>
            </a:pPr>
            <a:r>
              <a:rPr lang="en-US" sz="1930" dirty="0">
                <a:solidFill>
                  <a:srgbClr val="202020"/>
                </a:solidFill>
                <a:latin typeface="Arial" pitchFamily="34" charset="0"/>
                <a:ea typeface="Arial" pitchFamily="34" charset="-122"/>
                <a:cs typeface="Arial" pitchFamily="34" charset="-120"/>
              </a:rPr>
              <a:t>Encoder feedback is intended to correct step loss and drift during path tracking.</a:t>
            </a:r>
            <a:endParaRPr lang="en-US" sz="1930" dirty="0"/>
          </a:p>
        </p:txBody>
      </p:sp>
      <p:sp>
        <p:nvSpPr>
          <p:cNvPr id="16" name="Text 14"/>
          <p:cNvSpPr/>
          <p:nvPr/>
        </p:nvSpPr>
        <p:spPr>
          <a:xfrm>
            <a:off x="6601968" y="1847088"/>
            <a:ext cx="4608576" cy="283464"/>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Future scope</a:t>
            </a:r>
            <a:endParaRPr lang="en-US" sz="2200" dirty="0"/>
          </a:p>
        </p:txBody>
      </p:sp>
      <p:sp>
        <p:nvSpPr>
          <p:cNvPr id="17" name="Text 15"/>
          <p:cNvSpPr/>
          <p:nvPr/>
        </p:nvSpPr>
        <p:spPr>
          <a:xfrm>
            <a:off x="6611112" y="2386584"/>
            <a:ext cx="146304" cy="228600"/>
          </a:xfrm>
          <a:prstGeom prst="rect">
            <a:avLst/>
          </a:prstGeom>
          <a:noFill/>
          <a:ln/>
        </p:spPr>
        <p:txBody>
          <a:bodyPr wrap="square" lIns="0" tIns="0" rIns="0" bIns="0" rtlCol="0" anchor="ctr"/>
          <a:lstStyle/>
          <a:p>
            <a:pPr indent="0" marL="0">
              <a:buNone/>
            </a:pPr>
            <a:r>
              <a:rPr lang="en-US" sz="1740" dirty="0">
                <a:solidFill>
                  <a:srgbClr val="000000"/>
                </a:solidFill>
                <a:latin typeface="Arial" pitchFamily="34" charset="0"/>
                <a:ea typeface="Arial" pitchFamily="34" charset="-122"/>
                <a:cs typeface="Arial" pitchFamily="34" charset="-120"/>
              </a:rPr>
              <a:t>•</a:t>
            </a:r>
            <a:endParaRPr lang="en-US" sz="1740" dirty="0"/>
          </a:p>
        </p:txBody>
      </p:sp>
      <p:sp>
        <p:nvSpPr>
          <p:cNvPr id="18" name="Text 16"/>
          <p:cNvSpPr/>
          <p:nvPr/>
        </p:nvSpPr>
        <p:spPr>
          <a:xfrm>
            <a:off x="6858000" y="2368296"/>
            <a:ext cx="4352544" cy="512064"/>
          </a:xfrm>
          <a:prstGeom prst="rect">
            <a:avLst/>
          </a:prstGeom>
          <a:noFill/>
          <a:ln/>
        </p:spPr>
        <p:txBody>
          <a:bodyPr wrap="square" lIns="0" tIns="0" rIns="0" bIns="0" rtlCol="0" anchor="t"/>
          <a:lstStyle/>
          <a:p>
            <a:pPr indent="0" marL="0">
              <a:buNone/>
            </a:pPr>
            <a:r>
              <a:rPr lang="en-US" sz="1740" dirty="0">
                <a:solidFill>
                  <a:srgbClr val="202020"/>
                </a:solidFill>
                <a:latin typeface="Arial" pitchFamily="34" charset="0"/>
                <a:ea typeface="Arial" pitchFamily="34" charset="-122"/>
                <a:cs typeface="Arial" pitchFamily="34" charset="-120"/>
              </a:rPr>
              <a:t>Add a third joint / gripper for full pick-and-place capability.</a:t>
            </a:r>
            <a:endParaRPr lang="en-US" sz="1740" dirty="0"/>
          </a:p>
        </p:txBody>
      </p:sp>
      <p:sp>
        <p:nvSpPr>
          <p:cNvPr id="19" name="Text 17"/>
          <p:cNvSpPr/>
          <p:nvPr/>
        </p:nvSpPr>
        <p:spPr>
          <a:xfrm>
            <a:off x="6611112" y="2967228"/>
            <a:ext cx="146304" cy="228600"/>
          </a:xfrm>
          <a:prstGeom prst="rect">
            <a:avLst/>
          </a:prstGeom>
          <a:noFill/>
          <a:ln/>
        </p:spPr>
        <p:txBody>
          <a:bodyPr wrap="square" lIns="0" tIns="0" rIns="0" bIns="0" rtlCol="0" anchor="ctr"/>
          <a:lstStyle/>
          <a:p>
            <a:pPr indent="0" marL="0">
              <a:buNone/>
            </a:pPr>
            <a:r>
              <a:rPr lang="en-US" sz="1740" dirty="0">
                <a:solidFill>
                  <a:srgbClr val="000000"/>
                </a:solidFill>
                <a:latin typeface="Arial" pitchFamily="34" charset="0"/>
                <a:ea typeface="Arial" pitchFamily="34" charset="-122"/>
                <a:cs typeface="Arial" pitchFamily="34" charset="-120"/>
              </a:rPr>
              <a:t>•</a:t>
            </a:r>
            <a:endParaRPr lang="en-US" sz="1740" dirty="0"/>
          </a:p>
        </p:txBody>
      </p:sp>
      <p:sp>
        <p:nvSpPr>
          <p:cNvPr id="20" name="Text 18"/>
          <p:cNvSpPr/>
          <p:nvPr/>
        </p:nvSpPr>
        <p:spPr>
          <a:xfrm>
            <a:off x="6858000" y="2948940"/>
            <a:ext cx="4352544" cy="512064"/>
          </a:xfrm>
          <a:prstGeom prst="rect">
            <a:avLst/>
          </a:prstGeom>
          <a:noFill/>
          <a:ln/>
        </p:spPr>
        <p:txBody>
          <a:bodyPr wrap="square" lIns="0" tIns="0" rIns="0" bIns="0" rtlCol="0" anchor="t"/>
          <a:lstStyle/>
          <a:p>
            <a:pPr indent="0" marL="0">
              <a:buNone/>
            </a:pPr>
            <a:r>
              <a:rPr lang="en-US" sz="1740" dirty="0">
                <a:solidFill>
                  <a:srgbClr val="202020"/>
                </a:solidFill>
                <a:latin typeface="Arial" pitchFamily="34" charset="0"/>
                <a:ea typeface="Arial" pitchFamily="34" charset="-122"/>
                <a:cs typeface="Arial" pitchFamily="34" charset="-120"/>
              </a:rPr>
              <a:t>Introduce PID tuning for faster, smoother feedback correction.</a:t>
            </a:r>
            <a:endParaRPr lang="en-US" sz="1740" dirty="0"/>
          </a:p>
        </p:txBody>
      </p:sp>
      <p:sp>
        <p:nvSpPr>
          <p:cNvPr id="21" name="Text 19"/>
          <p:cNvSpPr/>
          <p:nvPr/>
        </p:nvSpPr>
        <p:spPr>
          <a:xfrm>
            <a:off x="6611112" y="3547872"/>
            <a:ext cx="146304" cy="228600"/>
          </a:xfrm>
          <a:prstGeom prst="rect">
            <a:avLst/>
          </a:prstGeom>
          <a:noFill/>
          <a:ln/>
        </p:spPr>
        <p:txBody>
          <a:bodyPr wrap="square" lIns="0" tIns="0" rIns="0" bIns="0" rtlCol="0" anchor="ctr"/>
          <a:lstStyle/>
          <a:p>
            <a:pPr indent="0" marL="0">
              <a:buNone/>
            </a:pPr>
            <a:r>
              <a:rPr lang="en-US" sz="1740" dirty="0">
                <a:solidFill>
                  <a:srgbClr val="000000"/>
                </a:solidFill>
                <a:latin typeface="Arial" pitchFamily="34" charset="0"/>
                <a:ea typeface="Arial" pitchFamily="34" charset="-122"/>
                <a:cs typeface="Arial" pitchFamily="34" charset="-120"/>
              </a:rPr>
              <a:t>•</a:t>
            </a:r>
            <a:endParaRPr lang="en-US" sz="1740" dirty="0"/>
          </a:p>
        </p:txBody>
      </p:sp>
      <p:sp>
        <p:nvSpPr>
          <p:cNvPr id="22" name="Text 20"/>
          <p:cNvSpPr/>
          <p:nvPr/>
        </p:nvSpPr>
        <p:spPr>
          <a:xfrm>
            <a:off x="6858000" y="3529584"/>
            <a:ext cx="4352544" cy="512064"/>
          </a:xfrm>
          <a:prstGeom prst="rect">
            <a:avLst/>
          </a:prstGeom>
          <a:noFill/>
          <a:ln/>
        </p:spPr>
        <p:txBody>
          <a:bodyPr wrap="square" lIns="0" tIns="0" rIns="0" bIns="0" rtlCol="0" anchor="t"/>
          <a:lstStyle/>
          <a:p>
            <a:pPr indent="0" marL="0">
              <a:buNone/>
            </a:pPr>
            <a:r>
              <a:rPr lang="en-US" sz="1740" dirty="0">
                <a:solidFill>
                  <a:srgbClr val="202020"/>
                </a:solidFill>
                <a:latin typeface="Arial" pitchFamily="34" charset="0"/>
                <a:ea typeface="Arial" pitchFamily="34" charset="-122"/>
                <a:cs typeface="Arial" pitchFamily="34" charset="-120"/>
              </a:rPr>
              <a:t>Add vision-based feedback for position verification.</a:t>
            </a:r>
            <a:endParaRPr lang="en-US" sz="1740" dirty="0"/>
          </a:p>
        </p:txBody>
      </p:sp>
      <p:sp>
        <p:nvSpPr>
          <p:cNvPr id="23" name="Text 21"/>
          <p:cNvSpPr/>
          <p:nvPr/>
        </p:nvSpPr>
        <p:spPr>
          <a:xfrm>
            <a:off x="6611112" y="4128516"/>
            <a:ext cx="146304" cy="228600"/>
          </a:xfrm>
          <a:prstGeom prst="rect">
            <a:avLst/>
          </a:prstGeom>
          <a:noFill/>
          <a:ln/>
        </p:spPr>
        <p:txBody>
          <a:bodyPr wrap="square" lIns="0" tIns="0" rIns="0" bIns="0" rtlCol="0" anchor="ctr"/>
          <a:lstStyle/>
          <a:p>
            <a:pPr indent="0" marL="0">
              <a:buNone/>
            </a:pPr>
            <a:r>
              <a:rPr lang="en-US" sz="1740" dirty="0">
                <a:solidFill>
                  <a:srgbClr val="000000"/>
                </a:solidFill>
                <a:latin typeface="Arial" pitchFamily="34" charset="0"/>
                <a:ea typeface="Arial" pitchFamily="34" charset="-122"/>
                <a:cs typeface="Arial" pitchFamily="34" charset="-120"/>
              </a:rPr>
              <a:t>•</a:t>
            </a:r>
            <a:endParaRPr lang="en-US" sz="1740" dirty="0"/>
          </a:p>
        </p:txBody>
      </p:sp>
      <p:sp>
        <p:nvSpPr>
          <p:cNvPr id="24" name="Text 22"/>
          <p:cNvSpPr/>
          <p:nvPr/>
        </p:nvSpPr>
        <p:spPr>
          <a:xfrm>
            <a:off x="6858000" y="4110228"/>
            <a:ext cx="4352544" cy="512064"/>
          </a:xfrm>
          <a:prstGeom prst="rect">
            <a:avLst/>
          </a:prstGeom>
          <a:noFill/>
          <a:ln/>
        </p:spPr>
        <p:txBody>
          <a:bodyPr wrap="square" lIns="0" tIns="0" rIns="0" bIns="0" rtlCol="0" anchor="t"/>
          <a:lstStyle/>
          <a:p>
            <a:pPr indent="0" marL="0">
              <a:buNone/>
            </a:pPr>
            <a:r>
              <a:rPr lang="en-US" sz="1740" dirty="0">
                <a:solidFill>
                  <a:srgbClr val="202020"/>
                </a:solidFill>
                <a:latin typeface="Arial" pitchFamily="34" charset="0"/>
                <a:ea typeface="Arial" pitchFamily="34" charset="-122"/>
                <a:cs typeface="Arial" pitchFamily="34" charset="-120"/>
              </a:rPr>
              <a:t>Enable Bluetooth / Wi-Fi trajectory upload and control.</a:t>
            </a:r>
            <a:endParaRPr lang="en-US" sz="1740" dirty="0"/>
          </a:p>
        </p:txBody>
      </p:sp>
      <p:sp>
        <p:nvSpPr>
          <p:cNvPr id="25" name="Text 23"/>
          <p:cNvSpPr/>
          <p:nvPr/>
        </p:nvSpPr>
        <p:spPr>
          <a:xfrm>
            <a:off x="6611112" y="4709160"/>
            <a:ext cx="146304" cy="228600"/>
          </a:xfrm>
          <a:prstGeom prst="rect">
            <a:avLst/>
          </a:prstGeom>
          <a:noFill/>
          <a:ln/>
        </p:spPr>
        <p:txBody>
          <a:bodyPr wrap="square" lIns="0" tIns="0" rIns="0" bIns="0" rtlCol="0" anchor="ctr"/>
          <a:lstStyle/>
          <a:p>
            <a:pPr indent="0" marL="0">
              <a:buNone/>
            </a:pPr>
            <a:r>
              <a:rPr lang="en-US" sz="1740" dirty="0">
                <a:solidFill>
                  <a:srgbClr val="000000"/>
                </a:solidFill>
                <a:latin typeface="Arial" pitchFamily="34" charset="0"/>
                <a:ea typeface="Arial" pitchFamily="34" charset="-122"/>
                <a:cs typeface="Arial" pitchFamily="34" charset="-120"/>
              </a:rPr>
              <a:t>•</a:t>
            </a:r>
            <a:endParaRPr lang="en-US" sz="1740" dirty="0"/>
          </a:p>
        </p:txBody>
      </p:sp>
      <p:sp>
        <p:nvSpPr>
          <p:cNvPr id="26" name="Text 24"/>
          <p:cNvSpPr/>
          <p:nvPr/>
        </p:nvSpPr>
        <p:spPr>
          <a:xfrm>
            <a:off x="6858000" y="4690872"/>
            <a:ext cx="4352544" cy="512064"/>
          </a:xfrm>
          <a:prstGeom prst="rect">
            <a:avLst/>
          </a:prstGeom>
          <a:noFill/>
          <a:ln/>
        </p:spPr>
        <p:txBody>
          <a:bodyPr wrap="square" lIns="0" tIns="0" rIns="0" bIns="0" rtlCol="0" anchor="t"/>
          <a:lstStyle/>
          <a:p>
            <a:pPr indent="0" marL="0">
              <a:buNone/>
            </a:pPr>
            <a:r>
              <a:rPr lang="en-US" sz="1740" dirty="0">
                <a:solidFill>
                  <a:srgbClr val="202020"/>
                </a:solidFill>
                <a:latin typeface="Arial" pitchFamily="34" charset="0"/>
                <a:ea typeface="Arial" pitchFamily="34" charset="-122"/>
                <a:cs typeface="Arial" pitchFamily="34" charset="-120"/>
              </a:rPr>
              <a:t>Optimise link lengths and motor sizing for higher payload capacity.</a:t>
            </a:r>
            <a:endParaRPr lang="en-US" sz="1740" dirty="0"/>
          </a:p>
        </p:txBody>
      </p:sp>
      <p:sp>
        <p:nvSpPr>
          <p:cNvPr id="27" name="Shape 25"/>
          <p:cNvSpPr/>
          <p:nvPr/>
        </p:nvSpPr>
        <p:spPr>
          <a:xfrm>
            <a:off x="960120" y="5541264"/>
            <a:ext cx="10259568" cy="704088"/>
          </a:xfrm>
          <a:prstGeom prst="rect">
            <a:avLst/>
          </a:prstGeom>
          <a:solidFill>
            <a:srgbClr val="F5F5F5"/>
          </a:solidFill>
          <a:ln w="8890">
            <a:solidFill>
              <a:srgbClr val="D4D4D4"/>
            </a:solidFill>
            <a:prstDash val="solid"/>
          </a:ln>
        </p:spPr>
      </p:sp>
      <p:sp>
        <p:nvSpPr>
          <p:cNvPr id="28" name="Text 26"/>
          <p:cNvSpPr/>
          <p:nvPr/>
        </p:nvSpPr>
        <p:spPr>
          <a:xfrm>
            <a:off x="1124712" y="5687568"/>
            <a:ext cx="1856232" cy="228600"/>
          </a:xfrm>
          <a:prstGeom prst="rect">
            <a:avLst/>
          </a:prstGeom>
          <a:noFill/>
          <a:ln/>
        </p:spPr>
        <p:txBody>
          <a:bodyPr wrap="square" lIns="0" tIns="0" rIns="0" bIns="0" rtlCol="0" anchor="ctr"/>
          <a:lstStyle/>
          <a:p>
            <a:pPr indent="0" marL="0">
              <a:buNone/>
            </a:pPr>
            <a:r>
              <a:rPr lang="en-US" sz="1750" b="1" dirty="0">
                <a:solidFill>
                  <a:srgbClr val="000000"/>
                </a:solidFill>
                <a:latin typeface="Arial" pitchFamily="34" charset="0"/>
                <a:ea typeface="Arial" pitchFamily="34" charset="-122"/>
                <a:cs typeface="Arial" pitchFamily="34" charset="-120"/>
              </a:rPr>
              <a:t>Validation status</a:t>
            </a:r>
            <a:endParaRPr lang="en-US" sz="1750" dirty="0"/>
          </a:p>
        </p:txBody>
      </p:sp>
      <p:sp>
        <p:nvSpPr>
          <p:cNvPr id="29" name="Text 27"/>
          <p:cNvSpPr/>
          <p:nvPr/>
        </p:nvSpPr>
        <p:spPr>
          <a:xfrm>
            <a:off x="3081528" y="5650992"/>
            <a:ext cx="7891272" cy="347472"/>
          </a:xfrm>
          <a:prstGeom prst="rect">
            <a:avLst/>
          </a:prstGeom>
          <a:noFill/>
          <a:ln/>
        </p:spPr>
        <p:txBody>
          <a:bodyPr wrap="square" lIns="0" tIns="0" rIns="0" bIns="0" rtlCol="0" anchor="ctr"/>
          <a:lstStyle/>
          <a:p>
            <a:pPr indent="0" marL="0">
              <a:buNone/>
            </a:pPr>
            <a:r>
              <a:rPr lang="en-US" sz="1730" dirty="0">
                <a:solidFill>
                  <a:srgbClr val="202020"/>
                </a:solidFill>
                <a:latin typeface="Arial" pitchFamily="34" charset="0"/>
                <a:ea typeface="Arial" pitchFamily="34" charset="-122"/>
                <a:cs typeface="Arial" pitchFamily="34" charset="-120"/>
              </a:rPr>
              <a:t>Measured tracking-error and repeatability results are not reported in the supplied source.</a:t>
            </a:r>
            <a:endParaRPr lang="en-US" sz="17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972" y="781812"/>
            <a:ext cx="10460228" cy="457200"/>
          </a:xfrm>
          <a:prstGeom prst="rect">
            <a:avLst/>
          </a:prstGeom>
          <a:noFill/>
          <a:ln/>
        </p:spPr>
        <p:txBody>
          <a:bodyPr wrap="square" lIns="0" tIns="0" rIns="0" bIns="0" rtlCol="0" anchor="ctr"/>
          <a:lstStyle/>
          <a:p>
            <a:pPr indent="0" marL="0">
              <a:buNone/>
            </a:pPr>
            <a:r>
              <a:rPr lang="en-US" sz="2800" dirty="0">
                <a:solidFill>
                  <a:srgbClr val="000000"/>
                </a:solidFill>
                <a:latin typeface="Noto Serif" pitchFamily="34" charset="0"/>
                <a:ea typeface="Noto Serif" pitchFamily="34" charset="-122"/>
                <a:cs typeface="Noto Serif" pitchFamily="34" charset="-120"/>
              </a:rPr>
              <a:t>References</a:t>
            </a:r>
            <a:endParaRPr lang="en-US" sz="2800" dirty="0"/>
          </a:p>
        </p:txBody>
      </p:sp>
      <p:sp>
        <p:nvSpPr>
          <p:cNvPr id="3" name="Text 1"/>
          <p:cNvSpPr/>
          <p:nvPr/>
        </p:nvSpPr>
        <p:spPr>
          <a:xfrm>
            <a:off x="937260" y="1303020"/>
            <a:ext cx="10460228" cy="301752"/>
          </a:xfrm>
          <a:prstGeom prst="rect">
            <a:avLst/>
          </a:prstGeom>
          <a:noFill/>
          <a:ln/>
        </p:spPr>
        <p:txBody>
          <a:bodyPr wrap="square" lIns="0" tIns="0" rIns="0" bIns="0" rtlCol="0" anchor="ctr"/>
          <a:lstStyle/>
          <a:p>
            <a:pPr indent="0" marL="0">
              <a:buNone/>
            </a:pPr>
            <a:r>
              <a:rPr lang="en-US" sz="1750" dirty="0">
                <a:solidFill>
                  <a:srgbClr val="646464"/>
                </a:solidFill>
                <a:latin typeface="Arial" pitchFamily="34" charset="0"/>
                <a:ea typeface="Arial" pitchFamily="34" charset="-122"/>
                <a:cs typeface="Arial" pitchFamily="34" charset="-120"/>
              </a:rPr>
              <a:t>Numbered references to the supplied materials</a:t>
            </a:r>
            <a:endParaRPr lang="en-US" sz="1750" dirty="0"/>
          </a:p>
        </p:txBody>
      </p:sp>
      <p:sp>
        <p:nvSpPr>
          <p:cNvPr id="4" name="Shape 2"/>
          <p:cNvSpPr/>
          <p:nvPr/>
        </p:nvSpPr>
        <p:spPr>
          <a:xfrm>
            <a:off x="918972" y="6428232"/>
            <a:ext cx="10537952" cy="0"/>
          </a:xfrm>
          <a:prstGeom prst="line">
            <a:avLst/>
          </a:prstGeom>
          <a:noFill/>
          <a:ln w="7620">
            <a:solidFill>
              <a:srgbClr val="D8D8D8"/>
            </a:solidFill>
            <a:prstDash val="solid"/>
          </a:ln>
        </p:spPr>
      </p:sp>
      <p:sp>
        <p:nvSpPr>
          <p:cNvPr id="5" name="Text 3"/>
          <p:cNvSpPr/>
          <p:nvPr/>
        </p:nvSpPr>
        <p:spPr>
          <a:xfrm>
            <a:off x="918972" y="6519672"/>
            <a:ext cx="6858000" cy="146304"/>
          </a:xfrm>
          <a:prstGeom prst="rect">
            <a:avLst/>
          </a:prstGeom>
          <a:noFill/>
          <a:ln/>
        </p:spPr>
        <p:txBody>
          <a:bodyPr wrap="square" lIns="0" tIns="0" rIns="0" bIns="0" rtlCol="0" anchor="ctr"/>
          <a:lstStyle/>
          <a:p>
            <a:pPr indent="0" marL="0">
              <a:buNone/>
            </a:pPr>
            <a:r>
              <a:rPr lang="en-US" sz="1020" dirty="0">
                <a:solidFill>
                  <a:srgbClr val="646464"/>
                </a:solidFill>
                <a:latin typeface="Arial" pitchFamily="34" charset="0"/>
                <a:ea typeface="Arial" pitchFamily="34" charset="-122"/>
                <a:cs typeface="Arial" pitchFamily="34" charset="-120"/>
              </a:rPr>
              <a:t>2-DOF Planar Robotic Arm  |  Minor Project</a:t>
            </a:r>
            <a:endParaRPr lang="en-US" sz="1020" dirty="0"/>
          </a:p>
        </p:txBody>
      </p:sp>
      <p:sp>
        <p:nvSpPr>
          <p:cNvPr id="6" name="Text 4">
            <a:hlinkClick r:id="rId1" tooltip="" action="ppaction://hlinksldjump"/>
          </p:cNvPr>
          <p:cNvSpPr/>
          <p:nvPr/>
        </p:nvSpPr>
        <p:spPr>
          <a:xfrm>
            <a:off x="9646920" y="6501384"/>
            <a:ext cx="941832" cy="192024"/>
          </a:xfrm>
          <a:prstGeom prst="rect">
            <a:avLst/>
          </a:prstGeom>
          <a:noFill/>
          <a:ln/>
        </p:spPr>
        <p:txBody>
          <a:bodyPr wrap="square" lIns="0" tIns="0" rIns="0" bIns="0" rtlCol="0" anchor="ctr"/>
          <a:lstStyle/>
          <a:p>
            <a:pPr algn="r" indent="0" marL="0">
              <a:buNone/>
            </a:pPr>
            <a:r>
              <a:rPr lang="en-US" sz="1020" u="sng" dirty="0">
                <a:solidFill>
                  <a:srgbClr val="646464"/>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Contents</a:t>
            </a:r>
            <a:endParaRPr lang="en-US" sz="1020" dirty="0"/>
          </a:p>
        </p:txBody>
      </p:sp>
      <p:sp>
        <p:nvSpPr>
          <p:cNvPr id="7" name="Text 5"/>
          <p:cNvSpPr/>
          <p:nvPr/>
        </p:nvSpPr>
        <p:spPr>
          <a:xfrm>
            <a:off x="10917428" y="6501384"/>
            <a:ext cx="548640" cy="192024"/>
          </a:xfrm>
          <a:prstGeom prst="rect">
            <a:avLst/>
          </a:prstGeom>
          <a:noFill/>
          <a:ln/>
        </p:spPr>
        <p:txBody>
          <a:bodyPr wrap="square" lIns="0" tIns="0" rIns="0" bIns="0" rtlCol="0" anchor="ctr"/>
          <a:lstStyle/>
          <a:p>
            <a:pPr algn="r" indent="0" marL="0">
              <a:buNone/>
            </a:pPr>
            <a:r>
              <a:rPr lang="en-US" sz="1020" dirty="0">
                <a:solidFill>
                  <a:srgbClr val="646464"/>
                </a:solidFill>
                <a:latin typeface="Arial" pitchFamily="34" charset="0"/>
                <a:ea typeface="Arial" pitchFamily="34" charset="-122"/>
                <a:cs typeface="Arial" pitchFamily="34" charset="-120"/>
              </a:rPr>
              <a:t>11 / 11</a:t>
            </a:r>
            <a:endParaRPr lang="en-US" sz="1020" dirty="0"/>
          </a:p>
        </p:txBody>
      </p:sp>
      <p:sp>
        <p:nvSpPr>
          <p:cNvPr id="8" name="Text 6"/>
          <p:cNvSpPr/>
          <p:nvPr/>
        </p:nvSpPr>
        <p:spPr>
          <a:xfrm>
            <a:off x="960120" y="1883664"/>
            <a:ext cx="457200" cy="310896"/>
          </a:xfrm>
          <a:prstGeom prst="rect">
            <a:avLst/>
          </a:prstGeom>
          <a:noFill/>
          <a:ln/>
        </p:spPr>
        <p:txBody>
          <a:bodyPr wrap="square" lIns="0" tIns="0" rIns="0" bIns="0" rtlCol="0" anchor="ctr"/>
          <a:lstStyle/>
          <a:p>
            <a:pPr indent="0" marL="0">
              <a:buNone/>
            </a:pPr>
            <a:r>
              <a:rPr lang="en-US" sz="2100" b="1" dirty="0">
                <a:solidFill>
                  <a:srgbClr val="000000"/>
                </a:solidFill>
                <a:latin typeface="Arial" pitchFamily="34" charset="0"/>
                <a:ea typeface="Arial" pitchFamily="34" charset="-122"/>
                <a:cs typeface="Arial" pitchFamily="34" charset="-120"/>
              </a:rPr>
              <a:t>[1]</a:t>
            </a:r>
            <a:endParaRPr lang="en-US" sz="2100" dirty="0"/>
          </a:p>
        </p:txBody>
      </p:sp>
      <p:sp>
        <p:nvSpPr>
          <p:cNvPr id="9" name="Text 7"/>
          <p:cNvSpPr/>
          <p:nvPr/>
        </p:nvSpPr>
        <p:spPr>
          <a:xfrm>
            <a:off x="1581912" y="1856232"/>
            <a:ext cx="9637776" cy="1024128"/>
          </a:xfrm>
          <a:prstGeom prst="rect">
            <a:avLst/>
          </a:prstGeom>
          <a:noFill/>
          <a:ln/>
        </p:spPr>
        <p:txBody>
          <a:bodyPr wrap="square" lIns="0" tIns="0" rIns="0" bIns="0" rtlCol="0" anchor="t"/>
          <a:lstStyle/>
          <a:p>
            <a:pPr indent="0" marL="0">
              <a:buNone/>
            </a:pPr>
            <a:r>
              <a:rPr lang="en-US" sz="2000" dirty="0">
                <a:solidFill>
                  <a:srgbClr val="000000"/>
                </a:solidFill>
                <a:latin typeface="Arial" pitchFamily="34" charset="0"/>
                <a:ea typeface="Arial" pitchFamily="34" charset="-122"/>
                <a:cs typeface="Arial" pitchFamily="34" charset="-120"/>
              </a:rPr>
              <a:t>“2-DOF Planar Robotic Arm: Trajectory-Controlled Motion using Dual Stepper Motors, Inverse Kinematics &amp; Encoder Feedback,” supplied project presentation, Robotic_Arm_Trajectory_Control.pptx, slides 1–17.</a:t>
            </a:r>
            <a:endParaRPr lang="en-US" sz="2000" dirty="0"/>
          </a:p>
        </p:txBody>
      </p:sp>
      <p:sp>
        <p:nvSpPr>
          <p:cNvPr id="10" name="Shape 8"/>
          <p:cNvSpPr/>
          <p:nvPr/>
        </p:nvSpPr>
        <p:spPr>
          <a:xfrm>
            <a:off x="960120" y="3127248"/>
            <a:ext cx="10259568" cy="0"/>
          </a:xfrm>
          <a:prstGeom prst="line">
            <a:avLst/>
          </a:prstGeom>
          <a:noFill/>
          <a:ln w="8890">
            <a:solidFill>
              <a:srgbClr val="D8D8D8"/>
            </a:solidFill>
            <a:prstDash val="solid"/>
          </a:ln>
        </p:spPr>
      </p:sp>
      <p:sp>
        <p:nvSpPr>
          <p:cNvPr id="11" name="Text 9"/>
          <p:cNvSpPr/>
          <p:nvPr/>
        </p:nvSpPr>
        <p:spPr>
          <a:xfrm>
            <a:off x="960120" y="3410712"/>
            <a:ext cx="457200" cy="310896"/>
          </a:xfrm>
          <a:prstGeom prst="rect">
            <a:avLst/>
          </a:prstGeom>
          <a:noFill/>
          <a:ln/>
        </p:spPr>
        <p:txBody>
          <a:bodyPr wrap="square" lIns="0" tIns="0" rIns="0" bIns="0" rtlCol="0" anchor="ctr"/>
          <a:lstStyle/>
          <a:p>
            <a:pPr indent="0" marL="0">
              <a:buNone/>
            </a:pPr>
            <a:r>
              <a:rPr lang="en-US" sz="2100" b="1" dirty="0">
                <a:solidFill>
                  <a:srgbClr val="000000"/>
                </a:solidFill>
                <a:latin typeface="Arial" pitchFamily="34" charset="0"/>
                <a:ea typeface="Arial" pitchFamily="34" charset="-122"/>
                <a:cs typeface="Arial" pitchFamily="34" charset="-120"/>
              </a:rPr>
              <a:t>[2]</a:t>
            </a:r>
            <a:endParaRPr lang="en-US" sz="2100" dirty="0"/>
          </a:p>
        </p:txBody>
      </p:sp>
      <p:sp>
        <p:nvSpPr>
          <p:cNvPr id="12" name="Text 10"/>
          <p:cNvSpPr/>
          <p:nvPr/>
        </p:nvSpPr>
        <p:spPr>
          <a:xfrm>
            <a:off x="1581912" y="3374136"/>
            <a:ext cx="9637776" cy="1097280"/>
          </a:xfrm>
          <a:prstGeom prst="rect">
            <a:avLst/>
          </a:prstGeom>
          <a:noFill/>
          <a:ln/>
        </p:spPr>
        <p:txBody>
          <a:bodyPr wrap="square" lIns="0" tIns="0" rIns="0" bIns="0" rtlCol="0" anchor="t"/>
          <a:lstStyle/>
          <a:p>
            <a:pPr indent="0" marL="0">
              <a:buNone/>
            </a:pPr>
            <a:r>
              <a:rPr lang="en-US" sz="2000" dirty="0">
                <a:solidFill>
                  <a:srgbClr val="000000"/>
                </a:solidFill>
                <a:latin typeface="Arial" pitchFamily="34" charset="0"/>
                <a:ea typeface="Arial" pitchFamily="34" charset="-122"/>
                <a:cs typeface="Arial" pitchFamily="34" charset="-120"/>
              </a:rPr>
              <a:t>Department of Mechanical Engineering, Dr B R Ambedkar National Institute of Technology Jalandhar, “Minor Project Presentation: Supervisor Evaluation,” supplied presentation template, Minor Project  Template.pptx.pdf, 11 slides.</a:t>
            </a:r>
            <a:endParaRPr lang="en-US" sz="2000" dirty="0"/>
          </a:p>
        </p:txBody>
      </p:sp>
      <p:sp>
        <p:nvSpPr>
          <p:cNvPr id="13" name="Shape 11"/>
          <p:cNvSpPr/>
          <p:nvPr/>
        </p:nvSpPr>
        <p:spPr>
          <a:xfrm>
            <a:off x="960120" y="4919472"/>
            <a:ext cx="10259568" cy="1307592"/>
          </a:xfrm>
          <a:prstGeom prst="rect">
            <a:avLst/>
          </a:prstGeom>
          <a:solidFill>
            <a:srgbClr val="F5F5F5"/>
          </a:solidFill>
          <a:ln w="8890">
            <a:solidFill>
              <a:srgbClr val="D4D4D4"/>
            </a:solidFill>
            <a:prstDash val="solid"/>
          </a:ln>
        </p:spPr>
      </p:sp>
      <p:sp>
        <p:nvSpPr>
          <p:cNvPr id="14" name="Text 12"/>
          <p:cNvSpPr/>
          <p:nvPr/>
        </p:nvSpPr>
        <p:spPr>
          <a:xfrm>
            <a:off x="1170432" y="5102352"/>
            <a:ext cx="9820656" cy="283464"/>
          </a:xfrm>
          <a:prstGeom prst="rect">
            <a:avLst/>
          </a:prstGeom>
          <a:noFill/>
          <a:ln/>
        </p:spPr>
        <p:txBody>
          <a:bodyPr wrap="square" lIns="0" tIns="0" rIns="0" bIns="0" rtlCol="0" anchor="ctr"/>
          <a:lstStyle/>
          <a:p>
            <a:pPr indent="0" marL="0">
              <a:buNone/>
            </a:pPr>
            <a:r>
              <a:rPr lang="en-US" sz="1960" b="1" dirty="0">
                <a:solidFill>
                  <a:srgbClr val="000000"/>
                </a:solidFill>
                <a:latin typeface="Arial" pitchFamily="34" charset="0"/>
                <a:ea typeface="Arial" pitchFamily="34" charset="-122"/>
                <a:cs typeface="Arial" pitchFamily="34" charset="-120"/>
              </a:rPr>
              <a:t>Literature Survey status</a:t>
            </a:r>
            <a:endParaRPr lang="en-US" sz="1960" dirty="0"/>
          </a:p>
        </p:txBody>
      </p:sp>
      <p:sp>
        <p:nvSpPr>
          <p:cNvPr id="15" name="Text 13"/>
          <p:cNvSpPr/>
          <p:nvPr/>
        </p:nvSpPr>
        <p:spPr>
          <a:xfrm>
            <a:off x="1170432" y="5486400"/>
            <a:ext cx="9811512" cy="594360"/>
          </a:xfrm>
          <a:prstGeom prst="rect">
            <a:avLst/>
          </a:prstGeom>
          <a:noFill/>
          <a:ln/>
        </p:spPr>
        <p:txBody>
          <a:bodyPr wrap="square" lIns="0" tIns="0" rIns="0" bIns="0" rtlCol="0" anchor="t"/>
          <a:lstStyle/>
          <a:p>
            <a:pPr indent="0" marL="0">
              <a:buNone/>
            </a:pPr>
            <a:r>
              <a:rPr lang="en-US" sz="1770" dirty="0">
                <a:solidFill>
                  <a:srgbClr val="202020"/>
                </a:solidFill>
                <a:latin typeface="Arial" pitchFamily="34" charset="0"/>
                <a:ea typeface="Arial" pitchFamily="34" charset="-122"/>
                <a:cs typeface="Arial" pitchFamily="34" charset="-120"/>
              </a:rPr>
              <a:t>No published-paper references were supplied. Slides 5–7 review only the source deck’s technical background; a formal literature survey still needs research references.</a:t>
            </a:r>
            <a:endParaRPr lang="en-US" sz="17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Dr B R Ambedkar National Institute of Technology Jalandhar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2-DOF Planar Robotic Arm — Trajectory Control</dc:title>
  <dc:subject>Minor Project Presentation — Supervisor Evaluation</dc:subject>
  <dc:creator>Amana Fathima S N</dc:creator>
  <cp:lastModifiedBy>Amana Fathima S N</cp:lastModifiedBy>
  <cp:revision>1</cp:revision>
  <dcterms:created xsi:type="dcterms:W3CDTF">2026-10-04T18:13:49Z</dcterms:created>
  <dcterms:modified xsi:type="dcterms:W3CDTF">2026-10-04T18:13:49Z</dcterms:modified>
</cp:coreProperties>
</file>