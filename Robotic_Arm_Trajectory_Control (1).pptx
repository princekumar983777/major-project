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931920"/>
            <a:ext cx="3657600" cy="3657600"/>
          </a:xfrm>
          <a:prstGeom prst="ellipse">
            <a:avLst/>
          </a:prstGeom>
          <a:solidFill>
            <a:srgbClr val="4FD8C4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ENGINEERING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548640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697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2-DOF Planar Robotic Arm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Trajectory-Controlled Motion using Dual Stepper Motors, Inverse Kinematics &amp; Encoder Feedback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Two-Link Arm  •  Two Revolute Joints (A, B)  •  Closed-Loop Path Tracking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640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" cy="54864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look at the design, kinematics, control architecture and implementation of the arm.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685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11247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Problem Statement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1709928"/>
            <a:ext cx="35661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1828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677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Concept — Links &amp; Joints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2852928"/>
            <a:ext cx="35661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0" y="2971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4107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Controllable Parameters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0" y="3995928"/>
            <a:ext cx="35661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0" y="4114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45537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Kinematics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0" y="5138928"/>
            <a:ext cx="35661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0" y="5257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56967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Analysis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685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11247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Planning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09560" y="1709928"/>
            <a:ext cx="35661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09560" y="1828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22677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Kinematics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09560" y="2852928"/>
            <a:ext cx="35661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09560" y="2971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34107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Control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909560" y="3995928"/>
            <a:ext cx="35661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09560" y="4114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45537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 &amp; Applications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09560" y="5138928"/>
            <a:ext cx="35661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2920" cy="45720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8288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2-link, 2-degree-of-freedom planar robotic arm whose end-effector can be commanded to follow a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trajectory of (x, y) coordinates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accuracy and repeatability.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3246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8211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full set of reachable (x, y) coordinates — the workspace — for a given pair of link lengths.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0050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4005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941064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Actuate each joint independently using a dedicated stepper motor for precise angular control.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76402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4764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0001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rotary encoders on each joint to close the control loop and correct for step loss / drift.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552297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5522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45896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desired Cartesian path into joint angles (inverse kinematics) and drive the arm smoothly along it.</a:t>
            </a:r>
            <a:endParaRPr lang="en-US" sz="1200" dirty="0"/>
          </a:p>
        </p:txBody>
      </p:sp>
      <p:pic>
        <p:nvPicPr>
          <p:cNvPr id="18" name="Image 0" descr="/home/claude/assets/arm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4892040" cy="34290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903720" y="5257800"/>
            <a:ext cx="4892040" cy="960120"/>
          </a:xfrm>
          <a:prstGeom prst="rect">
            <a:avLst>
              <a:gd name="adj" fmla="val 7619"/>
            </a:avLst>
          </a:prstGeom>
          <a:solidFill>
            <a:srgbClr val="21295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178040" y="53492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revolute joints, A (base) and B (elbow), each with its own stepper motor and encoder.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2-DOF Planar Robotic Arm  |  Trajectory Control System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DESIGN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Two-Link, Two-Joint Arm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2920" cy="45720"/>
          </a:xfrm>
          <a:prstGeom prst="rect">
            <a:avLst/>
          </a:prstGeom>
          <a:solidFill>
            <a:srgbClr val="FF8A5B"/>
          </a:solidFill>
          <a:ln/>
        </p:spPr>
      </p:sp>
      <p:pic>
        <p:nvPicPr>
          <p:cNvPr id="5" name="Image 0" descr="/home/claude/assets/arm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554480"/>
            <a:ext cx="694944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920240"/>
            <a:ext cx="109728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AB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945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about fixed joint A (motor 1 is the centre of rotation).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02920" y="2761488"/>
            <a:ext cx="109728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2761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BC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0358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about moving joint B (motor 2 is the centre of rotation).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02920" y="3602736"/>
            <a:ext cx="109728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36027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87705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base joint — sets the overall orientation of the arm, angle θ1.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502920" y="4443984"/>
            <a:ext cx="109728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4443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B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71830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joint — sets the relative bend of the second link, angle θ2.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502920" y="5285232"/>
            <a:ext cx="109728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5285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55595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End-effector; its Cartesian position (x, y) is what we ultimately control.</a:t>
            </a:r>
            <a:endParaRPr lang="en-US" sz="1080" dirty="0"/>
          </a:p>
        </p:txBody>
      </p:sp>
      <p:sp>
        <p:nvSpPr>
          <p:cNvPr id="21" name="Text 18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2-DOF Planar Robotic Arm  |  Trajectory Control System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CONTROL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Allowed &amp; Controllable Parameters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02920" cy="45720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allowed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945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194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— with A as the fixed centre of rotation.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06324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63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063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— with B as the (moving) centre of rotation.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independently control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461772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4617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→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6177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rotation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of rotation (θ1)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48640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54864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→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4864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rotation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of rotation (θ2)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1737360"/>
            <a:ext cx="5715000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1965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Movement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4231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coordinated combination of these four parameters — direction &amp; angle at A, direction &amp; angle at B — can shift the end-effector from one point to another: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291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 →  C′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977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repeating this for a sequence of target points, the same four controls trace out a continuous trajectory — this is the basis of path following used later in this project.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5120640"/>
            <a:ext cx="498348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52578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waypoint on a path is just another (θ1, θ2) combination reached through this same control mechanism.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2-DOF Planar Robotic Arm  |  Trajectory Control System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Kinematics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2920" cy="45720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7830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two joint angles θ1 and θ2 (and known link lengths L1, L2), the end-effector position (x, y) is fully determined: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880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L1 · cos(θ1)  +  L2 · cos(θ1 + θ2)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20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L1 · sin(θ1)  +  L2 · sin(θ1 + θ2)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4663440"/>
            <a:ext cx="82296" cy="82296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5445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L1, L2 — fixed lengths of links AB and BC.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02920" y="5120640"/>
            <a:ext cx="82296" cy="82296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5001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θ1 — angle of link AB relative to the base x-axis, set by Motor 1.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02920" y="5577840"/>
            <a:ext cx="82296" cy="82296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54589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θ2 — angle of link BC relative to link AB, set by Motor 2.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02920" y="6035040"/>
            <a:ext cx="82296" cy="82296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59161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equations let us predict exactly where C lands for any commanded pair (θ1, θ2).</a:t>
            </a:r>
            <a:endParaRPr lang="en-US" sz="1080" dirty="0"/>
          </a:p>
        </p:txBody>
      </p:sp>
      <p:pic>
        <p:nvPicPr>
          <p:cNvPr id="17" name="Image 0" descr="/home/claude/assets/arm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691640"/>
            <a:ext cx="5577840" cy="41148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2-DOF Planar Robotic Arm  |  Trajectory Control System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2920" cy="45720"/>
          </a:xfrm>
          <a:prstGeom prst="rect">
            <a:avLst/>
          </a:prstGeom>
          <a:solidFill>
            <a:srgbClr val="FF8A5B"/>
          </a:solidFill>
          <a:ln/>
        </p:spPr>
      </p:sp>
      <p:pic>
        <p:nvPicPr>
          <p:cNvPr id="5" name="Image 0" descr="/home/claude/assets/work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08760"/>
            <a:ext cx="5440680" cy="4892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80760" y="17830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all coordinates the end-effector can reach — the workspace — depends only on the two link lengths.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80760" y="2743200"/>
            <a:ext cx="56692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80760" y="2743200"/>
            <a:ext cx="91440" cy="10241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09360" y="2834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boundary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312724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max = L1 + L2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34198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when both links are fully extended in a straight line.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80760" y="3913632"/>
            <a:ext cx="56692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0760" y="3913632"/>
            <a:ext cx="91440" cy="10241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40050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boundary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4297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min = | L1 − L2 |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45902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when the second link folds back over the first.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80760" y="5084064"/>
            <a:ext cx="56692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80760" y="5084064"/>
            <a:ext cx="91440" cy="102412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309360" y="51755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region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54681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Annulus between R min and R max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5760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valid target coordinate for the planned trajectory must fall inside this region.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2-DOF Planar Robotic Arm  |  Trajectory Control System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PLANNING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Trajectory Planning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2920" cy="45720"/>
          </a:xfrm>
          <a:prstGeom prst="rect">
            <a:avLst/>
          </a:prstGeom>
          <a:solidFill>
            <a:srgbClr val="FF8A5B"/>
          </a:solidFill>
          <a:ln/>
        </p:spPr>
      </p:sp>
      <p:pic>
        <p:nvPicPr>
          <p:cNvPr id="5" name="Image 0" descr="/home/claude/assets/traj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737360"/>
            <a:ext cx="7132320" cy="4389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8288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trajectory is simply an ordered path of coordinates the end-effector must move through, in sequence: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7432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21295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2743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 =  { (x1,y1), (x2,y2), ... , (xn,yn) }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35661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3232" y="34564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continuous path is discretised into closely spaced waypoints.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502920" y="4078224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3232" y="396849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waypoint must lie inside the reachable workspace (previous slide).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502920" y="459028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13232" y="44805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solves inverse kinematics for every waypoint in turn.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502920" y="510235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13232" y="499262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 step from one waypoint's (θ1, θ2) to the next, tracing the path.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502920" y="5614416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3232" y="550468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Finer waypoint spacing → smoother, more accurate traced trajectory.</a:t>
            </a:r>
            <a:endParaRPr lang="en-US" sz="1060" dirty="0"/>
          </a:p>
        </p:txBody>
      </p:sp>
      <p:sp>
        <p:nvSpPr>
          <p:cNvPr id="19" name="Text 16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2-DOF Planar Robotic Arm  |  Trajectory Control System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 Kinematics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2920" cy="45720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783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follow a trajectory we need the reverse problem: given a target (x, y), find the joint angles (θ1, θ2) that place C there.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111556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63347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angle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63347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cos(θ2) = (x² + y² − L1² − L2²) / (2·L1·L2)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26334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θ2; two solutions exist — elbow-up and elbow-down.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111556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69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91363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angle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91363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θ1 = atan2(y, x) − atan2(L2·sinθ2, L1 + L2·cosθ2)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391363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θ1 follows once θ2 is fixed, pointing the first link toward the target.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02920" y="5074920"/>
            <a:ext cx="111556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349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1937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check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519379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min ≤ √(x² + y²) ≤ R max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519379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/ clamp any target that falls outside the workspace annulus.</a:t>
            </a:r>
            <a:endParaRPr lang="en-US" sz="98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2-DOF Planar Robotic Arm  |  Trajectory Control System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" cy="45720"/>
          </a:xfrm>
          <a:prstGeom prst="rect">
            <a:avLst/>
          </a:prstGeom>
          <a:solidFill>
            <a:srgbClr val="FF8A5B"/>
          </a:solidFill>
          <a:ln/>
        </p:spPr>
      </p:sp>
      <p:pic>
        <p:nvPicPr>
          <p:cNvPr id="5" name="Image 0" descr="/home/claude/assets/block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10515600" cy="5029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2-DOF Planar Robotic Arm  |  Trajectory Control System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CONTROL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Encoders? — Closed-Loop Control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2920" cy="45720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828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motors are normally driven open-loop — the controller assumes every commanded pulse produced exactly one step of movement. Under load, vibration or excess speed, steps can be missed, and position error quietly accumulates along the trajectory.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Open-Loop (motor only)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749040"/>
            <a:ext cx="73152" cy="73152"/>
          </a:xfrm>
          <a:prstGeom prst="ellipse">
            <a:avLst/>
          </a:prstGeom>
          <a:solidFill>
            <a:srgbClr val="8FA3B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6210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Commanded steps assumed = actual steps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343400"/>
            <a:ext cx="73152" cy="73152"/>
          </a:xfrm>
          <a:prstGeom prst="ellipse">
            <a:avLst/>
          </a:prstGeom>
          <a:solidFill>
            <a:srgbClr val="8FA3B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2153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knowledge of true joint angle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937760"/>
            <a:ext cx="73152" cy="73152"/>
          </a:xfrm>
          <a:prstGeom prst="ellipse">
            <a:avLst/>
          </a:prstGeom>
          <a:solidFill>
            <a:srgbClr val="8FA3B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48097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accumulate silently over a path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532120"/>
            <a:ext cx="73152" cy="73152"/>
          </a:xfrm>
          <a:prstGeom prst="ellipse">
            <a:avLst/>
          </a:prstGeom>
          <a:solidFill>
            <a:srgbClr val="8FA3B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54041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Cheaper, simpler, but drift-prone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288036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(with encoders)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92240" y="3749040"/>
            <a:ext cx="73152" cy="73152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36210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reports the true joint angle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4343400"/>
            <a:ext cx="73152" cy="73152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42153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compares actual vs. desired 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4937760"/>
            <a:ext cx="73152" cy="73152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20840" y="48097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is corrected before the next waypoint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5532120"/>
            <a:ext cx="73152" cy="73152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20840" y="54041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repeatable trajectory tracking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2-DOF Planar Robotic Arm  |  Trajectory Control System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LOGIC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Algorithm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" cy="45720"/>
          </a:xfrm>
          <a:prstGeom prst="rect">
            <a:avLst/>
          </a:prstGeom>
          <a:solidFill>
            <a:srgbClr val="FF8A5B"/>
          </a:solidFill>
          <a:ln/>
        </p:spPr>
      </p:sp>
      <p:pic>
        <p:nvPicPr>
          <p:cNvPr id="5" name="Image 0" descr="/home/claude/assets/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280160"/>
            <a:ext cx="4754880" cy="5349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8745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18013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trajectory is loaded as an ordered list of (x, y) points.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502920" y="27889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292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7157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kinematics converts each point into a joint-angle pair.</a:t>
            </a:r>
            <a:endParaRPr lang="en-US" sz="1130" dirty="0"/>
          </a:p>
        </p:txBody>
      </p:sp>
      <p:sp>
        <p:nvSpPr>
          <p:cNvPr id="12" name="Shape 9"/>
          <p:cNvSpPr/>
          <p:nvPr/>
        </p:nvSpPr>
        <p:spPr>
          <a:xfrm>
            <a:off x="502920" y="3703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36301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are translated into step counts and rotation direction for each driver.</a:t>
            </a:r>
            <a:endParaRPr lang="en-US" sz="1130" dirty="0"/>
          </a:p>
        </p:txBody>
      </p:sp>
      <p:sp>
        <p:nvSpPr>
          <p:cNvPr id="15" name="Shape 12"/>
          <p:cNvSpPr/>
          <p:nvPr/>
        </p:nvSpPr>
        <p:spPr>
          <a:xfrm>
            <a:off x="502920" y="46177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292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45445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move, encoders confirm the joints reached the commanded angles.</a:t>
            </a:r>
            <a:endParaRPr lang="en-US" sz="1130" dirty="0"/>
          </a:p>
        </p:txBody>
      </p:sp>
      <p:sp>
        <p:nvSpPr>
          <p:cNvPr id="18" name="Shape 15"/>
          <p:cNvSpPr/>
          <p:nvPr/>
        </p:nvSpPr>
        <p:spPr>
          <a:xfrm>
            <a:off x="502920" y="5532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02920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05840" y="54589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discrepancy is corrected before advancing to the next waypoint — keeping the traced path close to the planned one.</a:t>
            </a:r>
            <a:endParaRPr lang="en-US" sz="1130" dirty="0"/>
          </a:p>
        </p:txBody>
      </p:sp>
      <p:sp>
        <p:nvSpPr>
          <p:cNvPr id="21" name="Text 18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2-DOF Planar Robotic Arm  |  Trajectory Control System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of Materials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2920" cy="45720"/>
          </a:xfrm>
          <a:prstGeom prst="rect">
            <a:avLst/>
          </a:prstGeom>
          <a:solidFill>
            <a:srgbClr val="FF8A5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201400" cy="4480560"/>
        </p:xfrm>
        <a:graphic>
          <a:graphicData uri="http://schemas.openxmlformats.org/drawingml/2006/table">
            <a:tbl>
              <a:tblPr/>
              <a:tblGrid>
                <a:gridCol w="5852160"/>
                <a:gridCol w="1188720"/>
                <a:gridCol w="4160520"/>
              </a:tblGrid>
              <a:tr h="560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Qty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Role in the System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Microcontroller (Arduino / ESP32)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Runs trajectory logic, inverse kinematics &amp; motor commands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Stepper Motors (NEMA-17 or similar)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Actuate joint A and joint B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Stepper Drivers (A4988 / DRV8825)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Convert step/direction signals into motor phase currents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Rotary Encoders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Measure actual joint angles for closed-loop feedback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Link members (AB, BC)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Rigid arm segments — aluminium / 3D-printed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Base frame &amp; bearings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1 set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Mounts joint A, supports structural loads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Power Supply Unit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Delivers regulated power to motors &amp; controller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2-DOF Planar Robotic Arm  |  Trajectory Control System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2920" cy="45720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74520"/>
            <a:ext cx="3630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0312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Design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5468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links, joints &amp; base; select link lengths for the target workspace.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874520"/>
            <a:ext cx="3630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44568" y="210312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44568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74320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 Modelling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315468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&amp; simulate forward / inverse kinematics; validate reachable area.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9016" y="1874520"/>
            <a:ext cx="3630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210312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57616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74320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Wiring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315468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stepper drivers, motors, encoders and power supply to the controller.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206240"/>
            <a:ext cx="3630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43484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07492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Development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48640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IK solver, step/direction generation and waypoint sequencing.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15968" y="4206240"/>
            <a:ext cx="3630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44568" y="443484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44568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44568" y="507492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Integration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44568" y="548640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encoders, close the control loop, calibrate zero positions.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29016" y="4206240"/>
            <a:ext cx="3630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57616" y="443484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65A8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57616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57616" y="507492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Testing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57616" y="548640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 paths, measure tracking error, tune and finalise the system.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2-DOF Planar Robotic Arm  |  Trajectory Control System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2920" cy="45720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920240"/>
            <a:ext cx="3630168" cy="2057400"/>
          </a:xfrm>
          <a:prstGeom prst="roundRect">
            <a:avLst>
              <a:gd name="adj" fmla="val 3556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2176272"/>
            <a:ext cx="411480" cy="411480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274320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Place Automation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20040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small parts between fixed points on an assembly line.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15968" y="1920240"/>
            <a:ext cx="3630168" cy="2057400"/>
          </a:xfrm>
          <a:prstGeom prst="roundRect">
            <a:avLst>
              <a:gd name="adj" fmla="val 3556"/>
            </a:avLst>
          </a:prstGeom>
          <a:solidFill>
            <a:srgbClr val="21295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176272"/>
            <a:ext cx="411480" cy="411480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74320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Plotting / Drawing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0040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shapes, text or CNC-style patterns on a flat surface.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29016" y="1920240"/>
            <a:ext cx="3630168" cy="2057400"/>
          </a:xfrm>
          <a:prstGeom prst="roundRect">
            <a:avLst>
              <a:gd name="adj" fmla="val 3556"/>
            </a:avLst>
          </a:prstGeom>
          <a:solidFill>
            <a:srgbClr val="21295C"/>
          </a:solidFill>
          <a:ln/>
        </p:spPr>
      </p:sp>
      <p:sp>
        <p:nvSpPr>
          <p:cNvPr id="14" name="Shape 12"/>
          <p:cNvSpPr/>
          <p:nvPr/>
        </p:nvSpPr>
        <p:spPr>
          <a:xfrm>
            <a:off x="8385048" y="2176272"/>
            <a:ext cx="411480" cy="411480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85048" y="274320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Robotics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85048" y="320040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kinematics, control loops and embedded motor control.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160520"/>
            <a:ext cx="363016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4416552"/>
            <a:ext cx="411480" cy="411480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8952" y="498348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for Prosthetics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544068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Testbed for lightweight, precisely-controlled limb segments.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15968" y="4160520"/>
            <a:ext cx="363016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4416552"/>
            <a:ext cx="411480" cy="411480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0" y="498348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Assembly Fixtures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544068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low-cost positioning for inspection or dispensing.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29016" y="4160520"/>
            <a:ext cx="363016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85048" y="4416552"/>
            <a:ext cx="411480" cy="411480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85048" y="498348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on Path Tracking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385048" y="544068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 testing trajectory &amp; control algorithms cheaply.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2-DOF Planar Robotic Arm  |  Trajectory Control System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2920" cy="45720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103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2-link, 2-DOF arm gives a well-defined, calculable workspace from just two link lengths.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880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stepper control at A and B, guided by forward/inverse kinematics, is sufficient to place the end-effector anywhere inside that workspace.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6576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close the loop, turning an open-loop stepper system into an accurate trajectory-tracking one.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92240" y="2514600"/>
            <a:ext cx="73152" cy="73152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23774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3rd joint / gripper for full pick-and-place capability.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3246120"/>
            <a:ext cx="73152" cy="73152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31089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PID tuning on the feedback loop for faster, smoother correction.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3977640"/>
            <a:ext cx="73152" cy="73152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38404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vision-based feedback for closed-loop position verification.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4709160"/>
            <a:ext cx="73152" cy="73152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45720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wireless (Bluetooth / Wi-Fi) trajectory upload and control.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5440680"/>
            <a:ext cx="73152" cy="73152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20840" y="53035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link lengths and motor sizing for higher payload capacity.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2-DOF Planar Robotic Arm  |  Trajectory Control System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4572000" cy="4572000"/>
          </a:xfrm>
          <a:prstGeom prst="ellipse">
            <a:avLst/>
          </a:prstGeom>
          <a:solidFill>
            <a:srgbClr val="4FD8C4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548640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2-DOF Planar Robotic Arm  —  Trajectory-Controlled Motion using Dual Stepper Motors &amp; Encoder Feedback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2026-09-12T09:11:02Z</dcterms:created>
  <dcterms:modified xsi:type="dcterms:W3CDTF">2026-09-12T09:11:02Z</dcterms:modified>
</cp:coreProperties>
</file>