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4"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918F863E-428E-9CD4-4642-5C87ACD34480}">
          <p14:sldIdLst>
            <p14:sldId id="256"/>
            <p14:sldId id="274"/>
          </p14:sldIdLst>
        </p14:section>
        <p14:section name="Contents" id="{75F2999A-1A9B-6786-A73A-24B186A77769}">
          <p14:sldIdLst/>
        </p14:section>
        <p14:section name="Introduction" id="{A1FC9D16-6D4B-F7F1-2AE9-2D9F4FAF4E3C}">
          <p14:sldIdLst>
            <p14:sldId id="258"/>
            <p14:sldId id="259"/>
          </p14:sldIdLst>
        </p14:section>
        <p14:section name="Literature Survey" id="{F070ECDD-3117-4279-038A-A36429D07428}">
          <p14:sldIdLst>
            <p14:sldId id="260"/>
            <p14:sldId id="261"/>
            <p14:sldId id="262"/>
          </p14:sldIdLst>
        </p14:section>
        <p14:section name="Research Gaps and Problem Formulation" id="{5D7F4669-B7B6-85D9-8E27-4FB4D2645A38}">
          <p14:sldIdLst>
            <p14:sldId id="263"/>
            <p14:sldId id="264"/>
            <p14:sldId id="265"/>
          </p14:sldIdLst>
        </p14:section>
        <p14:section name="Project Objectives" id="{5CFEAC9E-51B0-2DB1-A69E-0F482ECD8260}">
          <p14:sldIdLst>
            <p14:sldId id="266"/>
            <p14:sldId id="267"/>
            <p14:sldId id="268"/>
            <p14:sldId id="269"/>
            <p14:sldId id="270"/>
          </p14:sldIdLst>
        </p14:section>
        <p14:section name="Conclusions" id="{69847701-872E-A82C-0967-038FB72B8D52}">
          <p14:sldIdLst>
            <p14:sldId id="271"/>
            <p14:sldId id="272"/>
          </p14:sldIdLst>
        </p14:section>
        <p14:section name="References" id="{B993199B-1E1E-6C74-5655-1E2668982917}">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A5E"/>
                </a:solidFill>
                <a:latin typeface="+mn-lt"/>
              </a:defRPr>
            </a:pPr>
            <a:r>
              <a:rPr sz="1400" b="0" i="0" u="none" strike="noStrike">
                <a:solidFill>
                  <a:srgbClr val="1F2A5E"/>
                </a:solidFill>
                <a:latin typeface="+mn-lt"/>
              </a:rPr>
              <a:t>Workspace area vs link split L₁/L₂ (L₁+L₂ = 35 cm)</a:t>
            </a:r>
          </a:p>
        </c:rich>
      </c:tx>
      <c:overlay val="0"/>
    </c:title>
    <c:autoTitleDeleted val="0"/>
    <c:plotArea>
      <c:layout/>
      <c:barChart>
        <c:barDir val="col"/>
        <c:grouping val="clustered"/>
        <c:varyColors val="0"/>
        <c:ser>
          <c:idx val="0"/>
          <c:order val="0"/>
          <c:tx>
            <c:strRef>
              <c:f>Sheet1!$B$1</c:f>
              <c:strCache>
                <c:ptCount val="1"/>
                <c:pt idx="0">
                  <c:v>Workspace area (cm²)</c:v>
                </c:pt>
              </c:strCache>
            </c:strRef>
          </c:tx>
          <c:spPr>
            <a:solidFill>
              <a:srgbClr val="1F2A5E"/>
            </a:solidFill>
            <a:effectLst/>
          </c:spPr>
          <c:invertIfNegative val="0"/>
          <c:dPt>
            <c:idx val="0"/>
            <c:invertIfNegative val="0"/>
            <c:bubble3D val="0"/>
            <c:extLst>
              <c:ext xmlns:c16="http://schemas.microsoft.com/office/drawing/2014/chart" uri="{C3380CC4-5D6E-409C-BE32-E72D297353CC}">
                <c16:uniqueId val="{00000001-9441-4361-92B1-9945F4366C31}"/>
              </c:ext>
            </c:extLst>
          </c:dPt>
          <c:dPt>
            <c:idx val="1"/>
            <c:invertIfNegative val="0"/>
            <c:bubble3D val="0"/>
            <c:extLst>
              <c:ext xmlns:c16="http://schemas.microsoft.com/office/drawing/2014/chart" uri="{C3380CC4-5D6E-409C-BE32-E72D297353CC}">
                <c16:uniqueId val="{00000003-9441-4361-92B1-9945F4366C31}"/>
              </c:ext>
            </c:extLst>
          </c:dPt>
          <c:dPt>
            <c:idx val="2"/>
            <c:invertIfNegative val="0"/>
            <c:bubble3D val="0"/>
            <c:extLst>
              <c:ext xmlns:c16="http://schemas.microsoft.com/office/drawing/2014/chart" uri="{C3380CC4-5D6E-409C-BE32-E72D297353CC}">
                <c16:uniqueId val="{00000005-9441-4361-92B1-9945F4366C31}"/>
              </c:ext>
            </c:extLst>
          </c:dPt>
          <c:dPt>
            <c:idx val="3"/>
            <c:invertIfNegative val="0"/>
            <c:bubble3D val="0"/>
            <c:spPr>
              <a:solidFill>
                <a:srgbClr val="FF8A5B"/>
              </a:solidFill>
              <a:effectLst/>
            </c:spPr>
            <c:extLst>
              <c:ext xmlns:c16="http://schemas.microsoft.com/office/drawing/2014/chart" uri="{C3380CC4-5D6E-409C-BE32-E72D297353CC}">
                <c16:uniqueId val="{00000007-9441-4361-92B1-9945F4366C31}"/>
              </c:ext>
            </c:extLst>
          </c:dPt>
          <c:dPt>
            <c:idx val="4"/>
            <c:invertIfNegative val="0"/>
            <c:bubble3D val="0"/>
            <c:extLst>
              <c:ext xmlns:c16="http://schemas.microsoft.com/office/drawing/2014/chart" uri="{C3380CC4-5D6E-409C-BE32-E72D297353CC}">
                <c16:uniqueId val="{00000009-9441-4361-92B1-9945F4366C31}"/>
              </c:ext>
            </c:extLst>
          </c:dPt>
          <c:dPt>
            <c:idx val="5"/>
            <c:invertIfNegative val="0"/>
            <c:bubble3D val="0"/>
            <c:extLst>
              <c:ext xmlns:c16="http://schemas.microsoft.com/office/drawing/2014/chart" uri="{C3380CC4-5D6E-409C-BE32-E72D297353CC}">
                <c16:uniqueId val="{0000000B-9441-4361-92B1-9945F4366C31}"/>
              </c:ext>
            </c:extLst>
          </c:dPt>
          <c:dPt>
            <c:idx val="6"/>
            <c:invertIfNegative val="0"/>
            <c:bubble3D val="0"/>
            <c:extLst>
              <c:ext xmlns:c16="http://schemas.microsoft.com/office/drawing/2014/chart" uri="{C3380CC4-5D6E-409C-BE32-E72D297353CC}">
                <c16:uniqueId val="{0000000D-9441-4361-92B1-9945F4366C31}"/>
              </c:ext>
            </c:extLst>
          </c:dPt>
          <c:dLbls>
            <c:numFmt formatCode="#,##0" sourceLinked="0"/>
            <c:spPr>
              <a:noFill/>
              <a:ln>
                <a:noFill/>
              </a:ln>
              <a:effectLst/>
            </c:spPr>
            <c:txPr>
              <a:bodyPr/>
              <a:lstStyle/>
              <a:p>
                <a:pPr>
                  <a:defRPr sz="1100" b="0" i="0" u="none" strike="noStrike">
                    <a:solidFill>
                      <a:srgbClr val="1B1B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5/30</c:v>
                </c:pt>
                <c:pt idx="1">
                  <c:v>10/25</c:v>
                </c:pt>
                <c:pt idx="2">
                  <c:v>15/20</c:v>
                </c:pt>
                <c:pt idx="3">
                  <c:v>17.5/17.5</c:v>
                </c:pt>
                <c:pt idx="4">
                  <c:v>20/15</c:v>
                </c:pt>
                <c:pt idx="5">
                  <c:v>25/10</c:v>
                </c:pt>
                <c:pt idx="6">
                  <c:v>30/5</c:v>
                </c:pt>
              </c:strCache>
            </c:strRef>
          </c:cat>
          <c:val>
            <c:numRef>
              <c:f>Sheet1!$B$2:$B$8</c:f>
              <c:numCache>
                <c:formatCode>General</c:formatCode>
                <c:ptCount val="7"/>
                <c:pt idx="0">
                  <c:v>1885</c:v>
                </c:pt>
                <c:pt idx="1">
                  <c:v>3142</c:v>
                </c:pt>
                <c:pt idx="2">
                  <c:v>3770</c:v>
                </c:pt>
                <c:pt idx="3">
                  <c:v>3848</c:v>
                </c:pt>
                <c:pt idx="4">
                  <c:v>3770</c:v>
                </c:pt>
                <c:pt idx="5">
                  <c:v>3142</c:v>
                </c:pt>
                <c:pt idx="6">
                  <c:v>1885</c:v>
                </c:pt>
              </c:numCache>
            </c:numRef>
          </c:val>
          <c:extLst>
            <c:ext xmlns:c16="http://schemas.microsoft.com/office/drawing/2014/chart" uri="{C3380CC4-5D6E-409C-BE32-E72D297353CC}">
              <c16:uniqueId val="{0000000E-9441-4361-92B1-9945F4366C31}"/>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title>
          <c:tx>
            <c:rich>
              <a:bodyPr/>
              <a:lstStyle/>
              <a:p>
                <a:pPr>
                  <a:defRPr sz="1100" b="0" i="0" u="none" strike="noStrike">
                    <a:solidFill>
                      <a:srgbClr val="1B1B1F"/>
                    </a:solidFill>
                    <a:latin typeface="+mn-lt"/>
                  </a:defRPr>
                </a:pPr>
                <a:r>
                  <a:rPr sz="1100" b="0" i="0" u="none" strike="noStrike">
                    <a:solidFill>
                      <a:srgbClr val="1B1B1F"/>
                    </a:solidFill>
                    <a:latin typeface="+mn-lt"/>
                  </a:rPr>
                  <a:t>L₁ / L₂ (cm)</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B1F"/>
                </a:solidFill>
                <a:latin typeface="+mn-lt"/>
              </a:defRPr>
            </a:pPr>
            <a:endParaRPr lang="en-US"/>
          </a:p>
        </c:txPr>
        <c:crossAx val="2094734552"/>
        <c:crosses val="autoZero"/>
        <c:auto val="1"/>
        <c:lblAlgn val="ctr"/>
        <c:lblOffset val="100"/>
        <c:noMultiLvlLbl val="1"/>
      </c:catAx>
      <c:valAx>
        <c:axId val="2094734552"/>
        <c:scaling>
          <c:orientation val="minMax"/>
          <c:max val="4500"/>
          <c:min val="0"/>
        </c:scaling>
        <c:delete val="0"/>
        <c:axPos val="l"/>
        <c:majorGridlines>
          <c:spPr>
            <a:ln w="6350" cap="flat">
              <a:solidFill>
                <a:srgbClr val="D5DEE8"/>
              </a:solidFill>
              <a:prstDash val="solid"/>
              <a:round/>
            </a:ln>
          </c:spPr>
        </c:majorGridlines>
        <c:title>
          <c:tx>
            <c:rich>
              <a:bodyPr/>
              <a:lstStyle/>
              <a:p>
                <a:pPr>
                  <a:defRPr sz="1100" b="0" i="0" u="none" strike="noStrike">
                    <a:solidFill>
                      <a:srgbClr val="1B1B1F"/>
                    </a:solidFill>
                    <a:latin typeface="+mn-lt"/>
                  </a:defRPr>
                </a:pPr>
                <a:r>
                  <a:rPr sz="1100" b="0" i="0" u="none" strike="noStrike">
                    <a:solidFill>
                      <a:srgbClr val="1B1B1F"/>
                    </a:solidFill>
                    <a:latin typeface="+mn-lt"/>
                  </a:rPr>
                  <a:t>Area (cm²)</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1B1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A5E"/>
                </a:solidFill>
                <a:latin typeface="+mn-lt"/>
              </a:defRPr>
            </a:pPr>
            <a:r>
              <a:rPr sz="1400" b="0" i="0" u="none" strike="noStrike">
                <a:solidFill>
                  <a:srgbClr val="1F2A5E"/>
                </a:solidFill>
                <a:latin typeface="+mn-lt"/>
              </a:rPr>
              <a:t>Joint angles along a sample circular path (illustrative)</a:t>
            </a:r>
          </a:p>
        </c:rich>
      </c:tx>
      <c:overlay val="0"/>
    </c:title>
    <c:autoTitleDeleted val="0"/>
    <c:plotArea>
      <c:layout/>
      <c:lineChart>
        <c:grouping val="standard"/>
        <c:varyColors val="0"/>
        <c:ser>
          <c:idx val="0"/>
          <c:order val="0"/>
          <c:tx>
            <c:strRef>
              <c:f>Sheet1!$B$1</c:f>
              <c:strCache>
                <c:ptCount val="1"/>
                <c:pt idx="0">
                  <c:v>θ₁ (deg)</c:v>
                </c:pt>
              </c:strCache>
            </c:strRef>
          </c:tx>
          <c:spPr>
            <a:ln w="31750" cap="flat">
              <a:solidFill>
                <a:srgbClr val="0F5C80"/>
              </a:solidFill>
              <a:prstDash val="solid"/>
              <a:round/>
            </a:ln>
            <a:effectLst/>
          </c:spPr>
          <c:marker>
            <c:symbol val="circle"/>
            <c:size val="7"/>
            <c:spPr>
              <a:solidFill>
                <a:srgbClr val="0F5C80"/>
              </a:solidFill>
              <a:ln w="9525" cap="flat">
                <a:solidFill>
                  <a:srgbClr val="0F5C80"/>
                </a:solidFill>
                <a:prstDash val="solid"/>
                <a:round/>
              </a:ln>
              <a:effectLst/>
            </c:spPr>
          </c:marker>
          <c:cat>
            <c:strRef>
              <c:f>Sheet1!$A$2:$A$17</c:f>
              <c:strCach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strCache>
            </c:strRef>
          </c:cat>
          <c:val>
            <c:numRef>
              <c:f>Sheet1!$B$2:$B$17</c:f>
              <c:numCache>
                <c:formatCode>General</c:formatCode>
                <c:ptCount val="16"/>
                <c:pt idx="0">
                  <c:v>-4.9000000000000004</c:v>
                </c:pt>
                <c:pt idx="1">
                  <c:v>1</c:v>
                </c:pt>
                <c:pt idx="2">
                  <c:v>5.4</c:v>
                </c:pt>
                <c:pt idx="3">
                  <c:v>7.9</c:v>
                </c:pt>
                <c:pt idx="4">
                  <c:v>8.6</c:v>
                </c:pt>
                <c:pt idx="5">
                  <c:v>7.7</c:v>
                </c:pt>
                <c:pt idx="6">
                  <c:v>5.3</c:v>
                </c:pt>
                <c:pt idx="7">
                  <c:v>1</c:v>
                </c:pt>
                <c:pt idx="8">
                  <c:v>-5.0999999999999996</c:v>
                </c:pt>
                <c:pt idx="9">
                  <c:v>-12.8</c:v>
                </c:pt>
                <c:pt idx="10">
                  <c:v>-20.3</c:v>
                </c:pt>
                <c:pt idx="11">
                  <c:v>-25.3</c:v>
                </c:pt>
                <c:pt idx="12">
                  <c:v>-26.3</c:v>
                </c:pt>
                <c:pt idx="13">
                  <c:v>-23.6</c:v>
                </c:pt>
                <c:pt idx="14">
                  <c:v>-18.3</c:v>
                </c:pt>
                <c:pt idx="15">
                  <c:v>-11.7</c:v>
                </c:pt>
              </c:numCache>
            </c:numRef>
          </c:val>
          <c:smooth val="0"/>
          <c:extLst>
            <c:ext xmlns:c16="http://schemas.microsoft.com/office/drawing/2014/chart" uri="{C3380CC4-5D6E-409C-BE32-E72D297353CC}">
              <c16:uniqueId val="{00000000-86FF-427B-9442-82230185D2CC}"/>
            </c:ext>
          </c:extLst>
        </c:ser>
        <c:ser>
          <c:idx val="1"/>
          <c:order val="1"/>
          <c:tx>
            <c:strRef>
              <c:f>Sheet1!$C$1</c:f>
              <c:strCache>
                <c:ptCount val="1"/>
                <c:pt idx="0">
                  <c:v>θ₂ (deg)</c:v>
                </c:pt>
              </c:strCache>
            </c:strRef>
          </c:tx>
          <c:spPr>
            <a:ln w="31750" cap="flat">
              <a:solidFill>
                <a:srgbClr val="FF8A5B"/>
              </a:solidFill>
              <a:prstDash val="solid"/>
              <a:round/>
            </a:ln>
            <a:effectLst/>
          </c:spPr>
          <c:marker>
            <c:symbol val="circle"/>
            <c:size val="7"/>
            <c:spPr>
              <a:solidFill>
                <a:srgbClr val="FF8A5B"/>
              </a:solidFill>
              <a:ln w="9525" cap="flat">
                <a:solidFill>
                  <a:srgbClr val="FF8A5B"/>
                </a:solidFill>
                <a:prstDash val="solid"/>
                <a:round/>
              </a:ln>
              <a:effectLst/>
            </c:spPr>
          </c:marker>
          <c:cat>
            <c:strRef>
              <c:f>Sheet1!$A$2:$A$17</c:f>
              <c:strCach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strCache>
            </c:strRef>
          </c:cat>
          <c:val>
            <c:numRef>
              <c:f>Sheet1!$C$2:$C$17</c:f>
              <c:numCache>
                <c:formatCode>General</c:formatCode>
                <c:ptCount val="16"/>
                <c:pt idx="0">
                  <c:v>71</c:v>
                </c:pt>
                <c:pt idx="1">
                  <c:v>67.3</c:v>
                </c:pt>
                <c:pt idx="2">
                  <c:v>67.8</c:v>
                </c:pt>
                <c:pt idx="3">
                  <c:v>72.599999999999994</c:v>
                </c:pt>
                <c:pt idx="4">
                  <c:v>80.5</c:v>
                </c:pt>
                <c:pt idx="5">
                  <c:v>90.4</c:v>
                </c:pt>
                <c:pt idx="6">
                  <c:v>100.8</c:v>
                </c:pt>
                <c:pt idx="7">
                  <c:v>110.7</c:v>
                </c:pt>
                <c:pt idx="8">
                  <c:v>118.4</c:v>
                </c:pt>
                <c:pt idx="9">
                  <c:v>122.4</c:v>
                </c:pt>
                <c:pt idx="10">
                  <c:v>121.8</c:v>
                </c:pt>
                <c:pt idx="11">
                  <c:v>116.7</c:v>
                </c:pt>
                <c:pt idx="12">
                  <c:v>108.4</c:v>
                </c:pt>
                <c:pt idx="13">
                  <c:v>98.3</c:v>
                </c:pt>
                <c:pt idx="14">
                  <c:v>87.8</c:v>
                </c:pt>
                <c:pt idx="15">
                  <c:v>78.3</c:v>
                </c:pt>
              </c:numCache>
            </c:numRef>
          </c:val>
          <c:smooth val="0"/>
          <c:extLst>
            <c:ext xmlns:c16="http://schemas.microsoft.com/office/drawing/2014/chart" uri="{C3380CC4-5D6E-409C-BE32-E72D297353CC}">
              <c16:uniqueId val="{00000001-86FF-427B-9442-82230185D2C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1B1B1F"/>
                    </a:solidFill>
                    <a:latin typeface="+mn-lt"/>
                  </a:defRPr>
                </a:pPr>
                <a:r>
                  <a:rPr sz="1100" b="0" i="0" u="none" strike="noStrike">
                    <a:solidFill>
                      <a:srgbClr val="1B1B1F"/>
                    </a:solidFill>
                    <a:latin typeface="+mn-lt"/>
                  </a:rPr>
                  <a:t>Waypoint number</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B1F"/>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5DEE8"/>
              </a:solidFill>
              <a:prstDash val="solid"/>
              <a:round/>
            </a:ln>
          </c:spPr>
        </c:majorGridlines>
        <c:title>
          <c:tx>
            <c:rich>
              <a:bodyPr/>
              <a:lstStyle/>
              <a:p>
                <a:pPr>
                  <a:defRPr sz="1100" b="0" i="0" u="none" strike="noStrike">
                    <a:solidFill>
                      <a:srgbClr val="1B1B1F"/>
                    </a:solidFill>
                    <a:latin typeface="+mn-lt"/>
                  </a:defRPr>
                </a:pPr>
                <a:r>
                  <a:rPr sz="1100" b="0" i="0" u="none" strike="noStrike">
                    <a:solidFill>
                      <a:srgbClr val="1B1B1F"/>
                    </a:solidFill>
                    <a:latin typeface="+mn-lt"/>
                  </a:rPr>
                  <a:t>Joint angle (deg)</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1B1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B1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662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Welcome, introduce the group and supervisor, state the project title. Replace the bracketed names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Here is how our presentation is organised. I will cover the introduction, the problem statement and the mechanical design in slides one to four. My second teammate will explain the controllable parameters, forward kinematics and the workspace. The third will explain trajectory planning and inverse kinematics. The fourth will cover the control system and the firmware algorithm. And the last presenter will close with hardware, the implementation plan, applications, conclusion and future scope, followed by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Explain the arm: link AB turns about base joint A (Motor 1), link BC turns about elbow B (Motor 2). The end-effector position (x, y) at C is what we ultimately control.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Each link moves on a circle. Direction and angle at A and B are the four controls. Forward kinematics gives (x, y) for any (theta1, theta2).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Standard robotics textbooks [1]-[3] give the kinematic framework we use: forward kinematics, closed-form inverse kinematics for a 2R arm, workspace limits and trajectory generation.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Published work solves IK with neural networks [4] or genetic algorithm plus pattern search [5] on three-link arms, validated in MATLAB. For a 2-link arm, the closed-form solution from the textbooks is enough.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Open-loop steppers assume every pulse is a step; missed steps go unnoticed. An encoder reports the true angle so the controller can correct before the next waypoint [6].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Three gaps: validation mostly in simulation, heavy solvers where closed form suffices, and open-loop stepper drift. Our problem: follow a (x, y) path accurately with closed-form IK and encoder feedback.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Reachable region is an annulus: Rmax = L1 + L2, Rmin = |L1 - L2|. The chart shows the annulus area 4*pi*L1*L2 for L1 + L2 = 35 cm: it is largest when links are equal. Values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Solve theta2 first (two branches), then theta1, after a reachability check. The chart is an illustrative run of these equations on a circular path (L1 = 20 cm, L2 = 15 cm, radius 6 cm centred at (20, 12)), using the sin(theta2) &gt; 0 branch.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State the aim, then the four objectives: workspace, independent stepper actuation, encoder-based closed loop, and IK-based path following.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Path goes to the IK solver, then to the motion controller, then to two stepper drivers and motors. Encoders on each joint feed the actual angle back to close the loop.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Load the path, solve IK for each point, convert angles to step counts and direction, check with encoders after every move, correct any discrepancy before advancing.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Microcontroller, two NEMA-17 class steppers with two drivers, two encoders, links, base with bearings, and a power supply.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Mechanical design, kinematic modelling, electronics, firmware, feedback integration, then trajectory testing and tuning.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Three conclusions, then future scope: third joint or gripper, PID tuning, vision feedback, wireless upload, and optimising link lengths and motors.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Pick and place, plotting, education, prosthetics prototype, lab fixtures and path-tracking research.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References are in IEEE format. Cited on slides 5-8.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pic>
        <p:nvPicPr>
          <p:cNvPr id="3" name="Image 0" descr="NIT Jalandhar logo"/>
          <p:cNvPicPr>
            <a:picLocks noChangeAspect="1"/>
          </p:cNvPicPr>
          <p:nvPr/>
        </p:nvPicPr>
        <p:blipFill>
          <a:blip r:embed="rId2"/>
          <a:stretch>
            <a:fillRect/>
          </a:stretch>
        </p:blipFill>
        <p:spPr>
          <a:xfrm>
            <a:off x="10972800" y="274320"/>
            <a:ext cx="676656" cy="694944"/>
          </a:xfrm>
          <a:prstGeom prst="rect">
            <a:avLst/>
          </a:prstGeom>
        </p:spPr>
      </p:pic>
      <p:sp>
        <p:nvSpPr>
          <p:cNvPr id="4" name="Text 0"/>
          <p:cNvSpPr txBox="1"/>
          <p:nvPr/>
        </p:nvSpPr>
        <p:spPr>
          <a:xfrm>
            <a:off x="548640" y="6446520"/>
            <a:ext cx="8229600" cy="228600"/>
          </a:xfrm>
          <a:prstGeom prst="rect">
            <a:avLst/>
          </a:prstGeom>
          <a:noFill/>
          <a:ln/>
        </p:spPr>
        <p:txBody>
          <a:bodyPr wrap="square" lIns="0" tIns="0" rIns="0" bIns="0" rtlCol="0" anchor="ctr"/>
          <a:lstStyle/>
          <a:p>
            <a:pPr marL="0" indent="0">
              <a:buNone/>
            </a:pPr>
            <a:r>
              <a:rPr lang="en-US" sz="1000" dirty="0">
                <a:solidFill>
                  <a:schemeClr val="accent6"/>
                </a:solidFill>
              </a:rPr>
              <a:t>Minor Project  |  Dept. of Mechanical Engineering  |  Dr B R Ambedkar NIT Jalandhar</a:t>
            </a:r>
            <a:endParaRPr lang="en-US" sz="10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3931920"/>
            <a:ext cx="10698480" cy="73152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LIGH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6400800"/>
            <a:ext cx="7315200" cy="304800"/>
          </a:xfrm>
          <a:prstGeom prst="rect">
            <a:avLst/>
          </a:prstGeom>
          <a:noFill/>
          <a:ln/>
        </p:spPr>
        <p:txBody>
          <a:bodyPr wrap="square" lIns="0" tIns="0" rIns="0" bIns="0" rtlCol="0" anchor="ctr"/>
          <a:lstStyle/>
          <a:p>
            <a:pPr marL="0" indent="0">
              <a:buNone/>
            </a:pPr>
            <a:r>
              <a:rPr lang="en-US" sz="1333" dirty="0">
                <a:solidFill>
                  <a:srgbClr val="5B6577"/>
                </a:solidFill>
                <a:latin typeface="Calibri" pitchFamily="34" charset="0"/>
                <a:ea typeface="Calibri" pitchFamily="34" charset="-122"/>
                <a:cs typeface="Calibri" pitchFamily="34" charset="-120"/>
              </a:rPr>
              <a:t>2-DOF Planar Robotic Arm  |  Minor Project  |  NIT Jalandhar</a:t>
            </a:r>
            <a:endParaRPr lang="en-US" sz="1333" dirty="0"/>
          </a:p>
        </p:txBody>
      </p:sp>
      <p:sp>
        <p:nvSpPr>
          <p:cNvPr id="3" name="Text 1"/>
          <p:cNvSpPr>
            <a:spLocks noGrp="1"/>
          </p:cNvSpPr>
          <p:nvPr>
            <p:ph type="title" idx="101" hasCustomPrompt="1"/>
          </p:nvPr>
        </p:nvSpPr>
        <p:spPr>
          <a:xfrm>
            <a:off x="609600" y="365760"/>
            <a:ext cx="9022080" cy="792480"/>
          </a:xfrm>
          <a:prstGeom prst="rect">
            <a:avLst/>
          </a:prstGeom>
          <a:noFill/>
          <a:ln/>
        </p:spPr>
        <p:txBody>
          <a:bodyPr wrap="square" rtlCol="0"/>
          <a:lstStyle>
            <a:lvl1pPr marL="0" indent="0">
              <a:buNone/>
              <a:defRPr lang="en-US" sz="4000" b="1" dirty="0">
                <a:solidFill>
                  <a:srgbClr val="1B2A5E"/>
                </a:solidFill>
                <a:latin typeface="Cambria" pitchFamily="34" charset="0"/>
                <a:ea typeface="Cambria" pitchFamily="34" charset="-122"/>
                <a:cs typeface="Cambria" pitchFamily="34" charset="-120"/>
              </a:defRPr>
            </a:lvl1pPr>
          </a:lstStyle>
          <a:p>
            <a:pPr marL="0" indent="0">
              <a:buNone/>
            </a:pPr>
            <a:endParaRPr lang="en-US" sz="4000" dirty="0"/>
          </a:p>
        </p:txBody>
      </p:sp>
      <p:sp>
        <p:nvSpPr>
          <p:cNvPr id="25" name="Slide Number Placeholder 0"/>
          <p:cNvSpPr>
            <a:spLocks noGrp="1"/>
          </p:cNvSpPr>
          <p:nvPr>
            <p:ph type="sldNum" sz="quarter" idx="4294967295"/>
          </p:nvPr>
        </p:nvSpPr>
        <p:spPr>
          <a:xfrm>
            <a:off x="10972800" y="6400800"/>
            <a:ext cx="609600" cy="304800"/>
          </a:xfrm>
          <a:prstGeom prst="rect">
            <a:avLst/>
          </a:prstGeom>
          <a:extLst>
            <a:ext uri="{C572A759-6A51-4108-AA02-DFA0A04FC94B}">
              <ma14:wrappingTextBoxFlag xmlns:ma14="http://schemas.microsoft.com/office/mac/drawingml/2011/main" xmlns="" val="0"/>
            </a:ext>
          </a:extLst>
        </p:spPr>
        <p:txBody>
          <a:bodyPr/>
          <a:lstStyle>
            <a:lvl1pPr>
              <a:defRPr sz="1333">
                <a:solidFill>
                  <a:srgbClr val="5B6577"/>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0063769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NIT Jalandhar logo"/>
          <p:cNvPicPr>
            <a:picLocks noChangeAspect="1"/>
          </p:cNvPicPr>
          <p:nvPr/>
        </p:nvPicPr>
        <p:blipFill>
          <a:blip r:embed="rId3"/>
          <a:stretch>
            <a:fillRect/>
          </a:stretch>
        </p:blipFill>
        <p:spPr>
          <a:xfrm>
            <a:off x="731520" y="502920"/>
            <a:ext cx="1234440" cy="1261872"/>
          </a:xfrm>
          <a:prstGeom prst="rect">
            <a:avLst/>
          </a:prstGeom>
        </p:spPr>
      </p:pic>
      <p:sp>
        <p:nvSpPr>
          <p:cNvPr id="3" name="Institute"/>
          <p:cNvSpPr txBox="1"/>
          <p:nvPr/>
        </p:nvSpPr>
        <p:spPr>
          <a:xfrm>
            <a:off x="2240280" y="640080"/>
            <a:ext cx="9144000" cy="502920"/>
          </a:xfrm>
          <a:prstGeom prst="rect">
            <a:avLst/>
          </a:prstGeom>
          <a:noFill/>
          <a:ln/>
        </p:spPr>
        <p:txBody>
          <a:bodyPr wrap="square" lIns="0" tIns="0" rIns="0" bIns="0" rtlCol="0" anchor="t"/>
          <a:lstStyle/>
          <a:p>
            <a:pPr marL="0" indent="0">
              <a:buNone/>
            </a:pPr>
            <a:r>
              <a:rPr lang="en-US" sz="2600" b="1" dirty="0">
                <a:solidFill>
                  <a:schemeClr val="tx2"/>
                </a:solidFill>
                <a:latin typeface="+mj-lt" pitchFamily="34" charset="0"/>
                <a:ea typeface="+mj-lt" pitchFamily="34" charset="-122"/>
                <a:cs typeface="+mj-lt" pitchFamily="34" charset="-120"/>
              </a:rPr>
              <a:t>Dr B R Ambedkar National Institute of Technology Jalandhar</a:t>
            </a:r>
            <a:endParaRPr lang="en-US" sz="2600" dirty="0"/>
          </a:p>
        </p:txBody>
      </p:sp>
      <p:sp>
        <p:nvSpPr>
          <p:cNvPr id="4" name="Department"/>
          <p:cNvSpPr txBox="1"/>
          <p:nvPr/>
        </p:nvSpPr>
        <p:spPr>
          <a:xfrm>
            <a:off x="2240280" y="1188720"/>
            <a:ext cx="9144000" cy="365760"/>
          </a:xfrm>
          <a:prstGeom prst="rect">
            <a:avLst/>
          </a:prstGeom>
          <a:noFill/>
          <a:ln/>
        </p:spPr>
        <p:txBody>
          <a:bodyPr wrap="square" lIns="0" tIns="0" rIns="0" bIns="0" rtlCol="0" anchor="t"/>
          <a:lstStyle/>
          <a:p>
            <a:pPr marL="0" indent="0">
              <a:buNone/>
            </a:pPr>
            <a:r>
              <a:rPr lang="en-US" sz="1800" dirty="0">
                <a:solidFill>
                  <a:schemeClr val="tx1"/>
                </a:solidFill>
                <a:latin typeface="+mj-lt" pitchFamily="34" charset="0"/>
                <a:ea typeface="+mj-lt" pitchFamily="34" charset="-122"/>
                <a:cs typeface="+mj-lt" pitchFamily="34" charset="-120"/>
              </a:rPr>
              <a:t>Department of Mechanical Engineering</a:t>
            </a:r>
            <a:endParaRPr lang="en-US" sz="1800" dirty="0"/>
          </a:p>
        </p:txBody>
      </p:sp>
      <p:sp>
        <p:nvSpPr>
          <p:cNvPr id="5" name="Presentation Type"/>
          <p:cNvSpPr txBox="1"/>
          <p:nvPr/>
        </p:nvSpPr>
        <p:spPr>
          <a:xfrm>
            <a:off x="731520" y="2331720"/>
            <a:ext cx="10698480" cy="457200"/>
          </a:xfrm>
          <a:prstGeom prst="rect">
            <a:avLst/>
          </a:prstGeom>
          <a:noFill/>
          <a:ln/>
        </p:spPr>
        <p:txBody>
          <a:bodyPr wrap="square" lIns="0" tIns="0" rIns="0" bIns="0" rtlCol="0" anchor="t"/>
          <a:lstStyle/>
          <a:p>
            <a:pPr marL="0" indent="0" algn="ctr">
              <a:buNone/>
            </a:pPr>
            <a:r>
              <a:rPr lang="en-US" sz="2800" b="1" u="sng" dirty="0">
                <a:solidFill>
                  <a:schemeClr val="tx1"/>
                </a:solidFill>
                <a:latin typeface="+mj-lt" pitchFamily="34" charset="0"/>
                <a:ea typeface="+mj-lt" pitchFamily="34" charset="-122"/>
                <a:cs typeface="+mj-lt" pitchFamily="34" charset="-120"/>
              </a:rPr>
              <a:t>Major Project Presentation</a:t>
            </a:r>
            <a:endParaRPr lang="en-US" sz="2800" dirty="0"/>
          </a:p>
        </p:txBody>
      </p:sp>
      <p:sp>
        <p:nvSpPr>
          <p:cNvPr id="6" name="Evaluation Type"/>
          <p:cNvSpPr txBox="1"/>
          <p:nvPr/>
        </p:nvSpPr>
        <p:spPr>
          <a:xfrm>
            <a:off x="731520" y="2834640"/>
            <a:ext cx="10698480" cy="411480"/>
          </a:xfrm>
          <a:prstGeom prst="rect">
            <a:avLst/>
          </a:prstGeom>
          <a:noFill/>
          <a:ln/>
        </p:spPr>
        <p:txBody>
          <a:bodyPr wrap="square" lIns="0" tIns="0" rIns="0" bIns="0" rtlCol="0" anchor="t"/>
          <a:lstStyle/>
          <a:p>
            <a:pPr marL="0" indent="0" algn="ctr">
              <a:buNone/>
            </a:pPr>
            <a:r>
              <a:rPr lang="en-US" sz="2200" b="1" dirty="0">
                <a:solidFill>
                  <a:schemeClr val="accent5"/>
                </a:solidFill>
                <a:latin typeface="+mj-lt" pitchFamily="34" charset="0"/>
                <a:ea typeface="+mj-lt" pitchFamily="34" charset="-122"/>
                <a:cs typeface="+mj-lt" pitchFamily="34" charset="-120"/>
              </a:rPr>
              <a:t>Supervisor Evaluation</a:t>
            </a:r>
            <a:endParaRPr lang="en-US" sz="2200" dirty="0"/>
          </a:p>
        </p:txBody>
      </p:sp>
      <p:sp>
        <p:nvSpPr>
          <p:cNvPr id="7" name="Project Title Label"/>
          <p:cNvSpPr txBox="1"/>
          <p:nvPr/>
        </p:nvSpPr>
        <p:spPr>
          <a:xfrm>
            <a:off x="4251960" y="3532948"/>
            <a:ext cx="3657600" cy="274320"/>
          </a:xfrm>
          <a:prstGeom prst="rect">
            <a:avLst/>
          </a:prstGeom>
          <a:noFill/>
          <a:ln/>
        </p:spPr>
        <p:txBody>
          <a:bodyPr wrap="square" lIns="0" tIns="0" rIns="0" bIns="0" rtlCol="0" anchor="t"/>
          <a:lstStyle/>
          <a:p>
            <a:pPr marL="0" indent="0" algn="ctr">
              <a:buNone/>
            </a:pPr>
            <a:r>
              <a:rPr lang="en-US" sz="1400" b="1" dirty="0">
                <a:solidFill>
                  <a:schemeClr val="accent3"/>
                </a:solidFill>
              </a:rPr>
              <a:t>Project Title:</a:t>
            </a:r>
            <a:endParaRPr lang="en-US" sz="1400" dirty="0"/>
          </a:p>
        </p:txBody>
      </p:sp>
      <p:sp>
        <p:nvSpPr>
          <p:cNvPr id="8" name="Text 0"/>
          <p:cNvSpPr>
            <a:spLocks noGrp="1"/>
          </p:cNvSpPr>
          <p:nvPr>
            <p:ph type="title" idx="100" hasCustomPrompt="1"/>
          </p:nvPr>
        </p:nvSpPr>
        <p:spPr>
          <a:xfrm>
            <a:off x="726344" y="3863340"/>
            <a:ext cx="10698480" cy="731520"/>
          </a:xfrm>
          <a:prstGeom prst="rect">
            <a:avLst/>
          </a:prstGeom>
          <a:noFill/>
          <a:ln/>
        </p:spPr>
        <p:txBody>
          <a:bodyPr wrap="square" lIns="0" tIns="0" rIns="0" bIns="0" rtlCol="0" anchor="ctr"/>
          <a:lstStyle/>
          <a:p>
            <a:pPr marL="0" indent="0" algn="ctr">
              <a:buNone/>
            </a:pPr>
            <a:r>
              <a:rPr lang="en-US" sz="3600" b="1" dirty="0">
                <a:solidFill>
                  <a:schemeClr val="tx2"/>
                </a:solidFill>
              </a:rPr>
              <a:t>2-DOF Planar Robotic Arm</a:t>
            </a:r>
            <a:endParaRPr lang="en-US" sz="3600" dirty="0"/>
          </a:p>
        </p:txBody>
      </p:sp>
      <p:sp>
        <p:nvSpPr>
          <p:cNvPr id="9" name="Members Label"/>
          <p:cNvSpPr txBox="1"/>
          <p:nvPr/>
        </p:nvSpPr>
        <p:spPr>
          <a:xfrm>
            <a:off x="731520" y="4983480"/>
            <a:ext cx="4572000" cy="274320"/>
          </a:xfrm>
          <a:prstGeom prst="rect">
            <a:avLst/>
          </a:prstGeom>
          <a:noFill/>
          <a:ln/>
        </p:spPr>
        <p:txBody>
          <a:bodyPr wrap="square" lIns="0" tIns="0" rIns="0" bIns="0" rtlCol="0" anchor="t"/>
          <a:lstStyle/>
          <a:p>
            <a:pPr marL="0" indent="0">
              <a:buNone/>
            </a:pPr>
            <a:r>
              <a:rPr lang="en-US" sz="1400" b="1" dirty="0">
                <a:solidFill>
                  <a:schemeClr val="accent3"/>
                </a:solidFill>
              </a:rPr>
              <a:t>Group Members:</a:t>
            </a:r>
            <a:endParaRPr lang="en-US" sz="1400" dirty="0"/>
          </a:p>
        </p:txBody>
      </p:sp>
      <p:sp>
        <p:nvSpPr>
          <p:cNvPr id="10" name="Members List"/>
          <p:cNvSpPr txBox="1"/>
          <p:nvPr/>
        </p:nvSpPr>
        <p:spPr>
          <a:xfrm>
            <a:off x="731520" y="5303520"/>
            <a:ext cx="4572000" cy="1188720"/>
          </a:xfrm>
          <a:prstGeom prst="rect">
            <a:avLst/>
          </a:prstGeom>
          <a:noFill/>
          <a:ln/>
        </p:spPr>
        <p:txBody>
          <a:bodyPr wrap="square" lIns="0" tIns="0" rIns="0" bIns="0" rtlCol="0" anchor="t"/>
          <a:lstStyle/>
          <a:p>
            <a:pPr marL="0" indent="0">
              <a:buNone/>
            </a:pPr>
            <a:r>
              <a:rPr lang="en-US" sz="1400" dirty="0"/>
              <a:t>Amana Fatima SN   	23109011</a:t>
            </a:r>
            <a:endParaRPr lang="en-US" sz="1400" dirty="0">
              <a:solidFill>
                <a:schemeClr val="tx1"/>
              </a:solidFill>
            </a:endParaRPr>
          </a:p>
          <a:p>
            <a:pPr marL="0" indent="0">
              <a:buNone/>
            </a:pPr>
            <a:r>
              <a:rPr lang="en-US" sz="1400" dirty="0">
                <a:solidFill>
                  <a:schemeClr val="tx1"/>
                </a:solidFill>
              </a:rPr>
              <a:t>Dirgha Gupta	23109035</a:t>
            </a:r>
          </a:p>
          <a:p>
            <a:pPr marL="0" indent="0">
              <a:buNone/>
            </a:pPr>
            <a:r>
              <a:rPr lang="en-US" sz="1400" dirty="0"/>
              <a:t>Madhav Kumar	23109064</a:t>
            </a:r>
          </a:p>
          <a:p>
            <a:pPr marL="0" indent="0">
              <a:buNone/>
            </a:pPr>
            <a:r>
              <a:rPr lang="en-US" sz="1400" dirty="0"/>
              <a:t>Prince Kumar	23109079</a:t>
            </a:r>
          </a:p>
          <a:p>
            <a:pPr marL="0" indent="0">
              <a:buNone/>
            </a:pPr>
            <a:r>
              <a:rPr lang="en-US" sz="1400" dirty="0" err="1"/>
              <a:t>Tikhade</a:t>
            </a:r>
            <a:r>
              <a:rPr lang="en-US" sz="1400" dirty="0"/>
              <a:t> Khushi Anil 	23109104</a:t>
            </a:r>
          </a:p>
        </p:txBody>
      </p:sp>
      <p:sp>
        <p:nvSpPr>
          <p:cNvPr id="11" name="Supervisor Label"/>
          <p:cNvSpPr txBox="1"/>
          <p:nvPr/>
        </p:nvSpPr>
        <p:spPr>
          <a:xfrm>
            <a:off x="6858000" y="4983480"/>
            <a:ext cx="4572000" cy="274320"/>
          </a:xfrm>
          <a:prstGeom prst="rect">
            <a:avLst/>
          </a:prstGeom>
          <a:noFill/>
          <a:ln/>
        </p:spPr>
        <p:txBody>
          <a:bodyPr wrap="square" lIns="0" tIns="0" rIns="0" bIns="0" rtlCol="0" anchor="t"/>
          <a:lstStyle/>
          <a:p>
            <a:pPr marL="0" indent="0">
              <a:buNone/>
            </a:pPr>
            <a:r>
              <a:rPr lang="en-US" sz="1400" b="1" dirty="0">
                <a:solidFill>
                  <a:schemeClr val="accent3"/>
                </a:solidFill>
              </a:rPr>
              <a:t>Supervisor:</a:t>
            </a:r>
            <a:endParaRPr lang="en-US" sz="1400" dirty="0"/>
          </a:p>
        </p:txBody>
      </p:sp>
      <p:sp>
        <p:nvSpPr>
          <p:cNvPr id="12" name="Supervisor Name"/>
          <p:cNvSpPr txBox="1"/>
          <p:nvPr/>
        </p:nvSpPr>
        <p:spPr>
          <a:xfrm>
            <a:off x="6858000" y="5303520"/>
            <a:ext cx="4572000" cy="320040"/>
          </a:xfrm>
          <a:prstGeom prst="rect">
            <a:avLst/>
          </a:prstGeom>
          <a:noFill/>
          <a:ln/>
        </p:spPr>
        <p:txBody>
          <a:bodyPr wrap="square" lIns="0" tIns="0" rIns="0" bIns="0" rtlCol="0" anchor="t"/>
          <a:lstStyle/>
          <a:p>
            <a:pPr marL="0" indent="0">
              <a:buNone/>
            </a:pPr>
            <a:r>
              <a:rPr lang="en-US" sz="1400" b="1" dirty="0">
                <a:solidFill>
                  <a:schemeClr val="tx1"/>
                </a:solidFill>
              </a:rPr>
              <a:t>[</a:t>
            </a:r>
            <a:r>
              <a:rPr lang="en-US" sz="1400" b="1" dirty="0"/>
              <a:t>Prof. Joseph Anand Vaz</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09600" y="365760"/>
            <a:ext cx="9022080" cy="792480"/>
          </a:xfrm>
          <a:prstGeom prst="rect">
            <a:avLst/>
          </a:prstGeom>
          <a:noFill/>
          <a:ln/>
        </p:spPr>
        <p:txBody>
          <a:bodyPr wrap="square" lIns="0" tIns="0" rIns="0" bIns="0" rtlCol="0" anchor="ctr"/>
          <a:lstStyle/>
          <a:p>
            <a:pPr algn="l"/>
            <a:r>
              <a:rPr lang="en-US" dirty="0"/>
              <a:t>Agenda</a:t>
            </a:r>
          </a:p>
        </p:txBody>
      </p:sp>
      <p:sp>
        <p:nvSpPr>
          <p:cNvPr id="3" name="Text 1"/>
          <p:cNvSpPr txBox="1"/>
          <p:nvPr/>
        </p:nvSpPr>
        <p:spPr>
          <a:xfrm>
            <a:off x="609600" y="1158240"/>
            <a:ext cx="10972800" cy="426720"/>
          </a:xfrm>
          <a:prstGeom prst="rect">
            <a:avLst/>
          </a:prstGeom>
          <a:noFill/>
          <a:ln/>
        </p:spPr>
        <p:txBody>
          <a:bodyPr wrap="square" lIns="0" tIns="0" rIns="0" bIns="0" rtlCol="0" anchor="ctr"/>
          <a:lstStyle/>
          <a:p>
            <a:r>
              <a:rPr lang="en-US" sz="1867" i="1" dirty="0">
                <a:solidFill>
                  <a:srgbClr val="5B6577"/>
                </a:solidFill>
                <a:latin typeface="Calibri" pitchFamily="34" charset="0"/>
                <a:ea typeface="Calibri" pitchFamily="34" charset="-122"/>
                <a:cs typeface="Calibri" pitchFamily="34" charset="-120"/>
              </a:rPr>
              <a:t>Five parts, five presenters</a:t>
            </a:r>
            <a:endParaRPr lang="en-US" sz="1867" dirty="0"/>
          </a:p>
        </p:txBody>
      </p:sp>
      <p:sp>
        <p:nvSpPr>
          <p:cNvPr id="4" name="Text 2"/>
          <p:cNvSpPr/>
          <p:nvPr/>
        </p:nvSpPr>
        <p:spPr>
          <a:xfrm>
            <a:off x="9875520" y="487680"/>
            <a:ext cx="1706880" cy="390144"/>
          </a:xfrm>
          <a:prstGeom prst="roundRect">
            <a:avLst>
              <a:gd name="adj" fmla="val 50000"/>
            </a:avLst>
          </a:prstGeom>
          <a:solidFill>
            <a:srgbClr val="D6E8F0"/>
          </a:solidFill>
          <a:ln/>
        </p:spPr>
        <p:txBody>
          <a:bodyPr wrap="square" lIns="0" tIns="0" rIns="0" bIns="0" rtlCol="0" anchor="ctr"/>
          <a:lstStyle/>
          <a:p>
            <a:pPr algn="ctr"/>
            <a:r>
              <a:rPr lang="en-US" sz="1467" b="1" dirty="0">
                <a:solidFill>
                  <a:srgbClr val="1B2A5E"/>
                </a:solidFill>
                <a:latin typeface="Calibri" pitchFamily="34" charset="0"/>
                <a:ea typeface="Calibri" pitchFamily="34" charset="-122"/>
                <a:cs typeface="Calibri" pitchFamily="34" charset="-120"/>
              </a:rPr>
              <a:t>Presenter 1</a:t>
            </a:r>
            <a:endParaRPr lang="en-US" sz="1467" dirty="0"/>
          </a:p>
        </p:txBody>
      </p:sp>
      <p:sp>
        <p:nvSpPr>
          <p:cNvPr id="6" name="card"/>
          <p:cNvSpPr/>
          <p:nvPr/>
        </p:nvSpPr>
        <p:spPr>
          <a:xfrm>
            <a:off x="609600" y="1828800"/>
            <a:ext cx="10972800" cy="731520"/>
          </a:xfrm>
          <a:prstGeom prst="roundRect">
            <a:avLst>
              <a:gd name="adj" fmla="val 13333"/>
            </a:avLst>
          </a:prstGeom>
          <a:solidFill>
            <a:srgbClr val="EEF4F8"/>
          </a:solidFill>
          <a:ln w="12700">
            <a:solidFill>
              <a:srgbClr val="EEF4F8"/>
            </a:solidFill>
            <a:prstDash val="solid"/>
          </a:ln>
        </p:spPr>
      </p:sp>
      <p:sp>
        <p:nvSpPr>
          <p:cNvPr id="7" name="Text 4"/>
          <p:cNvSpPr/>
          <p:nvPr/>
        </p:nvSpPr>
        <p:spPr>
          <a:xfrm>
            <a:off x="755904" y="1926336"/>
            <a:ext cx="536448" cy="536448"/>
          </a:xfrm>
          <a:prstGeom prst="ellipse">
            <a:avLst/>
          </a:prstGeom>
          <a:solidFill>
            <a:srgbClr val="1B2A5E"/>
          </a:solid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1</a:t>
            </a:r>
            <a:endParaRPr lang="en-US" sz="2133" dirty="0"/>
          </a:p>
        </p:txBody>
      </p:sp>
      <p:sp>
        <p:nvSpPr>
          <p:cNvPr id="8" name="Text 5"/>
          <p:cNvSpPr txBox="1"/>
          <p:nvPr/>
        </p:nvSpPr>
        <p:spPr>
          <a:xfrm>
            <a:off x="1584960" y="1828800"/>
            <a:ext cx="6827520" cy="731520"/>
          </a:xfrm>
          <a:prstGeom prst="rect">
            <a:avLst/>
          </a:prstGeom>
          <a:noFill/>
          <a:ln/>
        </p:spPr>
        <p:txBody>
          <a:bodyPr wrap="square" lIns="0" tIns="0" rIns="0" bIns="0" rtlCol="0" anchor="ctr"/>
          <a:lstStyle/>
          <a:p>
            <a:r>
              <a:rPr lang="en-US" sz="2267" b="1" dirty="0">
                <a:solidFill>
                  <a:srgbClr val="1B2A5E"/>
                </a:solidFill>
                <a:latin typeface="Calibri" pitchFamily="34" charset="0"/>
                <a:ea typeface="Calibri" pitchFamily="34" charset="-122"/>
                <a:cs typeface="Calibri" pitchFamily="34" charset="-120"/>
              </a:rPr>
              <a:t>Introduction, problem &amp; mechanical design</a:t>
            </a:r>
            <a:endParaRPr lang="en-US" sz="2267" dirty="0"/>
          </a:p>
        </p:txBody>
      </p:sp>
      <p:sp>
        <p:nvSpPr>
          <p:cNvPr id="9" name="Text 6"/>
          <p:cNvSpPr txBox="1"/>
          <p:nvPr/>
        </p:nvSpPr>
        <p:spPr>
          <a:xfrm>
            <a:off x="8656320" y="1828800"/>
            <a:ext cx="2682240" cy="731520"/>
          </a:xfrm>
          <a:prstGeom prst="rect">
            <a:avLst/>
          </a:prstGeom>
          <a:noFill/>
          <a:ln/>
        </p:spPr>
        <p:txBody>
          <a:bodyPr wrap="square" lIns="0" tIns="0" rIns="0" bIns="0" rtlCol="0" anchor="ctr"/>
          <a:lstStyle/>
          <a:p>
            <a:pPr algn="r"/>
            <a:r>
              <a:rPr lang="en-US" sz="1867" dirty="0">
                <a:solidFill>
                  <a:srgbClr val="5B6577"/>
                </a:solidFill>
                <a:latin typeface="Calibri" pitchFamily="34" charset="0"/>
                <a:ea typeface="Calibri" pitchFamily="34" charset="-122"/>
                <a:cs typeface="Calibri" pitchFamily="34" charset="-120"/>
              </a:rPr>
              <a:t>Slides 1–4</a:t>
            </a:r>
            <a:endParaRPr lang="en-US" sz="1867" dirty="0"/>
          </a:p>
        </p:txBody>
      </p:sp>
      <p:sp>
        <p:nvSpPr>
          <p:cNvPr id="10" name="card"/>
          <p:cNvSpPr/>
          <p:nvPr/>
        </p:nvSpPr>
        <p:spPr>
          <a:xfrm>
            <a:off x="609600" y="2706624"/>
            <a:ext cx="10972800" cy="731520"/>
          </a:xfrm>
          <a:prstGeom prst="roundRect">
            <a:avLst>
              <a:gd name="adj" fmla="val 13333"/>
            </a:avLst>
          </a:prstGeom>
          <a:solidFill>
            <a:srgbClr val="EEF4F8"/>
          </a:solidFill>
          <a:ln w="12700">
            <a:solidFill>
              <a:srgbClr val="EEF4F8"/>
            </a:solidFill>
            <a:prstDash val="solid"/>
          </a:ln>
        </p:spPr>
      </p:sp>
      <p:sp>
        <p:nvSpPr>
          <p:cNvPr id="11" name="Text 8"/>
          <p:cNvSpPr/>
          <p:nvPr/>
        </p:nvSpPr>
        <p:spPr>
          <a:xfrm>
            <a:off x="755904" y="2804160"/>
            <a:ext cx="536448" cy="536448"/>
          </a:xfrm>
          <a:prstGeom prst="ellipse">
            <a:avLst/>
          </a:prstGeom>
          <a:solidFill>
            <a:srgbClr val="0B6E8E"/>
          </a:solid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2</a:t>
            </a:r>
            <a:endParaRPr lang="en-US" sz="2133" dirty="0"/>
          </a:p>
        </p:txBody>
      </p:sp>
      <p:sp>
        <p:nvSpPr>
          <p:cNvPr id="12" name="Text 9"/>
          <p:cNvSpPr txBox="1"/>
          <p:nvPr/>
        </p:nvSpPr>
        <p:spPr>
          <a:xfrm>
            <a:off x="1584960" y="2706624"/>
            <a:ext cx="6827520" cy="731520"/>
          </a:xfrm>
          <a:prstGeom prst="rect">
            <a:avLst/>
          </a:prstGeom>
          <a:noFill/>
          <a:ln/>
        </p:spPr>
        <p:txBody>
          <a:bodyPr wrap="square" lIns="0" tIns="0" rIns="0" bIns="0" rtlCol="0" anchor="ctr"/>
          <a:lstStyle/>
          <a:p>
            <a:r>
              <a:rPr lang="en-US" sz="2267" b="1" dirty="0">
                <a:solidFill>
                  <a:srgbClr val="1B2A5E"/>
                </a:solidFill>
                <a:latin typeface="Calibri" pitchFamily="34" charset="0"/>
                <a:ea typeface="Calibri" pitchFamily="34" charset="-122"/>
                <a:cs typeface="Calibri" pitchFamily="34" charset="-120"/>
              </a:rPr>
              <a:t>Motion, forward kinematics &amp; workspace</a:t>
            </a:r>
            <a:endParaRPr lang="en-US" sz="2267" dirty="0"/>
          </a:p>
        </p:txBody>
      </p:sp>
      <p:sp>
        <p:nvSpPr>
          <p:cNvPr id="13" name="Text 10"/>
          <p:cNvSpPr txBox="1"/>
          <p:nvPr/>
        </p:nvSpPr>
        <p:spPr>
          <a:xfrm>
            <a:off x="8656320" y="2706624"/>
            <a:ext cx="2682240" cy="731520"/>
          </a:xfrm>
          <a:prstGeom prst="rect">
            <a:avLst/>
          </a:prstGeom>
          <a:noFill/>
          <a:ln/>
        </p:spPr>
        <p:txBody>
          <a:bodyPr wrap="square" lIns="0" tIns="0" rIns="0" bIns="0" rtlCol="0" anchor="ctr"/>
          <a:lstStyle/>
          <a:p>
            <a:pPr algn="r"/>
            <a:r>
              <a:rPr lang="en-US" sz="1867" dirty="0">
                <a:solidFill>
                  <a:srgbClr val="5B6577"/>
                </a:solidFill>
                <a:latin typeface="Calibri" pitchFamily="34" charset="0"/>
                <a:ea typeface="Calibri" pitchFamily="34" charset="-122"/>
                <a:cs typeface="Calibri" pitchFamily="34" charset="-120"/>
              </a:rPr>
              <a:t>Slides 5–7</a:t>
            </a:r>
            <a:endParaRPr lang="en-US" sz="1867" dirty="0"/>
          </a:p>
        </p:txBody>
      </p:sp>
      <p:sp>
        <p:nvSpPr>
          <p:cNvPr id="14" name="card"/>
          <p:cNvSpPr/>
          <p:nvPr/>
        </p:nvSpPr>
        <p:spPr>
          <a:xfrm>
            <a:off x="609600" y="3584448"/>
            <a:ext cx="10972800" cy="731520"/>
          </a:xfrm>
          <a:prstGeom prst="roundRect">
            <a:avLst>
              <a:gd name="adj" fmla="val 13333"/>
            </a:avLst>
          </a:prstGeom>
          <a:solidFill>
            <a:srgbClr val="EEF4F8"/>
          </a:solidFill>
          <a:ln w="12700">
            <a:solidFill>
              <a:srgbClr val="EEF4F8"/>
            </a:solidFill>
            <a:prstDash val="solid"/>
          </a:ln>
        </p:spPr>
      </p:sp>
      <p:sp>
        <p:nvSpPr>
          <p:cNvPr id="15" name="Text 12"/>
          <p:cNvSpPr/>
          <p:nvPr/>
        </p:nvSpPr>
        <p:spPr>
          <a:xfrm>
            <a:off x="755904" y="3681984"/>
            <a:ext cx="536448" cy="536448"/>
          </a:xfrm>
          <a:prstGeom prst="ellipse">
            <a:avLst/>
          </a:prstGeom>
          <a:solidFill>
            <a:srgbClr val="1B2A5E"/>
          </a:solid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3</a:t>
            </a:r>
            <a:endParaRPr lang="en-US" sz="2133" dirty="0"/>
          </a:p>
        </p:txBody>
      </p:sp>
      <p:sp>
        <p:nvSpPr>
          <p:cNvPr id="16" name="Text 13"/>
          <p:cNvSpPr txBox="1"/>
          <p:nvPr/>
        </p:nvSpPr>
        <p:spPr>
          <a:xfrm>
            <a:off x="1584960" y="3584448"/>
            <a:ext cx="6827520" cy="731520"/>
          </a:xfrm>
          <a:prstGeom prst="rect">
            <a:avLst/>
          </a:prstGeom>
          <a:noFill/>
          <a:ln/>
        </p:spPr>
        <p:txBody>
          <a:bodyPr wrap="square" lIns="0" tIns="0" rIns="0" bIns="0" rtlCol="0" anchor="ctr"/>
          <a:lstStyle/>
          <a:p>
            <a:r>
              <a:rPr lang="en-US" sz="2267" b="1" dirty="0">
                <a:solidFill>
                  <a:srgbClr val="1B2A5E"/>
                </a:solidFill>
                <a:latin typeface="Calibri" pitchFamily="34" charset="0"/>
                <a:ea typeface="Calibri" pitchFamily="34" charset="-122"/>
                <a:cs typeface="Calibri" pitchFamily="34" charset="-120"/>
              </a:rPr>
              <a:t>Trajectory planning &amp; inverse kinematics</a:t>
            </a:r>
            <a:endParaRPr lang="en-US" sz="2267" dirty="0"/>
          </a:p>
        </p:txBody>
      </p:sp>
      <p:sp>
        <p:nvSpPr>
          <p:cNvPr id="17" name="Text 14"/>
          <p:cNvSpPr txBox="1"/>
          <p:nvPr/>
        </p:nvSpPr>
        <p:spPr>
          <a:xfrm>
            <a:off x="8656320" y="3584448"/>
            <a:ext cx="2682240" cy="731520"/>
          </a:xfrm>
          <a:prstGeom prst="rect">
            <a:avLst/>
          </a:prstGeom>
          <a:noFill/>
          <a:ln/>
        </p:spPr>
        <p:txBody>
          <a:bodyPr wrap="square" lIns="0" tIns="0" rIns="0" bIns="0" rtlCol="0" anchor="ctr"/>
          <a:lstStyle/>
          <a:p>
            <a:pPr algn="r"/>
            <a:r>
              <a:rPr lang="en-US" sz="1867" dirty="0">
                <a:solidFill>
                  <a:srgbClr val="5B6577"/>
                </a:solidFill>
                <a:latin typeface="Calibri" pitchFamily="34" charset="0"/>
                <a:ea typeface="Calibri" pitchFamily="34" charset="-122"/>
                <a:cs typeface="Calibri" pitchFamily="34" charset="-120"/>
              </a:rPr>
              <a:t>Slides 8–9</a:t>
            </a:r>
            <a:endParaRPr lang="en-US" sz="1867" dirty="0"/>
          </a:p>
        </p:txBody>
      </p:sp>
      <p:sp>
        <p:nvSpPr>
          <p:cNvPr id="18" name="card"/>
          <p:cNvSpPr/>
          <p:nvPr/>
        </p:nvSpPr>
        <p:spPr>
          <a:xfrm>
            <a:off x="609600" y="4462272"/>
            <a:ext cx="10972800" cy="731520"/>
          </a:xfrm>
          <a:prstGeom prst="roundRect">
            <a:avLst>
              <a:gd name="adj" fmla="val 13333"/>
            </a:avLst>
          </a:prstGeom>
          <a:solidFill>
            <a:srgbClr val="EEF4F8"/>
          </a:solidFill>
          <a:ln w="12700">
            <a:solidFill>
              <a:srgbClr val="EEF4F8"/>
            </a:solidFill>
            <a:prstDash val="solid"/>
          </a:ln>
        </p:spPr>
      </p:sp>
      <p:sp>
        <p:nvSpPr>
          <p:cNvPr id="19" name="Text 16"/>
          <p:cNvSpPr/>
          <p:nvPr/>
        </p:nvSpPr>
        <p:spPr>
          <a:xfrm>
            <a:off x="755904" y="4559808"/>
            <a:ext cx="536448" cy="536448"/>
          </a:xfrm>
          <a:prstGeom prst="ellipse">
            <a:avLst/>
          </a:prstGeom>
          <a:solidFill>
            <a:srgbClr val="0B6E8E"/>
          </a:solid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4</a:t>
            </a:r>
            <a:endParaRPr lang="en-US" sz="2133" dirty="0"/>
          </a:p>
        </p:txBody>
      </p:sp>
      <p:sp>
        <p:nvSpPr>
          <p:cNvPr id="20" name="Text 17"/>
          <p:cNvSpPr txBox="1"/>
          <p:nvPr/>
        </p:nvSpPr>
        <p:spPr>
          <a:xfrm>
            <a:off x="1584960" y="4462272"/>
            <a:ext cx="6827520" cy="731520"/>
          </a:xfrm>
          <a:prstGeom prst="rect">
            <a:avLst/>
          </a:prstGeom>
          <a:noFill/>
          <a:ln/>
        </p:spPr>
        <p:txBody>
          <a:bodyPr wrap="square" lIns="0" tIns="0" rIns="0" bIns="0" rtlCol="0" anchor="ctr"/>
          <a:lstStyle/>
          <a:p>
            <a:r>
              <a:rPr lang="en-US" sz="2267" b="1" dirty="0">
                <a:solidFill>
                  <a:srgbClr val="1B2A5E"/>
                </a:solidFill>
                <a:latin typeface="Calibri" pitchFamily="34" charset="0"/>
                <a:ea typeface="Calibri" pitchFamily="34" charset="-122"/>
                <a:cs typeface="Calibri" pitchFamily="34" charset="-120"/>
              </a:rPr>
              <a:t>Control system &amp; firmware algorithm</a:t>
            </a:r>
            <a:endParaRPr lang="en-US" sz="2267" dirty="0"/>
          </a:p>
        </p:txBody>
      </p:sp>
      <p:sp>
        <p:nvSpPr>
          <p:cNvPr id="21" name="Text 18"/>
          <p:cNvSpPr txBox="1"/>
          <p:nvPr/>
        </p:nvSpPr>
        <p:spPr>
          <a:xfrm>
            <a:off x="8656320" y="4462272"/>
            <a:ext cx="2682240" cy="731520"/>
          </a:xfrm>
          <a:prstGeom prst="rect">
            <a:avLst/>
          </a:prstGeom>
          <a:noFill/>
          <a:ln/>
        </p:spPr>
        <p:txBody>
          <a:bodyPr wrap="square" lIns="0" tIns="0" rIns="0" bIns="0" rtlCol="0" anchor="ctr"/>
          <a:lstStyle/>
          <a:p>
            <a:pPr algn="r"/>
            <a:r>
              <a:rPr lang="en-US" sz="1867" dirty="0">
                <a:solidFill>
                  <a:srgbClr val="5B6577"/>
                </a:solidFill>
                <a:latin typeface="Calibri" pitchFamily="34" charset="0"/>
                <a:ea typeface="Calibri" pitchFamily="34" charset="-122"/>
                <a:cs typeface="Calibri" pitchFamily="34" charset="-120"/>
              </a:rPr>
              <a:t>Slides 10–12</a:t>
            </a:r>
            <a:endParaRPr lang="en-US" sz="1867" dirty="0"/>
          </a:p>
        </p:txBody>
      </p:sp>
      <p:sp>
        <p:nvSpPr>
          <p:cNvPr id="22" name="card"/>
          <p:cNvSpPr/>
          <p:nvPr/>
        </p:nvSpPr>
        <p:spPr>
          <a:xfrm>
            <a:off x="609600" y="5340096"/>
            <a:ext cx="10972800" cy="731520"/>
          </a:xfrm>
          <a:prstGeom prst="roundRect">
            <a:avLst>
              <a:gd name="adj" fmla="val 13333"/>
            </a:avLst>
          </a:prstGeom>
          <a:solidFill>
            <a:srgbClr val="EEF4F8"/>
          </a:solidFill>
          <a:ln w="12700">
            <a:solidFill>
              <a:srgbClr val="EEF4F8"/>
            </a:solidFill>
            <a:prstDash val="solid"/>
          </a:ln>
        </p:spPr>
      </p:sp>
      <p:sp>
        <p:nvSpPr>
          <p:cNvPr id="23" name="Text 20"/>
          <p:cNvSpPr/>
          <p:nvPr/>
        </p:nvSpPr>
        <p:spPr>
          <a:xfrm>
            <a:off x="755904" y="5437632"/>
            <a:ext cx="536448" cy="536448"/>
          </a:xfrm>
          <a:prstGeom prst="ellipse">
            <a:avLst/>
          </a:prstGeom>
          <a:solidFill>
            <a:srgbClr val="1B2A5E"/>
          </a:solid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5</a:t>
            </a:r>
            <a:endParaRPr lang="en-US" sz="2133" dirty="0"/>
          </a:p>
        </p:txBody>
      </p:sp>
      <p:sp>
        <p:nvSpPr>
          <p:cNvPr id="24" name="Text 21"/>
          <p:cNvSpPr txBox="1"/>
          <p:nvPr/>
        </p:nvSpPr>
        <p:spPr>
          <a:xfrm>
            <a:off x="1584960" y="5340096"/>
            <a:ext cx="6827520" cy="731520"/>
          </a:xfrm>
          <a:prstGeom prst="rect">
            <a:avLst/>
          </a:prstGeom>
          <a:noFill/>
          <a:ln/>
        </p:spPr>
        <p:txBody>
          <a:bodyPr wrap="square" lIns="0" tIns="0" rIns="0" bIns="0" rtlCol="0" anchor="ctr"/>
          <a:lstStyle/>
          <a:p>
            <a:r>
              <a:rPr lang="en-US" sz="2267" b="1" dirty="0">
                <a:solidFill>
                  <a:srgbClr val="1B2A5E"/>
                </a:solidFill>
                <a:latin typeface="Calibri" pitchFamily="34" charset="0"/>
                <a:ea typeface="Calibri" pitchFamily="34" charset="-122"/>
                <a:cs typeface="Calibri" pitchFamily="34" charset="-120"/>
              </a:rPr>
              <a:t>Hardware, plan, applications &amp; conclusion</a:t>
            </a:r>
            <a:endParaRPr lang="en-US" sz="2267" dirty="0"/>
          </a:p>
        </p:txBody>
      </p:sp>
      <p:sp>
        <p:nvSpPr>
          <p:cNvPr id="25" name="Text 22"/>
          <p:cNvSpPr txBox="1"/>
          <p:nvPr/>
        </p:nvSpPr>
        <p:spPr>
          <a:xfrm>
            <a:off x="8656320" y="5340096"/>
            <a:ext cx="2682240" cy="731520"/>
          </a:xfrm>
          <a:prstGeom prst="rect">
            <a:avLst/>
          </a:prstGeom>
          <a:noFill/>
          <a:ln/>
        </p:spPr>
        <p:txBody>
          <a:bodyPr wrap="square" lIns="0" tIns="0" rIns="0" bIns="0" rtlCol="0" anchor="ctr"/>
          <a:lstStyle/>
          <a:p>
            <a:pPr algn="r"/>
            <a:r>
              <a:rPr lang="en-US" sz="1867" dirty="0">
                <a:solidFill>
                  <a:srgbClr val="5B6577"/>
                </a:solidFill>
                <a:latin typeface="Calibri" pitchFamily="34" charset="0"/>
                <a:ea typeface="Calibri" pitchFamily="34" charset="-122"/>
                <a:cs typeface="Calibri" pitchFamily="34" charset="-120"/>
              </a:rPr>
              <a:t>Slides 13–17</a:t>
            </a:r>
            <a:endParaRPr lang="en-US" sz="1867" dirty="0"/>
          </a:p>
        </p:txBody>
      </p:sp>
      <p:sp>
        <p:nvSpPr>
          <p:cNvPr id="5" name="Slide Number Placeholder 0"/>
          <p:cNvSpPr>
            <a:spLocks noGrp="1"/>
          </p:cNvSpPr>
          <p:nvPr>
            <p:ph type="sldNum" sz="quarter" idx="4294967295"/>
          </p:nvPr>
        </p:nvSpPr>
        <p:spPr>
          <a:xfrm>
            <a:off x="10972800" y="6400800"/>
            <a:ext cx="609600" cy="304800"/>
          </a:xfrm>
          <a:prstGeom prst="rect">
            <a:avLst/>
          </a:prstGeom>
          <a:extLst>
            <a:ext uri="{C572A759-6A51-4108-AA02-DFA0A04FC94B}">
              <ma14:wrappingTextBoxFlag xmlns:ma14="http://schemas.microsoft.com/office/mac/drawingml/2011/main" xmlns="" val="0"/>
            </a:ext>
          </a:extLst>
        </p:spPr>
        <p:txBody>
          <a:bodyPr/>
          <a:lstStyle>
            <a:lvl1pPr>
              <a:defRPr sz="1333">
                <a:solidFill>
                  <a:srgbClr val="5B6577"/>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Introduction</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A two-link, two-joint planar arm whose end-effector (C) is commanded to follow a path</a:t>
            </a:r>
            <a:endParaRPr lang="en-US" sz="1600" dirty="0"/>
          </a:p>
        </p:txBody>
      </p:sp>
      <p:sp>
        <p:nvSpPr>
          <p:cNvPr id="5" name="Schematic Panel"/>
          <p:cNvSpPr/>
          <p:nvPr/>
        </p:nvSpPr>
        <p:spPr>
          <a:xfrm>
            <a:off x="548640" y="1508760"/>
            <a:ext cx="5394960" cy="4572000"/>
          </a:xfrm>
          <a:prstGeom prst="roundRect">
            <a:avLst>
              <a:gd name="adj" fmla="val 2000"/>
            </a:avLst>
          </a:prstGeom>
          <a:solidFill>
            <a:schemeClr val="bg2"/>
          </a:solidFill>
          <a:ln w="9525">
            <a:solidFill>
              <a:schemeClr val="accent6">
                <a:alpha val="45000"/>
              </a:schemeClr>
            </a:solidFill>
            <a:prstDash val="solid"/>
          </a:ln>
        </p:spPr>
      </p:sp>
      <p:pic>
        <p:nvPicPr>
          <p:cNvPr id="6" name="Image 0" descr="2-link planar arm schematic with base A, elbow B, end-effector C and angles theta1, theta2"/>
          <p:cNvPicPr>
            <a:picLocks noChangeAspect="1"/>
          </p:cNvPicPr>
          <p:nvPr/>
        </p:nvPicPr>
        <p:blipFill>
          <a:blip r:embed="rId3"/>
          <a:stretch>
            <a:fillRect/>
          </a:stretch>
        </p:blipFill>
        <p:spPr>
          <a:xfrm>
            <a:off x="731520" y="1989149"/>
            <a:ext cx="5029200" cy="3154022"/>
          </a:xfrm>
          <a:prstGeom prst="rect">
            <a:avLst/>
          </a:prstGeom>
        </p:spPr>
      </p:pic>
      <p:sp>
        <p:nvSpPr>
          <p:cNvPr id="7" name="Schematic Caption"/>
          <p:cNvSpPr txBox="1"/>
          <p:nvPr/>
        </p:nvSpPr>
        <p:spPr>
          <a:xfrm>
            <a:off x="731520" y="5559552"/>
            <a:ext cx="5029200" cy="274320"/>
          </a:xfrm>
          <a:prstGeom prst="rect">
            <a:avLst/>
          </a:prstGeom>
          <a:noFill/>
          <a:ln/>
        </p:spPr>
        <p:txBody>
          <a:bodyPr wrap="square" lIns="0" tIns="0" rIns="0" bIns="0" rtlCol="0" anchor="t"/>
          <a:lstStyle/>
          <a:p>
            <a:pPr marL="0" indent="0" algn="ctr">
              <a:buNone/>
            </a:pPr>
            <a:r>
              <a:rPr lang="en-US" sz="1200" i="1" dirty="0">
                <a:solidFill>
                  <a:schemeClr val="accent6"/>
                </a:solidFill>
              </a:rPr>
              <a:t>Two-link planar arm: base A, elbow B, end-effector C</a:t>
            </a:r>
            <a:endParaRPr lang="en-US" sz="1200" dirty="0"/>
          </a:p>
        </p:txBody>
      </p:sp>
      <p:sp>
        <p:nvSpPr>
          <p:cNvPr id="8" name="Component Card Link AB"/>
          <p:cNvSpPr/>
          <p:nvPr/>
        </p:nvSpPr>
        <p:spPr>
          <a:xfrm>
            <a:off x="6309360" y="1508760"/>
            <a:ext cx="5330952" cy="822960"/>
          </a:xfrm>
          <a:prstGeom prst="roundRect">
            <a:avLst>
              <a:gd name="adj" fmla="val 11111"/>
            </a:avLst>
          </a:prstGeom>
          <a:solidFill>
            <a:schemeClr val="bg2"/>
          </a:solidFill>
          <a:ln w="9525">
            <a:solidFill>
              <a:schemeClr val="accent6">
                <a:alpha val="45000"/>
              </a:schemeClr>
            </a:solidFill>
            <a:prstDash val="solid"/>
          </a:ln>
        </p:spPr>
      </p:sp>
      <p:sp>
        <p:nvSpPr>
          <p:cNvPr id="9" name="IconBadge FaRuler"/>
          <p:cNvSpPr/>
          <p:nvPr/>
        </p:nvSpPr>
        <p:spPr>
          <a:xfrm>
            <a:off x="6446520" y="1636776"/>
            <a:ext cx="566928" cy="566928"/>
          </a:xfrm>
          <a:prstGeom prst="ellipse">
            <a:avLst/>
          </a:prstGeom>
          <a:solidFill>
            <a:schemeClr val="accent1"/>
          </a:solidFill>
          <a:ln w="12700">
            <a:solidFill>
              <a:schemeClr val="accent1"/>
            </a:solidFill>
            <a:prstDash val="solid"/>
          </a:ln>
        </p:spPr>
      </p:sp>
      <p:pic>
        <p:nvPicPr>
          <p:cNvPr id="10" name="Image 1" descr="FaRuler icon"/>
          <p:cNvPicPr>
            <a:picLocks noChangeAspect="1"/>
          </p:cNvPicPr>
          <p:nvPr/>
        </p:nvPicPr>
        <p:blipFill>
          <a:blip r:embed="rId4"/>
          <a:stretch>
            <a:fillRect/>
          </a:stretch>
        </p:blipFill>
        <p:spPr>
          <a:xfrm>
            <a:off x="6588252" y="1778508"/>
            <a:ext cx="283464" cy="283464"/>
          </a:xfrm>
          <a:prstGeom prst="rect">
            <a:avLst/>
          </a:prstGeom>
        </p:spPr>
      </p:pic>
      <p:sp>
        <p:nvSpPr>
          <p:cNvPr id="11" name="Component Name Link AB"/>
          <p:cNvSpPr txBox="1"/>
          <p:nvPr/>
        </p:nvSpPr>
        <p:spPr>
          <a:xfrm>
            <a:off x="7178040" y="1618488"/>
            <a:ext cx="4297680" cy="274320"/>
          </a:xfrm>
          <a:prstGeom prst="rect">
            <a:avLst/>
          </a:prstGeom>
          <a:noFill/>
          <a:ln/>
        </p:spPr>
        <p:txBody>
          <a:bodyPr wrap="square" lIns="0" tIns="0" rIns="0" bIns="0" rtlCol="0" anchor="t"/>
          <a:lstStyle/>
          <a:p>
            <a:pPr marL="0" indent="0">
              <a:buNone/>
            </a:pPr>
            <a:r>
              <a:rPr lang="en-US" sz="1600" b="1" dirty="0">
                <a:solidFill>
                  <a:schemeClr val="tx2"/>
                </a:solidFill>
              </a:rPr>
              <a:t>Link AB</a:t>
            </a:r>
            <a:endParaRPr lang="en-US" sz="1600" dirty="0"/>
          </a:p>
        </p:txBody>
      </p:sp>
      <p:sp>
        <p:nvSpPr>
          <p:cNvPr id="12" name="Component Desc Link AB"/>
          <p:cNvSpPr txBox="1"/>
          <p:nvPr/>
        </p:nvSpPr>
        <p:spPr>
          <a:xfrm>
            <a:off x="7178040" y="1929384"/>
            <a:ext cx="4297680" cy="274320"/>
          </a:xfrm>
          <a:prstGeom prst="rect">
            <a:avLst/>
          </a:prstGeom>
          <a:noFill/>
          <a:ln/>
        </p:spPr>
        <p:txBody>
          <a:bodyPr wrap="square" lIns="0" tIns="0" rIns="0" bIns="0" rtlCol="0" anchor="t"/>
          <a:lstStyle/>
          <a:p>
            <a:pPr marL="0" indent="0">
              <a:buNone/>
            </a:pPr>
            <a:r>
              <a:rPr lang="en-US" sz="1400" dirty="0">
                <a:solidFill>
                  <a:schemeClr val="tx1"/>
                </a:solidFill>
              </a:rPr>
              <a:t>Rotates about fixed joint A (Motor 1 at centre).</a:t>
            </a:r>
            <a:endParaRPr lang="en-US" sz="1400" dirty="0"/>
          </a:p>
        </p:txBody>
      </p:sp>
      <p:sp>
        <p:nvSpPr>
          <p:cNvPr id="13" name="Component Card Link BC"/>
          <p:cNvSpPr/>
          <p:nvPr/>
        </p:nvSpPr>
        <p:spPr>
          <a:xfrm>
            <a:off x="6309360" y="2441448"/>
            <a:ext cx="5330952" cy="822960"/>
          </a:xfrm>
          <a:prstGeom prst="roundRect">
            <a:avLst>
              <a:gd name="adj" fmla="val 11111"/>
            </a:avLst>
          </a:prstGeom>
          <a:solidFill>
            <a:schemeClr val="bg2"/>
          </a:solidFill>
          <a:ln w="9525">
            <a:solidFill>
              <a:schemeClr val="accent6">
                <a:alpha val="45000"/>
              </a:schemeClr>
            </a:solidFill>
            <a:prstDash val="solid"/>
          </a:ln>
        </p:spPr>
      </p:sp>
      <p:sp>
        <p:nvSpPr>
          <p:cNvPr id="14" name="IconBadge FaRuler"/>
          <p:cNvSpPr/>
          <p:nvPr/>
        </p:nvSpPr>
        <p:spPr>
          <a:xfrm>
            <a:off x="6446520" y="2569464"/>
            <a:ext cx="566928" cy="566928"/>
          </a:xfrm>
          <a:prstGeom prst="ellipse">
            <a:avLst/>
          </a:prstGeom>
          <a:solidFill>
            <a:schemeClr val="accent2"/>
          </a:solidFill>
          <a:ln w="12700">
            <a:solidFill>
              <a:schemeClr val="accent2"/>
            </a:solidFill>
            <a:prstDash val="solid"/>
          </a:ln>
        </p:spPr>
      </p:sp>
      <p:pic>
        <p:nvPicPr>
          <p:cNvPr id="15" name="Image 2" descr="FaRuler icon"/>
          <p:cNvPicPr>
            <a:picLocks noChangeAspect="1"/>
          </p:cNvPicPr>
          <p:nvPr/>
        </p:nvPicPr>
        <p:blipFill>
          <a:blip r:embed="rId4"/>
          <a:stretch>
            <a:fillRect/>
          </a:stretch>
        </p:blipFill>
        <p:spPr>
          <a:xfrm>
            <a:off x="6588252" y="2711196"/>
            <a:ext cx="283464" cy="283464"/>
          </a:xfrm>
          <a:prstGeom prst="rect">
            <a:avLst/>
          </a:prstGeom>
        </p:spPr>
      </p:pic>
      <p:sp>
        <p:nvSpPr>
          <p:cNvPr id="16" name="Component Name Link BC"/>
          <p:cNvSpPr txBox="1"/>
          <p:nvPr/>
        </p:nvSpPr>
        <p:spPr>
          <a:xfrm>
            <a:off x="7178040" y="2551176"/>
            <a:ext cx="4297680" cy="274320"/>
          </a:xfrm>
          <a:prstGeom prst="rect">
            <a:avLst/>
          </a:prstGeom>
          <a:noFill/>
          <a:ln/>
        </p:spPr>
        <p:txBody>
          <a:bodyPr wrap="square" lIns="0" tIns="0" rIns="0" bIns="0" rtlCol="0" anchor="t"/>
          <a:lstStyle/>
          <a:p>
            <a:pPr marL="0" indent="0">
              <a:buNone/>
            </a:pPr>
            <a:r>
              <a:rPr lang="en-US" sz="1600" b="1" dirty="0">
                <a:solidFill>
                  <a:schemeClr val="tx2"/>
                </a:solidFill>
              </a:rPr>
              <a:t>Link BC</a:t>
            </a:r>
            <a:endParaRPr lang="en-US" sz="1600" dirty="0"/>
          </a:p>
        </p:txBody>
      </p:sp>
      <p:sp>
        <p:nvSpPr>
          <p:cNvPr id="17" name="Component Desc Link BC"/>
          <p:cNvSpPr txBox="1"/>
          <p:nvPr/>
        </p:nvSpPr>
        <p:spPr>
          <a:xfrm>
            <a:off x="7178040" y="2862072"/>
            <a:ext cx="4297680" cy="274320"/>
          </a:xfrm>
          <a:prstGeom prst="rect">
            <a:avLst/>
          </a:prstGeom>
          <a:noFill/>
          <a:ln/>
        </p:spPr>
        <p:txBody>
          <a:bodyPr wrap="square" lIns="0" tIns="0" rIns="0" bIns="0" rtlCol="0" anchor="t"/>
          <a:lstStyle/>
          <a:p>
            <a:pPr marL="0" indent="0">
              <a:buNone/>
            </a:pPr>
            <a:r>
              <a:rPr lang="en-US" sz="1400" dirty="0">
                <a:solidFill>
                  <a:schemeClr val="tx1"/>
                </a:solidFill>
              </a:rPr>
              <a:t>Rotates about moving joint B (Motor 2 at centre).</a:t>
            </a:r>
            <a:endParaRPr lang="en-US" sz="1400" dirty="0"/>
          </a:p>
        </p:txBody>
      </p:sp>
      <p:sp>
        <p:nvSpPr>
          <p:cNvPr id="18" name="Component Card Joint A"/>
          <p:cNvSpPr/>
          <p:nvPr/>
        </p:nvSpPr>
        <p:spPr>
          <a:xfrm>
            <a:off x="6309360" y="3374136"/>
            <a:ext cx="5330952" cy="822960"/>
          </a:xfrm>
          <a:prstGeom prst="roundRect">
            <a:avLst>
              <a:gd name="adj" fmla="val 11111"/>
            </a:avLst>
          </a:prstGeom>
          <a:solidFill>
            <a:schemeClr val="bg2"/>
          </a:solidFill>
          <a:ln w="9525">
            <a:solidFill>
              <a:schemeClr val="accent6">
                <a:alpha val="45000"/>
              </a:schemeClr>
            </a:solidFill>
            <a:prstDash val="solid"/>
          </a:ln>
        </p:spPr>
      </p:sp>
      <p:sp>
        <p:nvSpPr>
          <p:cNvPr id="19" name="IconBadge FaCogs"/>
          <p:cNvSpPr/>
          <p:nvPr/>
        </p:nvSpPr>
        <p:spPr>
          <a:xfrm>
            <a:off x="6446520" y="3502152"/>
            <a:ext cx="566928" cy="566928"/>
          </a:xfrm>
          <a:prstGeom prst="ellipse">
            <a:avLst/>
          </a:prstGeom>
          <a:solidFill>
            <a:schemeClr val="accent1"/>
          </a:solidFill>
          <a:ln w="12700">
            <a:solidFill>
              <a:schemeClr val="accent1"/>
            </a:solidFill>
            <a:prstDash val="solid"/>
          </a:ln>
        </p:spPr>
      </p:sp>
      <p:pic>
        <p:nvPicPr>
          <p:cNvPr id="20" name="Image 3" descr="FaCogs icon"/>
          <p:cNvPicPr>
            <a:picLocks noChangeAspect="1"/>
          </p:cNvPicPr>
          <p:nvPr/>
        </p:nvPicPr>
        <p:blipFill>
          <a:blip r:embed="rId5"/>
          <a:stretch>
            <a:fillRect/>
          </a:stretch>
        </p:blipFill>
        <p:spPr>
          <a:xfrm>
            <a:off x="6588252" y="3643884"/>
            <a:ext cx="283464" cy="283464"/>
          </a:xfrm>
          <a:prstGeom prst="rect">
            <a:avLst/>
          </a:prstGeom>
        </p:spPr>
      </p:pic>
      <p:sp>
        <p:nvSpPr>
          <p:cNvPr id="21" name="Component Name Joint A"/>
          <p:cNvSpPr txBox="1"/>
          <p:nvPr/>
        </p:nvSpPr>
        <p:spPr>
          <a:xfrm>
            <a:off x="7178040" y="3483864"/>
            <a:ext cx="4297680" cy="274320"/>
          </a:xfrm>
          <a:prstGeom prst="rect">
            <a:avLst/>
          </a:prstGeom>
          <a:noFill/>
          <a:ln/>
        </p:spPr>
        <p:txBody>
          <a:bodyPr wrap="square" lIns="0" tIns="0" rIns="0" bIns="0" rtlCol="0" anchor="t"/>
          <a:lstStyle/>
          <a:p>
            <a:pPr marL="0" indent="0">
              <a:buNone/>
            </a:pPr>
            <a:r>
              <a:rPr lang="en-US" sz="1600" b="1" dirty="0">
                <a:solidFill>
                  <a:schemeClr val="tx2"/>
                </a:solidFill>
              </a:rPr>
              <a:t>Joint A</a:t>
            </a:r>
            <a:endParaRPr lang="en-US" sz="1600" dirty="0"/>
          </a:p>
        </p:txBody>
      </p:sp>
      <p:sp>
        <p:nvSpPr>
          <p:cNvPr id="22" name="Component Desc Joint A"/>
          <p:cNvSpPr txBox="1"/>
          <p:nvPr/>
        </p:nvSpPr>
        <p:spPr>
          <a:xfrm>
            <a:off x="7178040" y="3794760"/>
            <a:ext cx="4297680" cy="274320"/>
          </a:xfrm>
          <a:prstGeom prst="rect">
            <a:avLst/>
          </a:prstGeom>
          <a:noFill/>
          <a:ln/>
        </p:spPr>
        <p:txBody>
          <a:bodyPr wrap="square" lIns="0" tIns="0" rIns="0" bIns="0" rtlCol="0" anchor="t"/>
          <a:lstStyle/>
          <a:p>
            <a:pPr marL="0" indent="0">
              <a:buNone/>
            </a:pPr>
            <a:r>
              <a:rPr lang="en-US" sz="1400" dirty="0">
                <a:solidFill>
                  <a:schemeClr val="tx1"/>
                </a:solidFill>
              </a:rPr>
              <a:t>Fixed base joint; sets arm orientation, angle θ₁.</a:t>
            </a:r>
            <a:endParaRPr lang="en-US" sz="1400" dirty="0"/>
          </a:p>
        </p:txBody>
      </p:sp>
      <p:sp>
        <p:nvSpPr>
          <p:cNvPr id="23" name="Component Card Joint B"/>
          <p:cNvSpPr/>
          <p:nvPr/>
        </p:nvSpPr>
        <p:spPr>
          <a:xfrm>
            <a:off x="6309360" y="4306824"/>
            <a:ext cx="5330952" cy="822960"/>
          </a:xfrm>
          <a:prstGeom prst="roundRect">
            <a:avLst>
              <a:gd name="adj" fmla="val 11111"/>
            </a:avLst>
          </a:prstGeom>
          <a:solidFill>
            <a:schemeClr val="bg2"/>
          </a:solidFill>
          <a:ln w="9525">
            <a:solidFill>
              <a:schemeClr val="accent6">
                <a:alpha val="45000"/>
              </a:schemeClr>
            </a:solidFill>
            <a:prstDash val="solid"/>
          </a:ln>
        </p:spPr>
      </p:sp>
      <p:sp>
        <p:nvSpPr>
          <p:cNvPr id="24" name="IconBadge FaCogs"/>
          <p:cNvSpPr/>
          <p:nvPr/>
        </p:nvSpPr>
        <p:spPr>
          <a:xfrm>
            <a:off x="6446520" y="4434840"/>
            <a:ext cx="566928" cy="566928"/>
          </a:xfrm>
          <a:prstGeom prst="ellipse">
            <a:avLst/>
          </a:prstGeom>
          <a:solidFill>
            <a:schemeClr val="accent2"/>
          </a:solidFill>
          <a:ln w="12700">
            <a:solidFill>
              <a:schemeClr val="accent2"/>
            </a:solidFill>
            <a:prstDash val="solid"/>
          </a:ln>
        </p:spPr>
      </p:sp>
      <p:pic>
        <p:nvPicPr>
          <p:cNvPr id="25" name="Image 4" descr="FaCogs icon"/>
          <p:cNvPicPr>
            <a:picLocks noChangeAspect="1"/>
          </p:cNvPicPr>
          <p:nvPr/>
        </p:nvPicPr>
        <p:blipFill>
          <a:blip r:embed="rId5"/>
          <a:stretch>
            <a:fillRect/>
          </a:stretch>
        </p:blipFill>
        <p:spPr>
          <a:xfrm>
            <a:off x="6588252" y="4576572"/>
            <a:ext cx="283464" cy="283464"/>
          </a:xfrm>
          <a:prstGeom prst="rect">
            <a:avLst/>
          </a:prstGeom>
        </p:spPr>
      </p:pic>
      <p:sp>
        <p:nvSpPr>
          <p:cNvPr id="26" name="Component Name Joint B"/>
          <p:cNvSpPr txBox="1"/>
          <p:nvPr/>
        </p:nvSpPr>
        <p:spPr>
          <a:xfrm>
            <a:off x="7178040" y="4416552"/>
            <a:ext cx="4297680" cy="274320"/>
          </a:xfrm>
          <a:prstGeom prst="rect">
            <a:avLst/>
          </a:prstGeom>
          <a:noFill/>
          <a:ln/>
        </p:spPr>
        <p:txBody>
          <a:bodyPr wrap="square" lIns="0" tIns="0" rIns="0" bIns="0" rtlCol="0" anchor="t"/>
          <a:lstStyle/>
          <a:p>
            <a:pPr marL="0" indent="0">
              <a:buNone/>
            </a:pPr>
            <a:r>
              <a:rPr lang="en-US" sz="1600" b="1" dirty="0">
                <a:solidFill>
                  <a:schemeClr val="tx2"/>
                </a:solidFill>
              </a:rPr>
              <a:t>Joint B</a:t>
            </a:r>
            <a:endParaRPr lang="en-US" sz="1600" dirty="0"/>
          </a:p>
        </p:txBody>
      </p:sp>
      <p:sp>
        <p:nvSpPr>
          <p:cNvPr id="27" name="Component Desc Joint B"/>
          <p:cNvSpPr txBox="1"/>
          <p:nvPr/>
        </p:nvSpPr>
        <p:spPr>
          <a:xfrm>
            <a:off x="7178040" y="4727448"/>
            <a:ext cx="4297680" cy="274320"/>
          </a:xfrm>
          <a:prstGeom prst="rect">
            <a:avLst/>
          </a:prstGeom>
          <a:noFill/>
          <a:ln/>
        </p:spPr>
        <p:txBody>
          <a:bodyPr wrap="square" lIns="0" tIns="0" rIns="0" bIns="0" rtlCol="0" anchor="t"/>
          <a:lstStyle/>
          <a:p>
            <a:pPr marL="0" indent="0">
              <a:buNone/>
            </a:pPr>
            <a:r>
              <a:rPr lang="en-US" sz="1400" dirty="0">
                <a:solidFill>
                  <a:schemeClr val="tx1"/>
                </a:solidFill>
              </a:rPr>
              <a:t>Elbow joint; sets relative bend of link 2, angle θ₂.</a:t>
            </a:r>
            <a:endParaRPr lang="en-US" sz="1400" dirty="0"/>
          </a:p>
        </p:txBody>
      </p:sp>
      <p:sp>
        <p:nvSpPr>
          <p:cNvPr id="28" name="Component Card Point C"/>
          <p:cNvSpPr/>
          <p:nvPr/>
        </p:nvSpPr>
        <p:spPr>
          <a:xfrm>
            <a:off x="6309360" y="5239512"/>
            <a:ext cx="5330952" cy="822960"/>
          </a:xfrm>
          <a:prstGeom prst="roundRect">
            <a:avLst>
              <a:gd name="adj" fmla="val 11111"/>
            </a:avLst>
          </a:prstGeom>
          <a:solidFill>
            <a:schemeClr val="bg2"/>
          </a:solidFill>
          <a:ln w="9525">
            <a:solidFill>
              <a:schemeClr val="accent6">
                <a:alpha val="45000"/>
              </a:schemeClr>
            </a:solidFill>
            <a:prstDash val="solid"/>
          </a:ln>
        </p:spPr>
      </p:sp>
      <p:sp>
        <p:nvSpPr>
          <p:cNvPr id="29" name="IconBadge FaCrosshairs"/>
          <p:cNvSpPr/>
          <p:nvPr/>
        </p:nvSpPr>
        <p:spPr>
          <a:xfrm>
            <a:off x="6446520" y="5367528"/>
            <a:ext cx="566928" cy="566928"/>
          </a:xfrm>
          <a:prstGeom prst="ellipse">
            <a:avLst/>
          </a:prstGeom>
          <a:solidFill>
            <a:schemeClr val="accent3"/>
          </a:solidFill>
          <a:ln w="12700">
            <a:solidFill>
              <a:schemeClr val="accent3"/>
            </a:solidFill>
            <a:prstDash val="solid"/>
          </a:ln>
        </p:spPr>
      </p:sp>
      <p:pic>
        <p:nvPicPr>
          <p:cNvPr id="30" name="Image 5" descr="FaCrosshairs icon"/>
          <p:cNvPicPr>
            <a:picLocks noChangeAspect="1"/>
          </p:cNvPicPr>
          <p:nvPr/>
        </p:nvPicPr>
        <p:blipFill>
          <a:blip r:embed="rId6"/>
          <a:stretch>
            <a:fillRect/>
          </a:stretch>
        </p:blipFill>
        <p:spPr>
          <a:xfrm>
            <a:off x="6588252" y="5509260"/>
            <a:ext cx="283464" cy="283464"/>
          </a:xfrm>
          <a:prstGeom prst="rect">
            <a:avLst/>
          </a:prstGeom>
        </p:spPr>
      </p:pic>
      <p:sp>
        <p:nvSpPr>
          <p:cNvPr id="31" name="Component Name Point C"/>
          <p:cNvSpPr txBox="1"/>
          <p:nvPr/>
        </p:nvSpPr>
        <p:spPr>
          <a:xfrm>
            <a:off x="7178040" y="5349240"/>
            <a:ext cx="4297680" cy="274320"/>
          </a:xfrm>
          <a:prstGeom prst="rect">
            <a:avLst/>
          </a:prstGeom>
          <a:noFill/>
          <a:ln/>
        </p:spPr>
        <p:txBody>
          <a:bodyPr wrap="square" lIns="0" tIns="0" rIns="0" bIns="0" rtlCol="0" anchor="t"/>
          <a:lstStyle/>
          <a:p>
            <a:pPr marL="0" indent="0">
              <a:buNone/>
            </a:pPr>
            <a:r>
              <a:rPr lang="en-US" sz="1600" b="1" dirty="0">
                <a:solidFill>
                  <a:schemeClr val="tx2"/>
                </a:solidFill>
              </a:rPr>
              <a:t>Point C</a:t>
            </a:r>
            <a:endParaRPr lang="en-US" sz="1600" dirty="0"/>
          </a:p>
        </p:txBody>
      </p:sp>
      <p:sp>
        <p:nvSpPr>
          <p:cNvPr id="32" name="Component Desc Point C"/>
          <p:cNvSpPr txBox="1"/>
          <p:nvPr/>
        </p:nvSpPr>
        <p:spPr>
          <a:xfrm>
            <a:off x="7178040" y="5660136"/>
            <a:ext cx="4297680" cy="274320"/>
          </a:xfrm>
          <a:prstGeom prst="rect">
            <a:avLst/>
          </a:prstGeom>
          <a:noFill/>
          <a:ln/>
        </p:spPr>
        <p:txBody>
          <a:bodyPr wrap="square" lIns="0" tIns="0" rIns="0" bIns="0" rtlCol="0" anchor="t"/>
          <a:lstStyle/>
          <a:p>
            <a:pPr marL="0" indent="0">
              <a:buNone/>
            </a:pPr>
            <a:r>
              <a:rPr lang="en-US" sz="1400" dirty="0">
                <a:solidFill>
                  <a:schemeClr val="tx1"/>
                </a:solidFill>
              </a:rPr>
              <a:t>End-effector; its (x, y) position is what we control.</a:t>
            </a:r>
            <a:endParaRPr lang="en-US" sz="1400" dirty="0"/>
          </a:p>
        </p:txBody>
      </p:sp>
      <p:sp>
        <p:nvSpPr>
          <p:cNvPr id="4"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Introduction (contd.)</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Motion allowed, controllable parameters and forward kinematics</a:t>
            </a:r>
            <a:endParaRPr lang="en-US" sz="1600" dirty="0"/>
          </a:p>
        </p:txBody>
      </p:sp>
      <p:sp>
        <p:nvSpPr>
          <p:cNvPr id="5" name="Motion Heading"/>
          <p:cNvSpPr txBox="1"/>
          <p:nvPr/>
        </p:nvSpPr>
        <p:spPr>
          <a:xfrm>
            <a:off x="548640" y="1481328"/>
            <a:ext cx="5394960" cy="320040"/>
          </a:xfrm>
          <a:prstGeom prst="rect">
            <a:avLst/>
          </a:prstGeom>
          <a:noFill/>
          <a:ln/>
        </p:spPr>
        <p:txBody>
          <a:bodyPr wrap="square" lIns="0" tIns="0" rIns="0" bIns="0" rtlCol="0" anchor="t"/>
          <a:lstStyle/>
          <a:p>
            <a:pPr marL="0" indent="0">
              <a:buNone/>
            </a:pPr>
            <a:r>
              <a:rPr lang="en-US" sz="1800" b="1" dirty="0">
                <a:solidFill>
                  <a:schemeClr val="tx2"/>
                </a:solidFill>
              </a:rPr>
              <a:t>Motion allowed</a:t>
            </a:r>
            <a:endParaRPr lang="en-US" sz="1800" dirty="0"/>
          </a:p>
        </p:txBody>
      </p:sp>
      <p:sp>
        <p:nvSpPr>
          <p:cNvPr id="6" name="Motion Card AB"/>
          <p:cNvSpPr/>
          <p:nvPr/>
        </p:nvSpPr>
        <p:spPr>
          <a:xfrm>
            <a:off x="548640" y="1874520"/>
            <a:ext cx="2606040" cy="1417320"/>
          </a:xfrm>
          <a:prstGeom prst="roundRect">
            <a:avLst>
              <a:gd name="adj" fmla="val 6452"/>
            </a:avLst>
          </a:prstGeom>
          <a:solidFill>
            <a:schemeClr val="accent1"/>
          </a:solidFill>
          <a:ln w="12700">
            <a:solidFill>
              <a:schemeClr val="accent1"/>
            </a:solidFill>
            <a:prstDash val="solid"/>
          </a:ln>
        </p:spPr>
      </p:sp>
      <p:sp>
        <p:nvSpPr>
          <p:cNvPr id="7" name="Motion Link AB"/>
          <p:cNvSpPr txBox="1"/>
          <p:nvPr/>
        </p:nvSpPr>
        <p:spPr>
          <a:xfrm>
            <a:off x="731520" y="1965960"/>
            <a:ext cx="1097280" cy="457200"/>
          </a:xfrm>
          <a:prstGeom prst="rect">
            <a:avLst/>
          </a:prstGeom>
          <a:noFill/>
          <a:ln/>
        </p:spPr>
        <p:txBody>
          <a:bodyPr wrap="square" lIns="0" tIns="0" rIns="0" bIns="0" rtlCol="0" anchor="t"/>
          <a:lstStyle/>
          <a:p>
            <a:pPr marL="0" indent="0">
              <a:buNone/>
            </a:pPr>
            <a:r>
              <a:rPr lang="en-US" sz="2800" b="1" dirty="0">
                <a:solidFill>
                  <a:schemeClr val="bg1"/>
                </a:solidFill>
                <a:latin typeface="+mj-lt" pitchFamily="34" charset="0"/>
                <a:ea typeface="+mj-lt" pitchFamily="34" charset="-122"/>
                <a:cs typeface="+mj-lt" pitchFamily="34" charset="-120"/>
              </a:rPr>
              <a:t>AB</a:t>
            </a:r>
            <a:endParaRPr lang="en-US" sz="2800" dirty="0"/>
          </a:p>
        </p:txBody>
      </p:sp>
      <p:sp>
        <p:nvSpPr>
          <p:cNvPr id="8" name="Motion Desc AB"/>
          <p:cNvSpPr txBox="1"/>
          <p:nvPr/>
        </p:nvSpPr>
        <p:spPr>
          <a:xfrm>
            <a:off x="731520" y="2468880"/>
            <a:ext cx="2240280" cy="731520"/>
          </a:xfrm>
          <a:prstGeom prst="rect">
            <a:avLst/>
          </a:prstGeom>
          <a:noFill/>
          <a:ln/>
        </p:spPr>
        <p:txBody>
          <a:bodyPr wrap="square" lIns="0" tIns="0" rIns="0" bIns="0" rtlCol="0" anchor="t"/>
          <a:lstStyle/>
          <a:p>
            <a:pPr marL="0" indent="0">
              <a:buNone/>
            </a:pPr>
            <a:r>
              <a:rPr lang="en-US" sz="1400" dirty="0">
                <a:solidFill>
                  <a:schemeClr val="bg1"/>
                </a:solidFill>
              </a:rPr>
              <a:t>Circular motion with A as the fixed centre of rotation</a:t>
            </a:r>
            <a:endParaRPr lang="en-US" sz="1400" dirty="0"/>
          </a:p>
        </p:txBody>
      </p:sp>
      <p:sp>
        <p:nvSpPr>
          <p:cNvPr id="9" name="Motion Card BC"/>
          <p:cNvSpPr/>
          <p:nvPr/>
        </p:nvSpPr>
        <p:spPr>
          <a:xfrm>
            <a:off x="3337560" y="1874520"/>
            <a:ext cx="2606040" cy="1417320"/>
          </a:xfrm>
          <a:prstGeom prst="roundRect">
            <a:avLst>
              <a:gd name="adj" fmla="val 6452"/>
            </a:avLst>
          </a:prstGeom>
          <a:solidFill>
            <a:schemeClr val="accent2"/>
          </a:solidFill>
          <a:ln w="12700">
            <a:solidFill>
              <a:schemeClr val="accent2"/>
            </a:solidFill>
            <a:prstDash val="solid"/>
          </a:ln>
        </p:spPr>
      </p:sp>
      <p:sp>
        <p:nvSpPr>
          <p:cNvPr id="10" name="Motion Link BC"/>
          <p:cNvSpPr txBox="1"/>
          <p:nvPr/>
        </p:nvSpPr>
        <p:spPr>
          <a:xfrm>
            <a:off x="3520440" y="1965960"/>
            <a:ext cx="1097280" cy="457200"/>
          </a:xfrm>
          <a:prstGeom prst="rect">
            <a:avLst/>
          </a:prstGeom>
          <a:noFill/>
          <a:ln/>
        </p:spPr>
        <p:txBody>
          <a:bodyPr wrap="square" lIns="0" tIns="0" rIns="0" bIns="0" rtlCol="0" anchor="t"/>
          <a:lstStyle/>
          <a:p>
            <a:pPr marL="0" indent="0">
              <a:buNone/>
            </a:pPr>
            <a:r>
              <a:rPr lang="en-US" sz="2800" b="1" dirty="0">
                <a:solidFill>
                  <a:schemeClr val="bg1"/>
                </a:solidFill>
                <a:latin typeface="+mj-lt" pitchFamily="34" charset="0"/>
                <a:ea typeface="+mj-lt" pitchFamily="34" charset="-122"/>
                <a:cs typeface="+mj-lt" pitchFamily="34" charset="-120"/>
              </a:rPr>
              <a:t>BC</a:t>
            </a:r>
            <a:endParaRPr lang="en-US" sz="2800" dirty="0"/>
          </a:p>
        </p:txBody>
      </p:sp>
      <p:sp>
        <p:nvSpPr>
          <p:cNvPr id="11" name="Motion Desc BC"/>
          <p:cNvSpPr txBox="1"/>
          <p:nvPr/>
        </p:nvSpPr>
        <p:spPr>
          <a:xfrm>
            <a:off x="3520440" y="2468880"/>
            <a:ext cx="2240280" cy="731520"/>
          </a:xfrm>
          <a:prstGeom prst="rect">
            <a:avLst/>
          </a:prstGeom>
          <a:noFill/>
          <a:ln/>
        </p:spPr>
        <p:txBody>
          <a:bodyPr wrap="square" lIns="0" tIns="0" rIns="0" bIns="0" rtlCol="0" anchor="t"/>
          <a:lstStyle/>
          <a:p>
            <a:pPr marL="0" indent="0">
              <a:buNone/>
            </a:pPr>
            <a:r>
              <a:rPr lang="en-US" sz="1400" dirty="0">
                <a:solidFill>
                  <a:schemeClr val="bg1"/>
                </a:solidFill>
              </a:rPr>
              <a:t>Circular motion with B as the (moving) centre of rotation</a:t>
            </a:r>
            <a:endParaRPr lang="en-US" sz="1400" dirty="0"/>
          </a:p>
        </p:txBody>
      </p:sp>
      <p:sp>
        <p:nvSpPr>
          <p:cNvPr id="12" name="Control Heading"/>
          <p:cNvSpPr txBox="1"/>
          <p:nvPr/>
        </p:nvSpPr>
        <p:spPr>
          <a:xfrm>
            <a:off x="548640" y="3566160"/>
            <a:ext cx="5394960" cy="320040"/>
          </a:xfrm>
          <a:prstGeom prst="rect">
            <a:avLst/>
          </a:prstGeom>
          <a:noFill/>
          <a:ln/>
        </p:spPr>
        <p:txBody>
          <a:bodyPr wrap="square" lIns="0" tIns="0" rIns="0" bIns="0" rtlCol="0" anchor="t"/>
          <a:lstStyle/>
          <a:p>
            <a:pPr marL="0" indent="0">
              <a:buNone/>
            </a:pPr>
            <a:r>
              <a:rPr lang="en-US" sz="1800" b="1" dirty="0">
                <a:solidFill>
                  <a:schemeClr val="tx2"/>
                </a:solidFill>
              </a:rPr>
              <a:t>We can independently control</a:t>
            </a:r>
            <a:endParaRPr lang="en-US" sz="1800" dirty="0"/>
          </a:p>
        </p:txBody>
      </p:sp>
      <p:sp>
        <p:nvSpPr>
          <p:cNvPr id="13" name="Control Chip 1"/>
          <p:cNvSpPr/>
          <p:nvPr/>
        </p:nvSpPr>
        <p:spPr>
          <a:xfrm>
            <a:off x="548640" y="3977640"/>
            <a:ext cx="2606040" cy="594360"/>
          </a:xfrm>
          <a:prstGeom prst="roundRect">
            <a:avLst>
              <a:gd name="adj" fmla="val 15385"/>
            </a:avLst>
          </a:prstGeom>
          <a:solidFill>
            <a:schemeClr val="bg2"/>
          </a:solidFill>
          <a:ln w="9525">
            <a:solidFill>
              <a:schemeClr val="accent6">
                <a:alpha val="45000"/>
              </a:schemeClr>
            </a:solidFill>
            <a:prstDash val="solid"/>
          </a:ln>
        </p:spPr>
      </p:sp>
      <p:sp>
        <p:nvSpPr>
          <p:cNvPr id="14" name="Chip Badge 1"/>
          <p:cNvSpPr/>
          <p:nvPr/>
        </p:nvSpPr>
        <p:spPr>
          <a:xfrm>
            <a:off x="658368" y="4087368"/>
            <a:ext cx="374904" cy="374904"/>
          </a:xfrm>
          <a:prstGeom prst="ellipse">
            <a:avLst/>
          </a:prstGeom>
          <a:solidFill>
            <a:schemeClr val="accent1"/>
          </a:solidFill>
          <a:ln w="12700">
            <a:solidFill>
              <a:schemeClr val="accent1"/>
            </a:solidFill>
            <a:prstDash val="solid"/>
          </a:ln>
        </p:spPr>
      </p:sp>
      <p:sp>
        <p:nvSpPr>
          <p:cNvPr id="15" name="Chip Letter 1"/>
          <p:cNvSpPr txBox="1"/>
          <p:nvPr/>
        </p:nvSpPr>
        <p:spPr>
          <a:xfrm>
            <a:off x="658368" y="4087368"/>
            <a:ext cx="374904" cy="374904"/>
          </a:xfrm>
          <a:prstGeom prst="rect">
            <a:avLst/>
          </a:prstGeom>
          <a:noFill/>
          <a:ln/>
        </p:spPr>
        <p:txBody>
          <a:bodyPr wrap="square" lIns="0" tIns="0" rIns="0" bIns="0" rtlCol="0" anchor="ctr"/>
          <a:lstStyle/>
          <a:p>
            <a:pPr marL="0" indent="0" algn="ctr">
              <a:buNone/>
            </a:pPr>
            <a:r>
              <a:rPr lang="en-US" sz="1400" b="1" dirty="0">
                <a:solidFill>
                  <a:schemeClr val="bg1"/>
                </a:solidFill>
              </a:rPr>
              <a:t>A</a:t>
            </a:r>
            <a:endParaRPr lang="en-US" sz="1400" dirty="0"/>
          </a:p>
        </p:txBody>
      </p:sp>
      <p:sp>
        <p:nvSpPr>
          <p:cNvPr id="16" name="Chip Text 1"/>
          <p:cNvSpPr txBox="1"/>
          <p:nvPr/>
        </p:nvSpPr>
        <p:spPr>
          <a:xfrm>
            <a:off x="1143000" y="4069080"/>
            <a:ext cx="1920240" cy="411480"/>
          </a:xfrm>
          <a:prstGeom prst="rect">
            <a:avLst/>
          </a:prstGeom>
          <a:noFill/>
          <a:ln/>
        </p:spPr>
        <p:txBody>
          <a:bodyPr wrap="square" lIns="0" tIns="0" rIns="0" bIns="0" rtlCol="0" anchor="ctr"/>
          <a:lstStyle/>
          <a:p>
            <a:pPr marL="0" indent="0">
              <a:buNone/>
            </a:pPr>
            <a:r>
              <a:rPr lang="en-US" sz="1400" dirty="0">
                <a:solidFill>
                  <a:schemeClr val="tx1"/>
                </a:solidFill>
              </a:rPr>
              <a:t>Direction of rotation</a:t>
            </a:r>
            <a:endParaRPr lang="en-US" sz="1400" dirty="0"/>
          </a:p>
        </p:txBody>
      </p:sp>
      <p:sp>
        <p:nvSpPr>
          <p:cNvPr id="17" name="Control Chip 2"/>
          <p:cNvSpPr/>
          <p:nvPr/>
        </p:nvSpPr>
        <p:spPr>
          <a:xfrm>
            <a:off x="3337560" y="3977640"/>
            <a:ext cx="2606040" cy="594360"/>
          </a:xfrm>
          <a:prstGeom prst="roundRect">
            <a:avLst>
              <a:gd name="adj" fmla="val 15385"/>
            </a:avLst>
          </a:prstGeom>
          <a:solidFill>
            <a:schemeClr val="bg2"/>
          </a:solidFill>
          <a:ln w="9525">
            <a:solidFill>
              <a:schemeClr val="accent6">
                <a:alpha val="45000"/>
              </a:schemeClr>
            </a:solidFill>
            <a:prstDash val="solid"/>
          </a:ln>
        </p:spPr>
      </p:sp>
      <p:sp>
        <p:nvSpPr>
          <p:cNvPr id="18" name="Chip Badge 2"/>
          <p:cNvSpPr/>
          <p:nvPr/>
        </p:nvSpPr>
        <p:spPr>
          <a:xfrm>
            <a:off x="3447288" y="4087368"/>
            <a:ext cx="374904" cy="374904"/>
          </a:xfrm>
          <a:prstGeom prst="ellipse">
            <a:avLst/>
          </a:prstGeom>
          <a:solidFill>
            <a:schemeClr val="accent1"/>
          </a:solidFill>
          <a:ln w="12700">
            <a:solidFill>
              <a:schemeClr val="accent1"/>
            </a:solidFill>
            <a:prstDash val="solid"/>
          </a:ln>
        </p:spPr>
      </p:sp>
      <p:sp>
        <p:nvSpPr>
          <p:cNvPr id="19" name="Chip Letter 2"/>
          <p:cNvSpPr txBox="1"/>
          <p:nvPr/>
        </p:nvSpPr>
        <p:spPr>
          <a:xfrm>
            <a:off x="3447288" y="4087368"/>
            <a:ext cx="374904" cy="374904"/>
          </a:xfrm>
          <a:prstGeom prst="rect">
            <a:avLst/>
          </a:prstGeom>
          <a:noFill/>
          <a:ln/>
        </p:spPr>
        <p:txBody>
          <a:bodyPr wrap="square" lIns="0" tIns="0" rIns="0" bIns="0" rtlCol="0" anchor="ctr"/>
          <a:lstStyle/>
          <a:p>
            <a:pPr marL="0" indent="0" algn="ctr">
              <a:buNone/>
            </a:pPr>
            <a:r>
              <a:rPr lang="en-US" sz="1400" b="1" dirty="0">
                <a:solidFill>
                  <a:schemeClr val="bg1"/>
                </a:solidFill>
              </a:rPr>
              <a:t>A</a:t>
            </a:r>
            <a:endParaRPr lang="en-US" sz="1400" dirty="0"/>
          </a:p>
        </p:txBody>
      </p:sp>
      <p:sp>
        <p:nvSpPr>
          <p:cNvPr id="20" name="Chip Text 2"/>
          <p:cNvSpPr txBox="1"/>
          <p:nvPr/>
        </p:nvSpPr>
        <p:spPr>
          <a:xfrm>
            <a:off x="3931920" y="4069080"/>
            <a:ext cx="1920240" cy="411480"/>
          </a:xfrm>
          <a:prstGeom prst="rect">
            <a:avLst/>
          </a:prstGeom>
          <a:noFill/>
          <a:ln/>
        </p:spPr>
        <p:txBody>
          <a:bodyPr wrap="square" lIns="0" tIns="0" rIns="0" bIns="0" rtlCol="0" anchor="ctr"/>
          <a:lstStyle/>
          <a:p>
            <a:pPr marL="0" indent="0">
              <a:buNone/>
            </a:pPr>
            <a:r>
              <a:rPr lang="en-US" sz="1400" dirty="0">
                <a:solidFill>
                  <a:schemeClr val="tx1"/>
                </a:solidFill>
              </a:rPr>
              <a:t>Angle of rotation (θ₁)</a:t>
            </a:r>
            <a:endParaRPr lang="en-US" sz="1400" dirty="0"/>
          </a:p>
        </p:txBody>
      </p:sp>
      <p:sp>
        <p:nvSpPr>
          <p:cNvPr id="21" name="Control Chip 3"/>
          <p:cNvSpPr/>
          <p:nvPr/>
        </p:nvSpPr>
        <p:spPr>
          <a:xfrm>
            <a:off x="548640" y="4690872"/>
            <a:ext cx="2606040" cy="594360"/>
          </a:xfrm>
          <a:prstGeom prst="roundRect">
            <a:avLst>
              <a:gd name="adj" fmla="val 15385"/>
            </a:avLst>
          </a:prstGeom>
          <a:solidFill>
            <a:schemeClr val="bg2"/>
          </a:solidFill>
          <a:ln w="9525">
            <a:solidFill>
              <a:schemeClr val="accent6">
                <a:alpha val="45000"/>
              </a:schemeClr>
            </a:solidFill>
            <a:prstDash val="solid"/>
          </a:ln>
        </p:spPr>
      </p:sp>
      <p:sp>
        <p:nvSpPr>
          <p:cNvPr id="22" name="Chip Badge 3"/>
          <p:cNvSpPr/>
          <p:nvPr/>
        </p:nvSpPr>
        <p:spPr>
          <a:xfrm>
            <a:off x="658368" y="4800600"/>
            <a:ext cx="374904" cy="374904"/>
          </a:xfrm>
          <a:prstGeom prst="ellipse">
            <a:avLst/>
          </a:prstGeom>
          <a:solidFill>
            <a:schemeClr val="accent2"/>
          </a:solidFill>
          <a:ln w="12700">
            <a:solidFill>
              <a:schemeClr val="accent2"/>
            </a:solidFill>
            <a:prstDash val="solid"/>
          </a:ln>
        </p:spPr>
      </p:sp>
      <p:sp>
        <p:nvSpPr>
          <p:cNvPr id="23" name="Chip Letter 3"/>
          <p:cNvSpPr txBox="1"/>
          <p:nvPr/>
        </p:nvSpPr>
        <p:spPr>
          <a:xfrm>
            <a:off x="658368" y="4800600"/>
            <a:ext cx="374904" cy="374904"/>
          </a:xfrm>
          <a:prstGeom prst="rect">
            <a:avLst/>
          </a:prstGeom>
          <a:noFill/>
          <a:ln/>
        </p:spPr>
        <p:txBody>
          <a:bodyPr wrap="square" lIns="0" tIns="0" rIns="0" bIns="0" rtlCol="0" anchor="ctr"/>
          <a:lstStyle/>
          <a:p>
            <a:pPr marL="0" indent="0" algn="ctr">
              <a:buNone/>
            </a:pPr>
            <a:r>
              <a:rPr lang="en-US" sz="1400" b="1" dirty="0">
                <a:solidFill>
                  <a:schemeClr val="bg1"/>
                </a:solidFill>
              </a:rPr>
              <a:t>B</a:t>
            </a:r>
            <a:endParaRPr lang="en-US" sz="1400" dirty="0"/>
          </a:p>
        </p:txBody>
      </p:sp>
      <p:sp>
        <p:nvSpPr>
          <p:cNvPr id="24" name="Chip Text 3"/>
          <p:cNvSpPr txBox="1"/>
          <p:nvPr/>
        </p:nvSpPr>
        <p:spPr>
          <a:xfrm>
            <a:off x="1143000" y="4782312"/>
            <a:ext cx="1920240" cy="411480"/>
          </a:xfrm>
          <a:prstGeom prst="rect">
            <a:avLst/>
          </a:prstGeom>
          <a:noFill/>
          <a:ln/>
        </p:spPr>
        <p:txBody>
          <a:bodyPr wrap="square" lIns="0" tIns="0" rIns="0" bIns="0" rtlCol="0" anchor="ctr"/>
          <a:lstStyle/>
          <a:p>
            <a:pPr marL="0" indent="0">
              <a:buNone/>
            </a:pPr>
            <a:r>
              <a:rPr lang="en-US" sz="1400" dirty="0">
                <a:solidFill>
                  <a:schemeClr val="tx1"/>
                </a:solidFill>
              </a:rPr>
              <a:t>Direction of rotation</a:t>
            </a:r>
            <a:endParaRPr lang="en-US" sz="1400" dirty="0"/>
          </a:p>
        </p:txBody>
      </p:sp>
      <p:sp>
        <p:nvSpPr>
          <p:cNvPr id="25" name="Control Chip 4"/>
          <p:cNvSpPr/>
          <p:nvPr/>
        </p:nvSpPr>
        <p:spPr>
          <a:xfrm>
            <a:off x="3337560" y="4690872"/>
            <a:ext cx="2606040" cy="594360"/>
          </a:xfrm>
          <a:prstGeom prst="roundRect">
            <a:avLst>
              <a:gd name="adj" fmla="val 15385"/>
            </a:avLst>
          </a:prstGeom>
          <a:solidFill>
            <a:schemeClr val="bg2"/>
          </a:solidFill>
          <a:ln w="9525">
            <a:solidFill>
              <a:schemeClr val="accent6">
                <a:alpha val="45000"/>
              </a:schemeClr>
            </a:solidFill>
            <a:prstDash val="solid"/>
          </a:ln>
        </p:spPr>
      </p:sp>
      <p:sp>
        <p:nvSpPr>
          <p:cNvPr id="26" name="Chip Badge 4"/>
          <p:cNvSpPr/>
          <p:nvPr/>
        </p:nvSpPr>
        <p:spPr>
          <a:xfrm>
            <a:off x="3447288" y="4800600"/>
            <a:ext cx="374904" cy="374904"/>
          </a:xfrm>
          <a:prstGeom prst="ellipse">
            <a:avLst/>
          </a:prstGeom>
          <a:solidFill>
            <a:schemeClr val="accent2"/>
          </a:solidFill>
          <a:ln w="12700">
            <a:solidFill>
              <a:schemeClr val="accent2"/>
            </a:solidFill>
            <a:prstDash val="solid"/>
          </a:ln>
        </p:spPr>
      </p:sp>
      <p:sp>
        <p:nvSpPr>
          <p:cNvPr id="27" name="Chip Letter 4"/>
          <p:cNvSpPr txBox="1"/>
          <p:nvPr/>
        </p:nvSpPr>
        <p:spPr>
          <a:xfrm>
            <a:off x="3447288" y="4800600"/>
            <a:ext cx="374904" cy="374904"/>
          </a:xfrm>
          <a:prstGeom prst="rect">
            <a:avLst/>
          </a:prstGeom>
          <a:noFill/>
          <a:ln/>
        </p:spPr>
        <p:txBody>
          <a:bodyPr wrap="square" lIns="0" tIns="0" rIns="0" bIns="0" rtlCol="0" anchor="ctr"/>
          <a:lstStyle/>
          <a:p>
            <a:pPr marL="0" indent="0" algn="ctr">
              <a:buNone/>
            </a:pPr>
            <a:r>
              <a:rPr lang="en-US" sz="1400" b="1" dirty="0">
                <a:solidFill>
                  <a:schemeClr val="bg1"/>
                </a:solidFill>
              </a:rPr>
              <a:t>B</a:t>
            </a:r>
            <a:endParaRPr lang="en-US" sz="1400" dirty="0"/>
          </a:p>
        </p:txBody>
      </p:sp>
      <p:sp>
        <p:nvSpPr>
          <p:cNvPr id="28" name="Chip Text 4"/>
          <p:cNvSpPr txBox="1"/>
          <p:nvPr/>
        </p:nvSpPr>
        <p:spPr>
          <a:xfrm>
            <a:off x="3931920" y="4782312"/>
            <a:ext cx="1920240" cy="411480"/>
          </a:xfrm>
          <a:prstGeom prst="rect">
            <a:avLst/>
          </a:prstGeom>
          <a:noFill/>
          <a:ln/>
        </p:spPr>
        <p:txBody>
          <a:bodyPr wrap="square" lIns="0" tIns="0" rIns="0" bIns="0" rtlCol="0" anchor="ctr"/>
          <a:lstStyle/>
          <a:p>
            <a:pPr marL="0" indent="0">
              <a:buNone/>
            </a:pPr>
            <a:r>
              <a:rPr lang="en-US" sz="1400" dirty="0">
                <a:solidFill>
                  <a:schemeClr val="tx1"/>
                </a:solidFill>
              </a:rPr>
              <a:t>Angle of rotation (θ₂)</a:t>
            </a:r>
            <a:endParaRPr lang="en-US" sz="1400" dirty="0"/>
          </a:p>
        </p:txBody>
      </p:sp>
      <p:sp>
        <p:nvSpPr>
          <p:cNvPr id="29" name="Forward Kinematics Card"/>
          <p:cNvSpPr/>
          <p:nvPr/>
        </p:nvSpPr>
        <p:spPr>
          <a:xfrm>
            <a:off x="6309360" y="1508760"/>
            <a:ext cx="5330952" cy="3840480"/>
          </a:xfrm>
          <a:prstGeom prst="roundRect">
            <a:avLst>
              <a:gd name="adj" fmla="val 2381"/>
            </a:avLst>
          </a:prstGeom>
          <a:solidFill>
            <a:schemeClr val="accent1"/>
          </a:solidFill>
          <a:ln w="12700">
            <a:solidFill>
              <a:schemeClr val="accent1"/>
            </a:solidFill>
            <a:prstDash val="solid"/>
          </a:ln>
        </p:spPr>
      </p:sp>
      <p:sp>
        <p:nvSpPr>
          <p:cNvPr id="30" name="FK Heading"/>
          <p:cNvSpPr txBox="1"/>
          <p:nvPr/>
        </p:nvSpPr>
        <p:spPr>
          <a:xfrm>
            <a:off x="6583680" y="1691640"/>
            <a:ext cx="4754880" cy="365760"/>
          </a:xfrm>
          <a:prstGeom prst="rect">
            <a:avLst/>
          </a:prstGeom>
          <a:noFill/>
          <a:ln/>
        </p:spPr>
        <p:txBody>
          <a:bodyPr wrap="square" lIns="0" tIns="0" rIns="0" bIns="0" rtlCol="0" anchor="t"/>
          <a:lstStyle/>
          <a:p>
            <a:pPr marL="0" indent="0">
              <a:buNone/>
            </a:pPr>
            <a:r>
              <a:rPr lang="en-US" sz="2000" b="1" dirty="0">
                <a:solidFill>
                  <a:schemeClr val="bg1"/>
                </a:solidFill>
              </a:rPr>
              <a:t>Forward kinematics</a:t>
            </a:r>
            <a:endParaRPr lang="en-US" sz="2000" dirty="0"/>
          </a:p>
        </p:txBody>
      </p:sp>
      <p:sp>
        <p:nvSpPr>
          <p:cNvPr id="31" name="FK Equation x"/>
          <p:cNvSpPr txBox="1"/>
          <p:nvPr/>
        </p:nvSpPr>
        <p:spPr>
          <a:xfrm>
            <a:off x="6583680" y="2240280"/>
            <a:ext cx="4846320" cy="457200"/>
          </a:xfrm>
          <a:prstGeom prst="rect">
            <a:avLst/>
          </a:prstGeom>
          <a:noFill/>
          <a:ln/>
        </p:spPr>
        <p:txBody>
          <a:bodyPr wrap="square" lIns="0" tIns="0" rIns="0" bIns="0" rtlCol="0" anchor="t"/>
          <a:lstStyle/>
          <a:p>
            <a:pPr marL="0" indent="0">
              <a:buNone/>
            </a:pPr>
            <a:r>
              <a:rPr lang="en-US" sz="2200" dirty="0">
                <a:solidFill>
                  <a:schemeClr val="accent4"/>
                </a:solidFill>
                <a:latin typeface="+mj-lt" pitchFamily="34" charset="0"/>
                <a:ea typeface="+mj-lt" pitchFamily="34" charset="-122"/>
                <a:cs typeface="+mj-lt" pitchFamily="34" charset="-120"/>
              </a:rPr>
              <a:t>x = L₁ cos θ₁ + L₂ cos(θ₁ + θ₂)</a:t>
            </a:r>
            <a:endParaRPr lang="en-US" sz="2200" dirty="0"/>
          </a:p>
        </p:txBody>
      </p:sp>
      <p:sp>
        <p:nvSpPr>
          <p:cNvPr id="32" name="FK Equation y"/>
          <p:cNvSpPr txBox="1"/>
          <p:nvPr/>
        </p:nvSpPr>
        <p:spPr>
          <a:xfrm>
            <a:off x="6583680" y="2788920"/>
            <a:ext cx="4846320" cy="457200"/>
          </a:xfrm>
          <a:prstGeom prst="rect">
            <a:avLst/>
          </a:prstGeom>
          <a:noFill/>
          <a:ln/>
        </p:spPr>
        <p:txBody>
          <a:bodyPr wrap="square" lIns="0" tIns="0" rIns="0" bIns="0" rtlCol="0" anchor="t"/>
          <a:lstStyle/>
          <a:p>
            <a:pPr marL="0" indent="0">
              <a:buNone/>
            </a:pPr>
            <a:r>
              <a:rPr lang="en-US" sz="2200" dirty="0">
                <a:solidFill>
                  <a:schemeClr val="accent4"/>
                </a:solidFill>
                <a:latin typeface="+mj-lt" pitchFamily="34" charset="0"/>
                <a:ea typeface="+mj-lt" pitchFamily="34" charset="-122"/>
                <a:cs typeface="+mj-lt" pitchFamily="34" charset="-120"/>
              </a:rPr>
              <a:t>y = L₁ sin θ₁ + L₂ sin(θ₁ + θ₂)</a:t>
            </a:r>
            <a:endParaRPr lang="en-US" sz="2200" dirty="0"/>
          </a:p>
        </p:txBody>
      </p:sp>
      <p:sp>
        <p:nvSpPr>
          <p:cNvPr id="33" name="FK Legend"/>
          <p:cNvSpPr txBox="1"/>
          <p:nvPr/>
        </p:nvSpPr>
        <p:spPr>
          <a:xfrm>
            <a:off x="6583680" y="3474720"/>
            <a:ext cx="4846320" cy="914400"/>
          </a:xfrm>
          <a:prstGeom prst="rect">
            <a:avLst/>
          </a:prstGeom>
          <a:noFill/>
          <a:ln/>
        </p:spPr>
        <p:txBody>
          <a:bodyPr wrap="square" lIns="0" tIns="0" rIns="0" bIns="0" rtlCol="0" anchor="t"/>
          <a:lstStyle/>
          <a:p>
            <a:pPr marL="0" indent="0">
              <a:spcAft>
                <a:spcPts val="400"/>
              </a:spcAft>
              <a:buNone/>
            </a:pPr>
            <a:r>
              <a:rPr lang="en-US" sz="1400" dirty="0">
                <a:solidFill>
                  <a:schemeClr val="bg1"/>
                </a:solidFill>
              </a:rPr>
              <a:t>L₁, L₂: lengths of links AB and BC</a:t>
            </a:r>
            <a:endParaRPr lang="en-US" sz="1400" dirty="0"/>
          </a:p>
          <a:p>
            <a:pPr marL="0" indent="0">
              <a:spcAft>
                <a:spcPts val="400"/>
              </a:spcAft>
              <a:buNone/>
            </a:pPr>
            <a:r>
              <a:rPr lang="en-US" sz="1400" dirty="0">
                <a:solidFill>
                  <a:schemeClr val="bg1"/>
                </a:solidFill>
              </a:rPr>
              <a:t>θ₁: angle of AB from the base x-axis (Motor 1)</a:t>
            </a:r>
            <a:endParaRPr lang="en-US" sz="1400" dirty="0"/>
          </a:p>
          <a:p>
            <a:pPr marL="0" indent="0">
              <a:spcAft>
                <a:spcPts val="400"/>
              </a:spcAft>
              <a:buNone/>
            </a:pPr>
            <a:r>
              <a:rPr lang="en-US" sz="1400" dirty="0">
                <a:solidFill>
                  <a:schemeClr val="bg1"/>
                </a:solidFill>
              </a:rPr>
              <a:t>θ₂: angle of BC relative to AB (Motor 2)</a:t>
            </a:r>
            <a:endParaRPr lang="en-US" sz="1400" dirty="0"/>
          </a:p>
        </p:txBody>
      </p:sp>
      <p:sp>
        <p:nvSpPr>
          <p:cNvPr id="34" name="FK Note"/>
          <p:cNvSpPr txBox="1"/>
          <p:nvPr/>
        </p:nvSpPr>
        <p:spPr>
          <a:xfrm>
            <a:off x="6583680" y="4526280"/>
            <a:ext cx="4846320" cy="640080"/>
          </a:xfrm>
          <a:prstGeom prst="rect">
            <a:avLst/>
          </a:prstGeom>
          <a:noFill/>
          <a:ln/>
        </p:spPr>
        <p:txBody>
          <a:bodyPr wrap="square" lIns="0" tIns="0" rIns="0" bIns="0" rtlCol="0" anchor="t"/>
          <a:lstStyle/>
          <a:p>
            <a:pPr marL="0" indent="0">
              <a:buNone/>
            </a:pPr>
            <a:r>
              <a:rPr lang="en-US" sz="1400" i="1" dirty="0">
                <a:solidFill>
                  <a:schemeClr val="accent4"/>
                </a:solidFill>
              </a:rPr>
              <a:t>Predicts exactly where C lands for any commanded pair (θ₁, θ₂).</a:t>
            </a:r>
            <a:endParaRPr lang="en-US" sz="1400" dirty="0"/>
          </a:p>
        </p:txBody>
      </p:sp>
      <p:sp>
        <p:nvSpPr>
          <p:cNvPr id="35" name="Combined Movement Card"/>
          <p:cNvSpPr/>
          <p:nvPr/>
        </p:nvSpPr>
        <p:spPr>
          <a:xfrm>
            <a:off x="548640" y="5532120"/>
            <a:ext cx="11091672" cy="731520"/>
          </a:xfrm>
          <a:prstGeom prst="roundRect">
            <a:avLst>
              <a:gd name="adj" fmla="val 12500"/>
            </a:avLst>
          </a:prstGeom>
          <a:solidFill>
            <a:schemeClr val="bg2"/>
          </a:solidFill>
          <a:ln w="9525">
            <a:solidFill>
              <a:schemeClr val="accent6">
                <a:alpha val="45000"/>
              </a:schemeClr>
            </a:solidFill>
            <a:prstDash val="solid"/>
          </a:ln>
        </p:spPr>
      </p:sp>
      <p:sp>
        <p:nvSpPr>
          <p:cNvPr id="36" name="IconBadge FaRoute"/>
          <p:cNvSpPr/>
          <p:nvPr/>
        </p:nvSpPr>
        <p:spPr>
          <a:xfrm>
            <a:off x="685800" y="5614416"/>
            <a:ext cx="566928" cy="566928"/>
          </a:xfrm>
          <a:prstGeom prst="ellipse">
            <a:avLst/>
          </a:prstGeom>
          <a:solidFill>
            <a:schemeClr val="accent3"/>
          </a:solidFill>
          <a:ln w="12700">
            <a:solidFill>
              <a:schemeClr val="accent3"/>
            </a:solidFill>
            <a:prstDash val="solid"/>
          </a:ln>
        </p:spPr>
      </p:sp>
      <p:pic>
        <p:nvPicPr>
          <p:cNvPr id="37" name="Image 0" descr="FaRoute icon"/>
          <p:cNvPicPr>
            <a:picLocks noChangeAspect="1"/>
          </p:cNvPicPr>
          <p:nvPr/>
        </p:nvPicPr>
        <p:blipFill>
          <a:blip r:embed="rId3"/>
          <a:stretch>
            <a:fillRect/>
          </a:stretch>
        </p:blipFill>
        <p:spPr>
          <a:xfrm>
            <a:off x="827532" y="5756148"/>
            <a:ext cx="283464" cy="283464"/>
          </a:xfrm>
          <a:prstGeom prst="rect">
            <a:avLst/>
          </a:prstGeom>
        </p:spPr>
      </p:pic>
      <p:sp>
        <p:nvSpPr>
          <p:cNvPr id="38" name="Combined Movement Text"/>
          <p:cNvSpPr txBox="1"/>
          <p:nvPr/>
        </p:nvSpPr>
        <p:spPr>
          <a:xfrm>
            <a:off x="1417320" y="5596128"/>
            <a:ext cx="10058400" cy="603504"/>
          </a:xfrm>
          <a:prstGeom prst="rect">
            <a:avLst/>
          </a:prstGeom>
          <a:noFill/>
          <a:ln/>
        </p:spPr>
        <p:txBody>
          <a:bodyPr wrap="square" lIns="0" tIns="0" rIns="0" bIns="0" rtlCol="0" anchor="ctr"/>
          <a:lstStyle/>
          <a:p>
            <a:pPr marL="0" indent="0">
              <a:buNone/>
            </a:pPr>
            <a:r>
              <a:rPr lang="en-US" sz="1400" b="1" dirty="0">
                <a:solidFill>
                  <a:schemeClr val="accent3"/>
                </a:solidFill>
              </a:rPr>
              <a:t>Combined movement: </a:t>
            </a:r>
            <a:r>
              <a:rPr lang="en-US" sz="1400" dirty="0">
                <a:solidFill>
                  <a:schemeClr val="tx1"/>
                </a:solidFill>
              </a:rPr>
              <a:t>coordinated direction and angle changes at A and B shift C to C′; repeated over waypoints, the same four controls trace a continuous trajectory.</a:t>
            </a:r>
            <a:endParaRPr lang="en-US" sz="1400" dirty="0"/>
          </a:p>
        </p:txBody>
      </p:sp>
      <p:sp>
        <p:nvSpPr>
          <p:cNvPr id="4"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Literature Survey</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(1/3) Foundations: manipulator kinematics, workspace and trajectory generation</a:t>
            </a:r>
            <a:endParaRPr lang="en-US" sz="1600" dirty="0"/>
          </a:p>
        </p:txBody>
      </p:sp>
      <p:sp>
        <p:nvSpPr>
          <p:cNvPr id="5" name="Reference Card [1]"/>
          <p:cNvSpPr/>
          <p:nvPr/>
        </p:nvSpPr>
        <p:spPr>
          <a:xfrm>
            <a:off x="548640" y="1508760"/>
            <a:ext cx="6858000" cy="1417320"/>
          </a:xfrm>
          <a:prstGeom prst="roundRect">
            <a:avLst>
              <a:gd name="adj" fmla="val 6452"/>
            </a:avLst>
          </a:prstGeom>
          <a:solidFill>
            <a:schemeClr val="bg2"/>
          </a:solidFill>
          <a:ln w="9525">
            <a:solidFill>
              <a:schemeClr val="accent6">
                <a:alpha val="45000"/>
              </a:schemeClr>
            </a:solidFill>
            <a:prstDash val="solid"/>
          </a:ln>
        </p:spPr>
      </p:sp>
      <p:sp>
        <p:nvSpPr>
          <p:cNvPr id="6" name="Ref Badge [1]"/>
          <p:cNvSpPr/>
          <p:nvPr/>
        </p:nvSpPr>
        <p:spPr>
          <a:xfrm>
            <a:off x="731520" y="1874520"/>
            <a:ext cx="685800" cy="685800"/>
          </a:xfrm>
          <a:prstGeom prst="ellipse">
            <a:avLst/>
          </a:prstGeom>
          <a:solidFill>
            <a:schemeClr val="accent1"/>
          </a:solidFill>
          <a:ln w="12700">
            <a:solidFill>
              <a:schemeClr val="accent1"/>
            </a:solidFill>
            <a:prstDash val="solid"/>
          </a:ln>
        </p:spPr>
      </p:sp>
      <p:sp>
        <p:nvSpPr>
          <p:cNvPr id="7" name="Ref Label [1]"/>
          <p:cNvSpPr txBox="1"/>
          <p:nvPr/>
        </p:nvSpPr>
        <p:spPr>
          <a:xfrm>
            <a:off x="731520" y="1874520"/>
            <a:ext cx="685800" cy="6858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Ref Author [1]"/>
          <p:cNvSpPr txBox="1"/>
          <p:nvPr/>
        </p:nvSpPr>
        <p:spPr>
          <a:xfrm>
            <a:off x="1645920" y="1645920"/>
            <a:ext cx="5577840" cy="274320"/>
          </a:xfrm>
          <a:prstGeom prst="rect">
            <a:avLst/>
          </a:prstGeom>
          <a:noFill/>
          <a:ln/>
        </p:spPr>
        <p:txBody>
          <a:bodyPr wrap="square" lIns="0" tIns="0" rIns="0" bIns="0" rtlCol="0" anchor="t"/>
          <a:lstStyle/>
          <a:p>
            <a:pPr marL="0" indent="0">
              <a:buNone/>
            </a:pPr>
            <a:r>
              <a:rPr lang="en-US" sz="1600" b="1" dirty="0">
                <a:solidFill>
                  <a:schemeClr val="tx2"/>
                </a:solidFill>
              </a:rPr>
              <a:t>J. J. Craig (2005)</a:t>
            </a:r>
            <a:endParaRPr lang="en-US" sz="1600" dirty="0"/>
          </a:p>
        </p:txBody>
      </p:sp>
      <p:sp>
        <p:nvSpPr>
          <p:cNvPr id="9" name="Ref Title [1]"/>
          <p:cNvSpPr txBox="1"/>
          <p:nvPr/>
        </p:nvSpPr>
        <p:spPr>
          <a:xfrm>
            <a:off x="1645920" y="1965960"/>
            <a:ext cx="5577840" cy="274320"/>
          </a:xfrm>
          <a:prstGeom prst="rect">
            <a:avLst/>
          </a:prstGeom>
          <a:noFill/>
          <a:ln/>
        </p:spPr>
        <p:txBody>
          <a:bodyPr wrap="square" lIns="0" tIns="0" rIns="0" bIns="0" rtlCol="0" anchor="t"/>
          <a:lstStyle/>
          <a:p>
            <a:pPr marL="0" indent="0">
              <a:buNone/>
            </a:pPr>
            <a:r>
              <a:rPr lang="en-US" sz="1400" i="1" dirty="0">
                <a:solidFill>
                  <a:schemeClr val="accent2"/>
                </a:solidFill>
              </a:rPr>
              <a:t>Introduction to Robotics: Mechanics and Control</a:t>
            </a:r>
            <a:endParaRPr lang="en-US" sz="1400" dirty="0"/>
          </a:p>
        </p:txBody>
      </p:sp>
      <p:sp>
        <p:nvSpPr>
          <p:cNvPr id="10" name="Ref Note [1]"/>
          <p:cNvSpPr txBox="1"/>
          <p:nvPr/>
        </p:nvSpPr>
        <p:spPr>
          <a:xfrm>
            <a:off x="1645920" y="2313432"/>
            <a:ext cx="5577840" cy="502920"/>
          </a:xfrm>
          <a:prstGeom prst="rect">
            <a:avLst/>
          </a:prstGeom>
          <a:noFill/>
          <a:ln/>
        </p:spPr>
        <p:txBody>
          <a:bodyPr wrap="square" lIns="0" tIns="0" rIns="0" bIns="0" rtlCol="0" anchor="t"/>
          <a:lstStyle/>
          <a:p>
            <a:pPr marL="0" indent="0">
              <a:buNone/>
            </a:pPr>
            <a:r>
              <a:rPr lang="en-US" sz="1400" dirty="0">
                <a:solidFill>
                  <a:schemeClr val="tx1"/>
                </a:solidFill>
              </a:rPr>
              <a:t>Standard treatment of manipulator kinematics, workspace and trajectory generation.</a:t>
            </a:r>
            <a:endParaRPr lang="en-US" sz="1400" dirty="0"/>
          </a:p>
        </p:txBody>
      </p:sp>
      <p:sp>
        <p:nvSpPr>
          <p:cNvPr id="11" name="Reference Card [2]"/>
          <p:cNvSpPr/>
          <p:nvPr/>
        </p:nvSpPr>
        <p:spPr>
          <a:xfrm>
            <a:off x="548640" y="3063240"/>
            <a:ext cx="6858000" cy="1417320"/>
          </a:xfrm>
          <a:prstGeom prst="roundRect">
            <a:avLst>
              <a:gd name="adj" fmla="val 6452"/>
            </a:avLst>
          </a:prstGeom>
          <a:solidFill>
            <a:schemeClr val="bg2"/>
          </a:solidFill>
          <a:ln w="9525">
            <a:solidFill>
              <a:schemeClr val="accent6">
                <a:alpha val="45000"/>
              </a:schemeClr>
            </a:solidFill>
            <a:prstDash val="solid"/>
          </a:ln>
        </p:spPr>
      </p:sp>
      <p:sp>
        <p:nvSpPr>
          <p:cNvPr id="12" name="Ref Badge [2]"/>
          <p:cNvSpPr/>
          <p:nvPr/>
        </p:nvSpPr>
        <p:spPr>
          <a:xfrm>
            <a:off x="731520" y="3429000"/>
            <a:ext cx="685800" cy="685800"/>
          </a:xfrm>
          <a:prstGeom prst="ellipse">
            <a:avLst/>
          </a:prstGeom>
          <a:solidFill>
            <a:schemeClr val="accent2"/>
          </a:solidFill>
          <a:ln w="12700">
            <a:solidFill>
              <a:schemeClr val="accent2"/>
            </a:solidFill>
            <a:prstDash val="solid"/>
          </a:ln>
        </p:spPr>
      </p:sp>
      <p:sp>
        <p:nvSpPr>
          <p:cNvPr id="13" name="Ref Label [2]"/>
          <p:cNvSpPr txBox="1"/>
          <p:nvPr/>
        </p:nvSpPr>
        <p:spPr>
          <a:xfrm>
            <a:off x="731520" y="3429000"/>
            <a:ext cx="685800" cy="6858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4" name="Ref Author [2]"/>
          <p:cNvSpPr txBox="1"/>
          <p:nvPr/>
        </p:nvSpPr>
        <p:spPr>
          <a:xfrm>
            <a:off x="1645920" y="3200400"/>
            <a:ext cx="5577840" cy="274320"/>
          </a:xfrm>
          <a:prstGeom prst="rect">
            <a:avLst/>
          </a:prstGeom>
          <a:noFill/>
          <a:ln/>
        </p:spPr>
        <p:txBody>
          <a:bodyPr wrap="square" lIns="0" tIns="0" rIns="0" bIns="0" rtlCol="0" anchor="t"/>
          <a:lstStyle/>
          <a:p>
            <a:pPr marL="0" indent="0">
              <a:buNone/>
            </a:pPr>
            <a:r>
              <a:rPr lang="en-US" sz="1600" b="1" dirty="0">
                <a:solidFill>
                  <a:schemeClr val="tx2"/>
                </a:solidFill>
              </a:rPr>
              <a:t>M. W. Spong et al. (2006)</a:t>
            </a:r>
            <a:endParaRPr lang="en-US" sz="1600" dirty="0"/>
          </a:p>
        </p:txBody>
      </p:sp>
      <p:sp>
        <p:nvSpPr>
          <p:cNvPr id="15" name="Ref Title [2]"/>
          <p:cNvSpPr txBox="1"/>
          <p:nvPr/>
        </p:nvSpPr>
        <p:spPr>
          <a:xfrm>
            <a:off x="1645920" y="3520440"/>
            <a:ext cx="5577840" cy="274320"/>
          </a:xfrm>
          <a:prstGeom prst="rect">
            <a:avLst/>
          </a:prstGeom>
          <a:noFill/>
          <a:ln/>
        </p:spPr>
        <p:txBody>
          <a:bodyPr wrap="square" lIns="0" tIns="0" rIns="0" bIns="0" rtlCol="0" anchor="t"/>
          <a:lstStyle/>
          <a:p>
            <a:pPr marL="0" indent="0">
              <a:buNone/>
            </a:pPr>
            <a:r>
              <a:rPr lang="en-US" sz="1400" i="1" dirty="0">
                <a:solidFill>
                  <a:schemeClr val="accent2"/>
                </a:solidFill>
              </a:rPr>
              <a:t>Robot Modeling and Control</a:t>
            </a:r>
            <a:endParaRPr lang="en-US" sz="1400" dirty="0"/>
          </a:p>
        </p:txBody>
      </p:sp>
      <p:sp>
        <p:nvSpPr>
          <p:cNvPr id="16" name="Ref Note [2]"/>
          <p:cNvSpPr txBox="1"/>
          <p:nvPr/>
        </p:nvSpPr>
        <p:spPr>
          <a:xfrm>
            <a:off x="1645920" y="3867912"/>
            <a:ext cx="5577840" cy="502920"/>
          </a:xfrm>
          <a:prstGeom prst="rect">
            <a:avLst/>
          </a:prstGeom>
          <a:noFill/>
          <a:ln/>
        </p:spPr>
        <p:txBody>
          <a:bodyPr wrap="square" lIns="0" tIns="0" rIns="0" bIns="0" rtlCol="0" anchor="t"/>
          <a:lstStyle/>
          <a:p>
            <a:pPr marL="0" indent="0">
              <a:buNone/>
            </a:pPr>
            <a:r>
              <a:rPr lang="en-US" sz="1400" dirty="0">
                <a:solidFill>
                  <a:schemeClr val="tx1"/>
                </a:solidFill>
              </a:rPr>
              <a:t>Forward and inverse kinematics with control of robot manipulators.</a:t>
            </a:r>
            <a:endParaRPr lang="en-US" sz="1400" dirty="0"/>
          </a:p>
        </p:txBody>
      </p:sp>
      <p:sp>
        <p:nvSpPr>
          <p:cNvPr id="17" name="Reference Card [3]"/>
          <p:cNvSpPr/>
          <p:nvPr/>
        </p:nvSpPr>
        <p:spPr>
          <a:xfrm>
            <a:off x="548640" y="4617720"/>
            <a:ext cx="6858000" cy="1417320"/>
          </a:xfrm>
          <a:prstGeom prst="roundRect">
            <a:avLst>
              <a:gd name="adj" fmla="val 6452"/>
            </a:avLst>
          </a:prstGeom>
          <a:solidFill>
            <a:schemeClr val="bg2"/>
          </a:solidFill>
          <a:ln w="9525">
            <a:solidFill>
              <a:schemeClr val="accent6">
                <a:alpha val="45000"/>
              </a:schemeClr>
            </a:solidFill>
            <a:prstDash val="solid"/>
          </a:ln>
        </p:spPr>
      </p:sp>
      <p:sp>
        <p:nvSpPr>
          <p:cNvPr id="18" name="Ref Badge [3]"/>
          <p:cNvSpPr/>
          <p:nvPr/>
        </p:nvSpPr>
        <p:spPr>
          <a:xfrm>
            <a:off x="731520" y="4983480"/>
            <a:ext cx="685800" cy="685800"/>
          </a:xfrm>
          <a:prstGeom prst="ellipse">
            <a:avLst/>
          </a:prstGeom>
          <a:solidFill>
            <a:schemeClr val="accent3"/>
          </a:solidFill>
          <a:ln w="12700">
            <a:solidFill>
              <a:schemeClr val="accent3"/>
            </a:solidFill>
            <a:prstDash val="solid"/>
          </a:ln>
        </p:spPr>
      </p:sp>
      <p:sp>
        <p:nvSpPr>
          <p:cNvPr id="19" name="Ref Label [3]"/>
          <p:cNvSpPr txBox="1"/>
          <p:nvPr/>
        </p:nvSpPr>
        <p:spPr>
          <a:xfrm>
            <a:off x="731520" y="4983480"/>
            <a:ext cx="685800" cy="6858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0" name="Ref Author [3]"/>
          <p:cNvSpPr txBox="1"/>
          <p:nvPr/>
        </p:nvSpPr>
        <p:spPr>
          <a:xfrm>
            <a:off x="1645920" y="4754880"/>
            <a:ext cx="5577840" cy="274320"/>
          </a:xfrm>
          <a:prstGeom prst="rect">
            <a:avLst/>
          </a:prstGeom>
          <a:noFill/>
          <a:ln/>
        </p:spPr>
        <p:txBody>
          <a:bodyPr wrap="square" lIns="0" tIns="0" rIns="0" bIns="0" rtlCol="0" anchor="t"/>
          <a:lstStyle/>
          <a:p>
            <a:pPr marL="0" indent="0">
              <a:buNone/>
            </a:pPr>
            <a:r>
              <a:rPr lang="en-US" sz="1600" b="1" dirty="0">
                <a:solidFill>
                  <a:schemeClr val="tx2"/>
                </a:solidFill>
              </a:rPr>
              <a:t>B. Siciliano et al. (2009)</a:t>
            </a:r>
            <a:endParaRPr lang="en-US" sz="1600" dirty="0"/>
          </a:p>
        </p:txBody>
      </p:sp>
      <p:sp>
        <p:nvSpPr>
          <p:cNvPr id="21" name="Ref Title [3]"/>
          <p:cNvSpPr txBox="1"/>
          <p:nvPr/>
        </p:nvSpPr>
        <p:spPr>
          <a:xfrm>
            <a:off x="1645920" y="5074920"/>
            <a:ext cx="5577840" cy="274320"/>
          </a:xfrm>
          <a:prstGeom prst="rect">
            <a:avLst/>
          </a:prstGeom>
          <a:noFill/>
          <a:ln/>
        </p:spPr>
        <p:txBody>
          <a:bodyPr wrap="square" lIns="0" tIns="0" rIns="0" bIns="0" rtlCol="0" anchor="t"/>
          <a:lstStyle/>
          <a:p>
            <a:pPr marL="0" indent="0">
              <a:buNone/>
            </a:pPr>
            <a:r>
              <a:rPr lang="en-US" sz="1400" i="1" dirty="0">
                <a:solidFill>
                  <a:schemeClr val="accent2"/>
                </a:solidFill>
              </a:rPr>
              <a:t>Robotics: Modelling, Planning and Control</a:t>
            </a:r>
            <a:endParaRPr lang="en-US" sz="1400" dirty="0"/>
          </a:p>
        </p:txBody>
      </p:sp>
      <p:sp>
        <p:nvSpPr>
          <p:cNvPr id="22" name="Ref Note [3]"/>
          <p:cNvSpPr txBox="1"/>
          <p:nvPr/>
        </p:nvSpPr>
        <p:spPr>
          <a:xfrm>
            <a:off x="1645920" y="5422392"/>
            <a:ext cx="5577840" cy="502920"/>
          </a:xfrm>
          <a:prstGeom prst="rect">
            <a:avLst/>
          </a:prstGeom>
          <a:noFill/>
          <a:ln/>
        </p:spPr>
        <p:txBody>
          <a:bodyPr wrap="square" lIns="0" tIns="0" rIns="0" bIns="0" rtlCol="0" anchor="t"/>
          <a:lstStyle/>
          <a:p>
            <a:pPr marL="0" indent="0">
              <a:buNone/>
            </a:pPr>
            <a:r>
              <a:rPr lang="en-US" sz="1400" dirty="0">
                <a:solidFill>
                  <a:schemeClr val="tx1"/>
                </a:solidFill>
              </a:rPr>
              <a:t>Kinematics, motion planning and control within one framework.</a:t>
            </a:r>
            <a:endParaRPr lang="en-US" sz="1400" dirty="0"/>
          </a:p>
        </p:txBody>
      </p:sp>
      <p:sp>
        <p:nvSpPr>
          <p:cNvPr id="23" name="Mapping Panel"/>
          <p:cNvSpPr/>
          <p:nvPr/>
        </p:nvSpPr>
        <p:spPr>
          <a:xfrm>
            <a:off x="7680960" y="1508760"/>
            <a:ext cx="3959352" cy="4526280"/>
          </a:xfrm>
          <a:prstGeom prst="roundRect">
            <a:avLst>
              <a:gd name="adj" fmla="val 2309"/>
            </a:avLst>
          </a:prstGeom>
          <a:solidFill>
            <a:schemeClr val="bg2"/>
          </a:solidFill>
          <a:ln w="9525">
            <a:solidFill>
              <a:schemeClr val="accent6">
                <a:alpha val="45000"/>
              </a:schemeClr>
            </a:solidFill>
            <a:prstDash val="solid"/>
          </a:ln>
        </p:spPr>
      </p:sp>
      <p:sp>
        <p:nvSpPr>
          <p:cNvPr id="24" name="Joint Space Box"/>
          <p:cNvSpPr/>
          <p:nvPr/>
        </p:nvSpPr>
        <p:spPr>
          <a:xfrm>
            <a:off x="7955280" y="1783080"/>
            <a:ext cx="3410712" cy="777240"/>
          </a:xfrm>
          <a:prstGeom prst="roundRect">
            <a:avLst>
              <a:gd name="adj" fmla="val 11765"/>
            </a:avLst>
          </a:prstGeom>
          <a:solidFill>
            <a:schemeClr val="accent1"/>
          </a:solidFill>
          <a:ln w="12700">
            <a:solidFill>
              <a:schemeClr val="accent1"/>
            </a:solidFill>
            <a:prstDash val="solid"/>
          </a:ln>
        </p:spPr>
      </p:sp>
      <p:sp>
        <p:nvSpPr>
          <p:cNvPr id="25" name="Joint Space Text"/>
          <p:cNvSpPr txBox="1"/>
          <p:nvPr/>
        </p:nvSpPr>
        <p:spPr>
          <a:xfrm>
            <a:off x="7955280" y="1783080"/>
            <a:ext cx="3410712" cy="777240"/>
          </a:xfrm>
          <a:prstGeom prst="rect">
            <a:avLst/>
          </a:prstGeom>
          <a:noFill/>
          <a:ln/>
        </p:spPr>
        <p:txBody>
          <a:bodyPr wrap="square" lIns="0" tIns="0" rIns="0" bIns="0" rtlCol="0" anchor="ctr"/>
          <a:lstStyle/>
          <a:p>
            <a:pPr marL="0" indent="0" algn="ctr">
              <a:buNone/>
            </a:pPr>
            <a:r>
              <a:rPr lang="en-US" sz="1600" b="1" dirty="0">
                <a:solidFill>
                  <a:schemeClr val="bg1"/>
                </a:solidFill>
              </a:rPr>
              <a:t>Joint space</a:t>
            </a:r>
            <a:endParaRPr lang="en-US" sz="1600" dirty="0"/>
          </a:p>
          <a:p>
            <a:pPr marL="0" indent="0" algn="ctr">
              <a:buNone/>
            </a:pPr>
            <a:r>
              <a:rPr lang="en-US" sz="1600" b="1" dirty="0">
                <a:solidFill>
                  <a:schemeClr val="bg1"/>
                </a:solidFill>
              </a:rPr>
              <a:t>(θ₁, θ₂)</a:t>
            </a:r>
            <a:endParaRPr lang="en-US" sz="1600" dirty="0"/>
          </a:p>
        </p:txBody>
      </p:sp>
      <p:sp>
        <p:nvSpPr>
          <p:cNvPr id="26" name="Forward Arrow"/>
          <p:cNvSpPr/>
          <p:nvPr/>
        </p:nvSpPr>
        <p:spPr>
          <a:xfrm>
            <a:off x="8366760" y="2697480"/>
            <a:ext cx="457200" cy="960120"/>
          </a:xfrm>
          <a:prstGeom prst="downArrow">
            <a:avLst/>
          </a:prstGeom>
          <a:solidFill>
            <a:schemeClr val="accent2"/>
          </a:solidFill>
          <a:ln w="12700">
            <a:solidFill>
              <a:schemeClr val="accent2"/>
            </a:solidFill>
            <a:prstDash val="solid"/>
          </a:ln>
        </p:spPr>
      </p:sp>
      <p:sp>
        <p:nvSpPr>
          <p:cNvPr id="27" name="Inverse Arrow"/>
          <p:cNvSpPr/>
          <p:nvPr/>
        </p:nvSpPr>
        <p:spPr>
          <a:xfrm>
            <a:off x="10469880" y="2697480"/>
            <a:ext cx="457200" cy="960120"/>
          </a:xfrm>
          <a:prstGeom prst="upArrow">
            <a:avLst/>
          </a:prstGeom>
          <a:solidFill>
            <a:schemeClr val="accent3"/>
          </a:solidFill>
          <a:ln w="12700">
            <a:solidFill>
              <a:schemeClr val="accent3"/>
            </a:solidFill>
            <a:prstDash val="solid"/>
          </a:ln>
        </p:spPr>
      </p:sp>
      <p:sp>
        <p:nvSpPr>
          <p:cNvPr id="28" name="Forward Label"/>
          <p:cNvSpPr txBox="1"/>
          <p:nvPr/>
        </p:nvSpPr>
        <p:spPr>
          <a:xfrm>
            <a:off x="8869680" y="2880360"/>
            <a:ext cx="1463040" cy="274320"/>
          </a:xfrm>
          <a:prstGeom prst="rect">
            <a:avLst/>
          </a:prstGeom>
          <a:noFill/>
          <a:ln/>
        </p:spPr>
        <p:txBody>
          <a:bodyPr wrap="square" lIns="0" tIns="0" rIns="0" bIns="0" rtlCol="0" anchor="t"/>
          <a:lstStyle/>
          <a:p>
            <a:pPr marL="0" indent="0">
              <a:buNone/>
            </a:pPr>
            <a:r>
              <a:rPr lang="en-US" sz="1400" b="1" dirty="0">
                <a:solidFill>
                  <a:schemeClr val="accent2"/>
                </a:solidFill>
              </a:rPr>
              <a:t>Forward</a:t>
            </a:r>
            <a:endParaRPr lang="en-US" sz="1400" dirty="0"/>
          </a:p>
        </p:txBody>
      </p:sp>
      <p:sp>
        <p:nvSpPr>
          <p:cNvPr id="29" name="Inverse Label"/>
          <p:cNvSpPr txBox="1"/>
          <p:nvPr/>
        </p:nvSpPr>
        <p:spPr>
          <a:xfrm>
            <a:off x="8869680" y="3200400"/>
            <a:ext cx="1463040" cy="274320"/>
          </a:xfrm>
          <a:prstGeom prst="rect">
            <a:avLst/>
          </a:prstGeom>
          <a:noFill/>
          <a:ln/>
        </p:spPr>
        <p:txBody>
          <a:bodyPr wrap="square" lIns="0" tIns="0" rIns="0" bIns="0" rtlCol="0" anchor="t"/>
          <a:lstStyle/>
          <a:p>
            <a:pPr marL="0" indent="0">
              <a:buNone/>
            </a:pPr>
            <a:r>
              <a:rPr lang="en-US" sz="1400" b="1" dirty="0">
                <a:solidFill>
                  <a:schemeClr val="accent3"/>
                </a:solidFill>
              </a:rPr>
              <a:t>Inverse</a:t>
            </a:r>
            <a:endParaRPr lang="en-US" sz="1400" dirty="0"/>
          </a:p>
        </p:txBody>
      </p:sp>
      <p:sp>
        <p:nvSpPr>
          <p:cNvPr id="30" name="Cartesian Space Box"/>
          <p:cNvSpPr/>
          <p:nvPr/>
        </p:nvSpPr>
        <p:spPr>
          <a:xfrm>
            <a:off x="7955280" y="3794760"/>
            <a:ext cx="3410712" cy="777240"/>
          </a:xfrm>
          <a:prstGeom prst="roundRect">
            <a:avLst>
              <a:gd name="adj" fmla="val 11765"/>
            </a:avLst>
          </a:prstGeom>
          <a:solidFill>
            <a:schemeClr val="accent2"/>
          </a:solidFill>
          <a:ln w="12700">
            <a:solidFill>
              <a:schemeClr val="accent2"/>
            </a:solidFill>
            <a:prstDash val="solid"/>
          </a:ln>
        </p:spPr>
      </p:sp>
      <p:sp>
        <p:nvSpPr>
          <p:cNvPr id="31" name="Cartesian Space Text"/>
          <p:cNvSpPr txBox="1"/>
          <p:nvPr/>
        </p:nvSpPr>
        <p:spPr>
          <a:xfrm>
            <a:off x="7955280" y="3794760"/>
            <a:ext cx="3410712" cy="777240"/>
          </a:xfrm>
          <a:prstGeom prst="rect">
            <a:avLst/>
          </a:prstGeom>
          <a:noFill/>
          <a:ln/>
        </p:spPr>
        <p:txBody>
          <a:bodyPr wrap="square" lIns="0" tIns="0" rIns="0" bIns="0" rtlCol="0" anchor="ctr"/>
          <a:lstStyle/>
          <a:p>
            <a:pPr marL="0" indent="0" algn="ctr">
              <a:buNone/>
            </a:pPr>
            <a:r>
              <a:rPr lang="en-US" sz="1600" b="1" dirty="0">
                <a:solidFill>
                  <a:schemeClr val="bg1"/>
                </a:solidFill>
              </a:rPr>
              <a:t>Cartesian space</a:t>
            </a:r>
            <a:endParaRPr lang="en-US" sz="1600" dirty="0"/>
          </a:p>
          <a:p>
            <a:pPr marL="0" indent="0" algn="ctr">
              <a:buNone/>
            </a:pPr>
            <a:r>
              <a:rPr lang="en-US" sz="1600" b="1" dirty="0">
                <a:solidFill>
                  <a:schemeClr val="bg1"/>
                </a:solidFill>
              </a:rPr>
              <a:t>(x, y)</a:t>
            </a:r>
            <a:endParaRPr lang="en-US" sz="1600" dirty="0"/>
          </a:p>
        </p:txBody>
      </p:sp>
      <p:sp>
        <p:nvSpPr>
          <p:cNvPr id="32" name="Mapping Note"/>
          <p:cNvSpPr txBox="1"/>
          <p:nvPr/>
        </p:nvSpPr>
        <p:spPr>
          <a:xfrm>
            <a:off x="7955280" y="4800600"/>
            <a:ext cx="3410712" cy="1097280"/>
          </a:xfrm>
          <a:prstGeom prst="rect">
            <a:avLst/>
          </a:prstGeom>
          <a:noFill/>
          <a:ln/>
        </p:spPr>
        <p:txBody>
          <a:bodyPr wrap="square" lIns="0" tIns="0" rIns="0" bIns="0" rtlCol="0" anchor="t"/>
          <a:lstStyle/>
          <a:p>
            <a:pPr marL="0" indent="0">
              <a:buNone/>
            </a:pPr>
            <a:r>
              <a:rPr lang="en-US" sz="1400" dirty="0">
                <a:solidFill>
                  <a:schemeClr val="tx1"/>
                </a:solidFill>
              </a:rPr>
              <a:t>A 2R planar arm has a closed-form inverse solution with two branches (elbow-up / elbow-down).</a:t>
            </a:r>
            <a:endParaRPr lang="en-US" sz="1400" dirty="0"/>
          </a:p>
        </p:txBody>
      </p:sp>
      <p:sp>
        <p:nvSpPr>
          <p:cNvPr id="4"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Literature Survey</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(2/3) Inverse kinematics and trajectory tracking approaches</a:t>
            </a:r>
            <a:endParaRPr lang="en-US" sz="1600" dirty="0"/>
          </a:p>
        </p:txBody>
      </p:sp>
      <p:graphicFrame>
        <p:nvGraphicFramePr>
          <p:cNvPr id="7" name="Literature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9202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457200">
                <a:tc>
                  <a:txBody>
                    <a:bodyPr/>
                    <a:lstStyle/>
                    <a:p>
                      <a:pPr marL="0" indent="0">
                        <a:buNone/>
                      </a:pPr>
                      <a:r>
                        <a:rPr lang="en-US" sz="1400" b="1" dirty="0">
                          <a:solidFill>
                            <a:srgbClr val="FFFFFF"/>
                          </a:solidFill>
                        </a:rPr>
                        <a:t>Reference</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1F2A5E"/>
                    </a:solidFill>
                  </a:tcPr>
                </a:tc>
                <a:tc>
                  <a:txBody>
                    <a:bodyPr/>
                    <a:lstStyle/>
                    <a:p>
                      <a:pPr marL="0" indent="0">
                        <a:buNone/>
                      </a:pPr>
                      <a:r>
                        <a:rPr lang="en-US" sz="1400" b="1" dirty="0">
                          <a:solidFill>
                            <a:srgbClr val="FFFFFF"/>
                          </a:solidFill>
                        </a:rPr>
                        <a:t>Approach</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1F2A5E"/>
                    </a:solidFill>
                  </a:tcPr>
                </a:tc>
                <a:tc>
                  <a:txBody>
                    <a:bodyPr/>
                    <a:lstStyle/>
                    <a:p>
                      <a:pPr marL="0" indent="0">
                        <a:buNone/>
                      </a:pPr>
                      <a:r>
                        <a:rPr lang="en-US" sz="1400" b="1" dirty="0">
                          <a:solidFill>
                            <a:srgbClr val="FFFFFF"/>
                          </a:solidFill>
                        </a:rPr>
                        <a:t>Robot / validation</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1F2A5E"/>
                    </a:solidFill>
                  </a:tcPr>
                </a:tc>
                <a:tc>
                  <a:txBody>
                    <a:bodyPr/>
                    <a:lstStyle/>
                    <a:p>
                      <a:pPr marL="0" indent="0">
                        <a:buNone/>
                      </a:pPr>
                      <a:r>
                        <a:rPr lang="en-US" sz="1400" b="1" dirty="0">
                          <a:solidFill>
                            <a:srgbClr val="FFFFFF"/>
                          </a:solidFill>
                        </a:rPr>
                        <a:t>Observation</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1F2A5E"/>
                    </a:solidFill>
                  </a:tcPr>
                </a:tc>
                <a:extLst>
                  <a:ext uri="{0D108BD9-81ED-4DB2-BD59-A6C34878D82A}">
                    <a16:rowId xmlns:a16="http://schemas.microsoft.com/office/drawing/2014/main" val="10000"/>
                  </a:ext>
                </a:extLst>
              </a:tr>
              <a:tr h="960120">
                <a:tc>
                  <a:txBody>
                    <a:bodyPr/>
                    <a:lstStyle/>
                    <a:p>
                      <a:pPr marL="0" indent="0">
                        <a:buNone/>
                      </a:pPr>
                      <a:r>
                        <a:rPr lang="en-US" sz="1400" b="1" dirty="0">
                          <a:solidFill>
                            <a:srgbClr val="1F2A5E"/>
                          </a:solidFill>
                        </a:rPr>
                        <a:t>[4] Duka, 2014</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400" dirty="0">
                          <a:solidFill>
                            <a:srgbClr val="1B1B1F"/>
                          </a:solidFill>
                        </a:rPr>
                        <a:t>Feed-forward neural network learns the inverse mapping for a circular trajectory</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400" dirty="0">
                          <a:solidFill>
                            <a:srgbClr val="1B1B1F"/>
                          </a:solidFill>
                        </a:rPr>
                        <a:t>3-link planar arm; MATLAB model</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400" dirty="0">
                          <a:solidFill>
                            <a:srgbClr val="1B1B1F"/>
                          </a:solidFill>
                        </a:rPr>
                        <a:t>Simulation only; use on a real manipulator left as future work</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0120">
                <a:tc>
                  <a:txBody>
                    <a:bodyPr/>
                    <a:lstStyle/>
                    <a:p>
                      <a:pPr marL="0" indent="0">
                        <a:buNone/>
                      </a:pPr>
                      <a:r>
                        <a:rPr lang="en-US" sz="1400" b="1" dirty="0">
                          <a:solidFill>
                            <a:srgbClr val="1F2A5E"/>
                          </a:solidFill>
                        </a:rPr>
                        <a:t>[5] Ata &amp; Myo, 2005</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AF0F6"/>
                    </a:solidFill>
                  </a:tcPr>
                </a:tc>
                <a:tc>
                  <a:txBody>
                    <a:bodyPr/>
                    <a:lstStyle/>
                    <a:p>
                      <a:pPr marL="0" indent="0">
                        <a:buNone/>
                      </a:pPr>
                      <a:r>
                        <a:rPr lang="en-US" sz="1400" dirty="0">
                          <a:solidFill>
                            <a:srgbClr val="1B1B1F"/>
                          </a:solidFill>
                        </a:rPr>
                        <a:t>Genetic algorithm + pattern search minimise tracking error on line and circle paths</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AF0F6"/>
                    </a:solidFill>
                  </a:tcPr>
                </a:tc>
                <a:tc>
                  <a:txBody>
                    <a:bodyPr/>
                    <a:lstStyle/>
                    <a:p>
                      <a:pPr marL="0" indent="0">
                        <a:buNone/>
                      </a:pPr>
                      <a:r>
                        <a:rPr lang="en-US" sz="1400" dirty="0">
                          <a:solidFill>
                            <a:srgbClr val="1B1B1F"/>
                          </a:solidFill>
                        </a:rPr>
                        <a:t>3-DOF planar redundant arm; MATLAB simulation</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AF0F6"/>
                    </a:solidFill>
                  </a:tcPr>
                </a:tc>
                <a:tc>
                  <a:txBody>
                    <a:bodyPr/>
                    <a:lstStyle/>
                    <a:p>
                      <a:pPr marL="0" indent="0">
                        <a:buNone/>
                      </a:pPr>
                      <a:r>
                        <a:rPr lang="en-US" sz="1400" dirty="0">
                          <a:solidFill>
                            <a:srgbClr val="1B1B1F"/>
                          </a:solidFill>
                        </a:rPr>
                        <a:t>Analytical IK used only as a reference; no hardware</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AF0F6"/>
                    </a:solidFill>
                  </a:tcPr>
                </a:tc>
                <a:extLst>
                  <a:ext uri="{0D108BD9-81ED-4DB2-BD59-A6C34878D82A}">
                    <a16:rowId xmlns:a16="http://schemas.microsoft.com/office/drawing/2014/main" val="10002"/>
                  </a:ext>
                </a:extLst>
              </a:tr>
              <a:tr h="960120">
                <a:tc>
                  <a:txBody>
                    <a:bodyPr/>
                    <a:lstStyle/>
                    <a:p>
                      <a:pPr marL="0" indent="0">
                        <a:buNone/>
                      </a:pPr>
                      <a:r>
                        <a:rPr lang="en-US" sz="1400" b="1" dirty="0">
                          <a:solidFill>
                            <a:srgbClr val="1F2A5E"/>
                          </a:solidFill>
                        </a:rPr>
                        <a:t>[1]-[3] Textbooks</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400" dirty="0">
                          <a:solidFill>
                            <a:srgbClr val="1B1B1F"/>
                          </a:solidFill>
                        </a:rPr>
                        <a:t>Closed-form geometric IK solved at every waypoint</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400" dirty="0">
                          <a:solidFill>
                            <a:srgbClr val="1B1B1F"/>
                          </a:solidFill>
                        </a:rPr>
                        <a:t>General serial manipulators (2R is a special case)</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400" dirty="0">
                          <a:solidFill>
                            <a:srgbClr val="1B1B1F"/>
                          </a:solidFill>
                        </a:rPr>
                        <a:t>Exact and light to compute; two elbow solutions</a:t>
                      </a:r>
                      <a:endParaRPr lang="en-US" sz="1400" dirty="0"/>
                    </a:p>
                  </a:txBody>
                  <a:tcPr marL="109728" marR="109728" marT="54864" marB="54864"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Observation Card"/>
          <p:cNvSpPr/>
          <p:nvPr/>
        </p:nvSpPr>
        <p:spPr>
          <a:xfrm>
            <a:off x="548640" y="5166360"/>
            <a:ext cx="11091672" cy="1097280"/>
          </a:xfrm>
          <a:prstGeom prst="roundRect">
            <a:avLst>
              <a:gd name="adj" fmla="val 8333"/>
            </a:avLst>
          </a:prstGeom>
          <a:solidFill>
            <a:schemeClr val="bg2"/>
          </a:solidFill>
          <a:ln w="9525">
            <a:solidFill>
              <a:schemeClr val="accent6">
                <a:alpha val="45000"/>
              </a:schemeClr>
            </a:solidFill>
            <a:prstDash val="solid"/>
          </a:ln>
        </p:spPr>
      </p:sp>
      <p:sp>
        <p:nvSpPr>
          <p:cNvPr id="4" name="IconBadge FaLightbulb"/>
          <p:cNvSpPr/>
          <p:nvPr/>
        </p:nvSpPr>
        <p:spPr>
          <a:xfrm>
            <a:off x="731520" y="5431536"/>
            <a:ext cx="566928" cy="566928"/>
          </a:xfrm>
          <a:prstGeom prst="ellipse">
            <a:avLst/>
          </a:prstGeom>
          <a:solidFill>
            <a:schemeClr val="accent3"/>
          </a:solidFill>
          <a:ln w="12700">
            <a:solidFill>
              <a:schemeClr val="accent3"/>
            </a:solidFill>
            <a:prstDash val="solid"/>
          </a:ln>
        </p:spPr>
      </p:sp>
      <p:pic>
        <p:nvPicPr>
          <p:cNvPr id="8" name="Image 0" descr="FaLightbulb icon"/>
          <p:cNvPicPr>
            <a:picLocks noChangeAspect="1"/>
          </p:cNvPicPr>
          <p:nvPr/>
        </p:nvPicPr>
        <p:blipFill>
          <a:blip r:embed="rId3"/>
          <a:stretch>
            <a:fillRect/>
          </a:stretch>
        </p:blipFill>
        <p:spPr>
          <a:xfrm>
            <a:off x="873252" y="5573268"/>
            <a:ext cx="283464" cy="283464"/>
          </a:xfrm>
          <a:prstGeom prst="rect">
            <a:avLst/>
          </a:prstGeom>
        </p:spPr>
      </p:pic>
      <p:sp>
        <p:nvSpPr>
          <p:cNvPr id="9" name="Observation Text"/>
          <p:cNvSpPr txBox="1"/>
          <p:nvPr/>
        </p:nvSpPr>
        <p:spPr>
          <a:xfrm>
            <a:off x="1508760" y="5276088"/>
            <a:ext cx="9875520" cy="877824"/>
          </a:xfrm>
          <a:prstGeom prst="rect">
            <a:avLst/>
          </a:prstGeom>
          <a:noFill/>
          <a:ln/>
        </p:spPr>
        <p:txBody>
          <a:bodyPr wrap="square" lIns="0" tIns="0" rIns="0" bIns="0" rtlCol="0" anchor="ctr"/>
          <a:lstStyle/>
          <a:p>
            <a:pPr marL="0" indent="0">
              <a:buNone/>
            </a:pPr>
            <a:r>
              <a:rPr lang="en-US" sz="1600" b="1" dirty="0">
                <a:solidFill>
                  <a:schemeClr val="accent3"/>
                </a:solidFill>
              </a:rPr>
              <a:t>Observation: </a:t>
            </a:r>
            <a:r>
              <a:rPr lang="en-US" sz="1600" dirty="0">
                <a:solidFill>
                  <a:schemeClr val="tx1"/>
                </a:solidFill>
              </a:rPr>
              <a:t>advanced solvers are demonstrated on redundant three-link arms in simulation [4], [5]. For a two-link arm, closed-form IK is sufficient and can be validated directly on hardware.</a:t>
            </a:r>
            <a:endParaRPr lang="en-US" sz="16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Literature Survey</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(3/3) Stepper actuation: open-loop versus encoder-based closed-loop control</a:t>
            </a:r>
            <a:endParaRPr lang="en-US" sz="1600" dirty="0"/>
          </a:p>
        </p:txBody>
      </p:sp>
      <p:sp>
        <p:nvSpPr>
          <p:cNvPr id="5" name="Comparison Card 1"/>
          <p:cNvSpPr/>
          <p:nvPr/>
        </p:nvSpPr>
        <p:spPr>
          <a:xfrm>
            <a:off x="548640" y="1508760"/>
            <a:ext cx="3246120" cy="4572000"/>
          </a:xfrm>
          <a:prstGeom prst="roundRect">
            <a:avLst>
              <a:gd name="adj" fmla="val 2817"/>
            </a:avLst>
          </a:prstGeom>
          <a:solidFill>
            <a:schemeClr val="bg2"/>
          </a:solidFill>
          <a:ln w="9525">
            <a:solidFill>
              <a:schemeClr val="accent6">
                <a:alpha val="45000"/>
              </a:schemeClr>
            </a:solidFill>
            <a:prstDash val="solid"/>
          </a:ln>
        </p:spPr>
      </p:sp>
      <p:sp>
        <p:nvSpPr>
          <p:cNvPr id="6" name="Comparison Header 1"/>
          <p:cNvSpPr/>
          <p:nvPr/>
        </p:nvSpPr>
        <p:spPr>
          <a:xfrm>
            <a:off x="548640" y="1508760"/>
            <a:ext cx="3246120" cy="640080"/>
          </a:xfrm>
          <a:prstGeom prst="roundRect">
            <a:avLst>
              <a:gd name="adj" fmla="val 14286"/>
            </a:avLst>
          </a:prstGeom>
          <a:solidFill>
            <a:schemeClr val="accent3"/>
          </a:solidFill>
          <a:ln w="12700">
            <a:solidFill>
              <a:schemeClr val="accent3"/>
            </a:solidFill>
            <a:prstDash val="solid"/>
          </a:ln>
        </p:spPr>
      </p:sp>
      <p:sp>
        <p:nvSpPr>
          <p:cNvPr id="7" name="Comparison Title 1"/>
          <p:cNvSpPr txBox="1"/>
          <p:nvPr/>
        </p:nvSpPr>
        <p:spPr>
          <a:xfrm>
            <a:off x="731520" y="1508760"/>
            <a:ext cx="2880360" cy="640080"/>
          </a:xfrm>
          <a:prstGeom prst="rect">
            <a:avLst/>
          </a:prstGeom>
          <a:noFill/>
          <a:ln/>
        </p:spPr>
        <p:txBody>
          <a:bodyPr wrap="square" lIns="0" tIns="0" rIns="0" bIns="0" rtlCol="0" anchor="ctr"/>
          <a:lstStyle/>
          <a:p>
            <a:pPr marL="0" indent="0">
              <a:buNone/>
            </a:pPr>
            <a:r>
              <a:rPr lang="en-US" sz="1600" b="1" dirty="0">
                <a:solidFill>
                  <a:schemeClr val="bg1"/>
                </a:solidFill>
              </a:rPr>
              <a:t>Open-loop (motor only)</a:t>
            </a:r>
            <a:endParaRPr lang="en-US" sz="1600" dirty="0"/>
          </a:p>
        </p:txBody>
      </p:sp>
      <p:pic>
        <p:nvPicPr>
          <p:cNvPr id="8" name="Image 0" descr="FaTimesCircle"/>
          <p:cNvPicPr>
            <a:picLocks noChangeAspect="1"/>
          </p:cNvPicPr>
          <p:nvPr/>
        </p:nvPicPr>
        <p:blipFill>
          <a:blip r:embed="rId3"/>
          <a:stretch>
            <a:fillRect/>
          </a:stretch>
        </p:blipFill>
        <p:spPr>
          <a:xfrm>
            <a:off x="731520" y="2404872"/>
            <a:ext cx="292608" cy="292608"/>
          </a:xfrm>
          <a:prstGeom prst="rect">
            <a:avLst/>
          </a:prstGeom>
        </p:spPr>
      </p:pic>
      <p:sp>
        <p:nvSpPr>
          <p:cNvPr id="9" name="Comparison Item 1-1"/>
          <p:cNvSpPr txBox="1"/>
          <p:nvPr/>
        </p:nvSpPr>
        <p:spPr>
          <a:xfrm>
            <a:off x="1143000" y="2331720"/>
            <a:ext cx="2514600" cy="777240"/>
          </a:xfrm>
          <a:prstGeom prst="rect">
            <a:avLst/>
          </a:prstGeom>
          <a:noFill/>
          <a:ln/>
        </p:spPr>
        <p:txBody>
          <a:bodyPr wrap="square" lIns="0" tIns="0" rIns="0" bIns="0" rtlCol="0" anchor="t"/>
          <a:lstStyle/>
          <a:p>
            <a:pPr marL="0" indent="0">
              <a:buNone/>
            </a:pPr>
            <a:r>
              <a:rPr lang="en-US" sz="1400" dirty="0">
                <a:solidFill>
                  <a:schemeClr val="tx1"/>
                </a:solidFill>
              </a:rPr>
              <a:t>Commanded steps assumed = actual steps</a:t>
            </a:r>
            <a:endParaRPr lang="en-US" sz="1400" dirty="0"/>
          </a:p>
        </p:txBody>
      </p:sp>
      <p:pic>
        <p:nvPicPr>
          <p:cNvPr id="10" name="Image 1" descr="FaTimesCircle"/>
          <p:cNvPicPr>
            <a:picLocks noChangeAspect="1"/>
          </p:cNvPicPr>
          <p:nvPr/>
        </p:nvPicPr>
        <p:blipFill>
          <a:blip r:embed="rId3"/>
          <a:stretch>
            <a:fillRect/>
          </a:stretch>
        </p:blipFill>
        <p:spPr>
          <a:xfrm>
            <a:off x="731520" y="3319272"/>
            <a:ext cx="292608" cy="292608"/>
          </a:xfrm>
          <a:prstGeom prst="rect">
            <a:avLst/>
          </a:prstGeom>
        </p:spPr>
      </p:pic>
      <p:sp>
        <p:nvSpPr>
          <p:cNvPr id="11" name="Comparison Item 1-2"/>
          <p:cNvSpPr txBox="1"/>
          <p:nvPr/>
        </p:nvSpPr>
        <p:spPr>
          <a:xfrm>
            <a:off x="1143000" y="3246120"/>
            <a:ext cx="2514600" cy="777240"/>
          </a:xfrm>
          <a:prstGeom prst="rect">
            <a:avLst/>
          </a:prstGeom>
          <a:noFill/>
          <a:ln/>
        </p:spPr>
        <p:txBody>
          <a:bodyPr wrap="square" lIns="0" tIns="0" rIns="0" bIns="0" rtlCol="0" anchor="t"/>
          <a:lstStyle/>
          <a:p>
            <a:pPr marL="0" indent="0">
              <a:buNone/>
            </a:pPr>
            <a:r>
              <a:rPr lang="en-US" sz="1400" dirty="0">
                <a:solidFill>
                  <a:schemeClr val="tx1"/>
                </a:solidFill>
              </a:rPr>
              <a:t>No knowledge of true joint angle</a:t>
            </a:r>
            <a:endParaRPr lang="en-US" sz="1400" dirty="0"/>
          </a:p>
        </p:txBody>
      </p:sp>
      <p:pic>
        <p:nvPicPr>
          <p:cNvPr id="12" name="Image 2" descr="FaTimesCircle"/>
          <p:cNvPicPr>
            <a:picLocks noChangeAspect="1"/>
          </p:cNvPicPr>
          <p:nvPr/>
        </p:nvPicPr>
        <p:blipFill>
          <a:blip r:embed="rId3"/>
          <a:stretch>
            <a:fillRect/>
          </a:stretch>
        </p:blipFill>
        <p:spPr>
          <a:xfrm>
            <a:off x="731520" y="4233672"/>
            <a:ext cx="292608" cy="292608"/>
          </a:xfrm>
          <a:prstGeom prst="rect">
            <a:avLst/>
          </a:prstGeom>
        </p:spPr>
      </p:pic>
      <p:sp>
        <p:nvSpPr>
          <p:cNvPr id="13" name="Comparison Item 1-3"/>
          <p:cNvSpPr txBox="1"/>
          <p:nvPr/>
        </p:nvSpPr>
        <p:spPr>
          <a:xfrm>
            <a:off x="1143000" y="4160520"/>
            <a:ext cx="2514600" cy="777240"/>
          </a:xfrm>
          <a:prstGeom prst="rect">
            <a:avLst/>
          </a:prstGeom>
          <a:noFill/>
          <a:ln/>
        </p:spPr>
        <p:txBody>
          <a:bodyPr wrap="square" lIns="0" tIns="0" rIns="0" bIns="0" rtlCol="0" anchor="t"/>
          <a:lstStyle/>
          <a:p>
            <a:pPr marL="0" indent="0">
              <a:buNone/>
            </a:pPr>
            <a:r>
              <a:rPr lang="en-US" sz="1400" dirty="0">
                <a:solidFill>
                  <a:schemeClr val="tx1"/>
                </a:solidFill>
              </a:rPr>
              <a:t>Errors accumulate silently over a path</a:t>
            </a:r>
            <a:endParaRPr lang="en-US" sz="1400" dirty="0"/>
          </a:p>
        </p:txBody>
      </p:sp>
      <p:pic>
        <p:nvPicPr>
          <p:cNvPr id="14" name="Image 3" descr="FaTimesCircle"/>
          <p:cNvPicPr>
            <a:picLocks noChangeAspect="1"/>
          </p:cNvPicPr>
          <p:nvPr/>
        </p:nvPicPr>
        <p:blipFill>
          <a:blip r:embed="rId3"/>
          <a:stretch>
            <a:fillRect/>
          </a:stretch>
        </p:blipFill>
        <p:spPr>
          <a:xfrm>
            <a:off x="731520" y="5148072"/>
            <a:ext cx="292608" cy="292608"/>
          </a:xfrm>
          <a:prstGeom prst="rect">
            <a:avLst/>
          </a:prstGeom>
        </p:spPr>
      </p:pic>
      <p:sp>
        <p:nvSpPr>
          <p:cNvPr id="15" name="Comparison Item 1-4"/>
          <p:cNvSpPr txBox="1"/>
          <p:nvPr/>
        </p:nvSpPr>
        <p:spPr>
          <a:xfrm>
            <a:off x="1143000" y="5074920"/>
            <a:ext cx="2514600" cy="777240"/>
          </a:xfrm>
          <a:prstGeom prst="rect">
            <a:avLst/>
          </a:prstGeom>
          <a:noFill/>
          <a:ln/>
        </p:spPr>
        <p:txBody>
          <a:bodyPr wrap="square" lIns="0" tIns="0" rIns="0" bIns="0" rtlCol="0" anchor="t"/>
          <a:lstStyle/>
          <a:p>
            <a:pPr marL="0" indent="0">
              <a:buNone/>
            </a:pPr>
            <a:r>
              <a:rPr lang="en-US" sz="1400" dirty="0">
                <a:solidFill>
                  <a:schemeClr val="tx1"/>
                </a:solidFill>
              </a:rPr>
              <a:t>Cheaper and simpler, but drift-prone</a:t>
            </a:r>
            <a:endParaRPr lang="en-US" sz="1400" dirty="0"/>
          </a:p>
        </p:txBody>
      </p:sp>
      <p:sp>
        <p:nvSpPr>
          <p:cNvPr id="16" name="Comparison Card 2"/>
          <p:cNvSpPr/>
          <p:nvPr/>
        </p:nvSpPr>
        <p:spPr>
          <a:xfrm>
            <a:off x="3977640" y="1508760"/>
            <a:ext cx="3246120" cy="4572000"/>
          </a:xfrm>
          <a:prstGeom prst="roundRect">
            <a:avLst>
              <a:gd name="adj" fmla="val 2817"/>
            </a:avLst>
          </a:prstGeom>
          <a:solidFill>
            <a:schemeClr val="bg2"/>
          </a:solidFill>
          <a:ln w="9525">
            <a:solidFill>
              <a:schemeClr val="accent6">
                <a:alpha val="45000"/>
              </a:schemeClr>
            </a:solidFill>
            <a:prstDash val="solid"/>
          </a:ln>
        </p:spPr>
      </p:sp>
      <p:sp>
        <p:nvSpPr>
          <p:cNvPr id="17" name="Comparison Header 2"/>
          <p:cNvSpPr/>
          <p:nvPr/>
        </p:nvSpPr>
        <p:spPr>
          <a:xfrm>
            <a:off x="3977640" y="1508760"/>
            <a:ext cx="3246120" cy="640080"/>
          </a:xfrm>
          <a:prstGeom prst="roundRect">
            <a:avLst>
              <a:gd name="adj" fmla="val 14286"/>
            </a:avLst>
          </a:prstGeom>
          <a:solidFill>
            <a:schemeClr val="accent2"/>
          </a:solidFill>
          <a:ln w="12700">
            <a:solidFill>
              <a:schemeClr val="accent2"/>
            </a:solidFill>
            <a:prstDash val="solid"/>
          </a:ln>
        </p:spPr>
      </p:sp>
      <p:sp>
        <p:nvSpPr>
          <p:cNvPr id="18" name="Comparison Title 2"/>
          <p:cNvSpPr txBox="1"/>
          <p:nvPr/>
        </p:nvSpPr>
        <p:spPr>
          <a:xfrm>
            <a:off x="4160520" y="1508760"/>
            <a:ext cx="2880360" cy="640080"/>
          </a:xfrm>
          <a:prstGeom prst="rect">
            <a:avLst/>
          </a:prstGeom>
          <a:noFill/>
          <a:ln/>
        </p:spPr>
        <p:txBody>
          <a:bodyPr wrap="square" lIns="0" tIns="0" rIns="0" bIns="0" rtlCol="0" anchor="ctr"/>
          <a:lstStyle/>
          <a:p>
            <a:pPr marL="0" indent="0">
              <a:buNone/>
            </a:pPr>
            <a:r>
              <a:rPr lang="en-US" sz="1600" b="1" dirty="0">
                <a:solidFill>
                  <a:schemeClr val="bg1"/>
                </a:solidFill>
              </a:rPr>
              <a:t>Closed-loop (with encoders)</a:t>
            </a:r>
            <a:endParaRPr lang="en-US" sz="1600" dirty="0"/>
          </a:p>
        </p:txBody>
      </p:sp>
      <p:pic>
        <p:nvPicPr>
          <p:cNvPr id="19" name="Image 4" descr="FaCheckCircle"/>
          <p:cNvPicPr>
            <a:picLocks noChangeAspect="1"/>
          </p:cNvPicPr>
          <p:nvPr/>
        </p:nvPicPr>
        <p:blipFill>
          <a:blip r:embed="rId4"/>
          <a:stretch>
            <a:fillRect/>
          </a:stretch>
        </p:blipFill>
        <p:spPr>
          <a:xfrm>
            <a:off x="4160520" y="2404872"/>
            <a:ext cx="292608" cy="292608"/>
          </a:xfrm>
          <a:prstGeom prst="rect">
            <a:avLst/>
          </a:prstGeom>
        </p:spPr>
      </p:pic>
      <p:sp>
        <p:nvSpPr>
          <p:cNvPr id="20" name="Comparison Item 2-1"/>
          <p:cNvSpPr txBox="1"/>
          <p:nvPr/>
        </p:nvSpPr>
        <p:spPr>
          <a:xfrm>
            <a:off x="4572000" y="2331720"/>
            <a:ext cx="2514600" cy="777240"/>
          </a:xfrm>
          <a:prstGeom prst="rect">
            <a:avLst/>
          </a:prstGeom>
          <a:noFill/>
          <a:ln/>
        </p:spPr>
        <p:txBody>
          <a:bodyPr wrap="square" lIns="0" tIns="0" rIns="0" bIns="0" rtlCol="0" anchor="t"/>
          <a:lstStyle/>
          <a:p>
            <a:pPr marL="0" indent="0">
              <a:buNone/>
            </a:pPr>
            <a:r>
              <a:rPr lang="en-US" sz="1400" dirty="0">
                <a:solidFill>
                  <a:schemeClr val="tx1"/>
                </a:solidFill>
              </a:rPr>
              <a:t>Encoder reports the true joint angle</a:t>
            </a:r>
            <a:endParaRPr lang="en-US" sz="1400" dirty="0"/>
          </a:p>
        </p:txBody>
      </p:sp>
      <p:pic>
        <p:nvPicPr>
          <p:cNvPr id="21" name="Image 5" descr="FaCheckCircle"/>
          <p:cNvPicPr>
            <a:picLocks noChangeAspect="1"/>
          </p:cNvPicPr>
          <p:nvPr/>
        </p:nvPicPr>
        <p:blipFill>
          <a:blip r:embed="rId4"/>
          <a:stretch>
            <a:fillRect/>
          </a:stretch>
        </p:blipFill>
        <p:spPr>
          <a:xfrm>
            <a:off x="4160520" y="3319272"/>
            <a:ext cx="292608" cy="292608"/>
          </a:xfrm>
          <a:prstGeom prst="rect">
            <a:avLst/>
          </a:prstGeom>
        </p:spPr>
      </p:pic>
      <p:sp>
        <p:nvSpPr>
          <p:cNvPr id="22" name="Comparison Item 2-2"/>
          <p:cNvSpPr txBox="1"/>
          <p:nvPr/>
        </p:nvSpPr>
        <p:spPr>
          <a:xfrm>
            <a:off x="4572000" y="3246120"/>
            <a:ext cx="2514600" cy="777240"/>
          </a:xfrm>
          <a:prstGeom prst="rect">
            <a:avLst/>
          </a:prstGeom>
          <a:noFill/>
          <a:ln/>
        </p:spPr>
        <p:txBody>
          <a:bodyPr wrap="square" lIns="0" tIns="0" rIns="0" bIns="0" rtlCol="0" anchor="t"/>
          <a:lstStyle/>
          <a:p>
            <a:pPr marL="0" indent="0">
              <a:buNone/>
            </a:pPr>
            <a:r>
              <a:rPr lang="en-US" sz="1400" dirty="0">
                <a:solidFill>
                  <a:schemeClr val="tx1"/>
                </a:solidFill>
              </a:rPr>
              <a:t>Controller compares actual vs desired θ</a:t>
            </a:r>
            <a:endParaRPr lang="en-US" sz="1400" dirty="0"/>
          </a:p>
        </p:txBody>
      </p:sp>
      <p:pic>
        <p:nvPicPr>
          <p:cNvPr id="23" name="Image 6" descr="FaCheckCircle"/>
          <p:cNvPicPr>
            <a:picLocks noChangeAspect="1"/>
          </p:cNvPicPr>
          <p:nvPr/>
        </p:nvPicPr>
        <p:blipFill>
          <a:blip r:embed="rId4"/>
          <a:stretch>
            <a:fillRect/>
          </a:stretch>
        </p:blipFill>
        <p:spPr>
          <a:xfrm>
            <a:off x="4160520" y="4233672"/>
            <a:ext cx="292608" cy="292608"/>
          </a:xfrm>
          <a:prstGeom prst="rect">
            <a:avLst/>
          </a:prstGeom>
        </p:spPr>
      </p:pic>
      <p:sp>
        <p:nvSpPr>
          <p:cNvPr id="24" name="Comparison Item 2-3"/>
          <p:cNvSpPr txBox="1"/>
          <p:nvPr/>
        </p:nvSpPr>
        <p:spPr>
          <a:xfrm>
            <a:off x="4572000" y="4160520"/>
            <a:ext cx="2514600" cy="777240"/>
          </a:xfrm>
          <a:prstGeom prst="rect">
            <a:avLst/>
          </a:prstGeom>
          <a:noFill/>
          <a:ln/>
        </p:spPr>
        <p:txBody>
          <a:bodyPr wrap="square" lIns="0" tIns="0" rIns="0" bIns="0" rtlCol="0" anchor="t"/>
          <a:lstStyle/>
          <a:p>
            <a:pPr marL="0" indent="0">
              <a:buNone/>
            </a:pPr>
            <a:r>
              <a:rPr lang="en-US" sz="1400" dirty="0">
                <a:solidFill>
                  <a:schemeClr val="tx1"/>
                </a:solidFill>
              </a:rPr>
              <a:t>Error corrected before the next waypoint</a:t>
            </a:r>
            <a:endParaRPr lang="en-US" sz="1400" dirty="0"/>
          </a:p>
        </p:txBody>
      </p:sp>
      <p:pic>
        <p:nvPicPr>
          <p:cNvPr id="25" name="Image 7" descr="FaCheckCircle"/>
          <p:cNvPicPr>
            <a:picLocks noChangeAspect="1"/>
          </p:cNvPicPr>
          <p:nvPr/>
        </p:nvPicPr>
        <p:blipFill>
          <a:blip r:embed="rId4"/>
          <a:stretch>
            <a:fillRect/>
          </a:stretch>
        </p:blipFill>
        <p:spPr>
          <a:xfrm>
            <a:off x="4160520" y="5148072"/>
            <a:ext cx="292608" cy="292608"/>
          </a:xfrm>
          <a:prstGeom prst="rect">
            <a:avLst/>
          </a:prstGeom>
        </p:spPr>
      </p:pic>
      <p:sp>
        <p:nvSpPr>
          <p:cNvPr id="26" name="Comparison Item 2-4"/>
          <p:cNvSpPr txBox="1"/>
          <p:nvPr/>
        </p:nvSpPr>
        <p:spPr>
          <a:xfrm>
            <a:off x="4572000" y="5074920"/>
            <a:ext cx="2514600" cy="777240"/>
          </a:xfrm>
          <a:prstGeom prst="rect">
            <a:avLst/>
          </a:prstGeom>
          <a:noFill/>
          <a:ln/>
        </p:spPr>
        <p:txBody>
          <a:bodyPr wrap="square" lIns="0" tIns="0" rIns="0" bIns="0" rtlCol="0" anchor="t"/>
          <a:lstStyle/>
          <a:p>
            <a:pPr marL="0" indent="0">
              <a:buNone/>
            </a:pPr>
            <a:r>
              <a:rPr lang="en-US" sz="1400" dirty="0">
                <a:solidFill>
                  <a:schemeClr val="tx1"/>
                </a:solidFill>
              </a:rPr>
              <a:t>Accurate, repeatable trajectory tracking</a:t>
            </a:r>
            <a:endParaRPr lang="en-US" sz="1400" dirty="0"/>
          </a:p>
        </p:txBody>
      </p:sp>
      <p:sp>
        <p:nvSpPr>
          <p:cNvPr id="27" name="Loop Panel"/>
          <p:cNvSpPr/>
          <p:nvPr/>
        </p:nvSpPr>
        <p:spPr>
          <a:xfrm>
            <a:off x="7589520" y="1508760"/>
            <a:ext cx="4050792" cy="4572000"/>
          </a:xfrm>
          <a:prstGeom prst="roundRect">
            <a:avLst>
              <a:gd name="adj" fmla="val 2257"/>
            </a:avLst>
          </a:prstGeom>
          <a:solidFill>
            <a:schemeClr val="bg2"/>
          </a:solidFill>
          <a:ln w="9525">
            <a:solidFill>
              <a:schemeClr val="accent6">
                <a:alpha val="45000"/>
              </a:schemeClr>
            </a:solidFill>
            <a:prstDash val="solid"/>
          </a:ln>
        </p:spPr>
      </p:sp>
      <p:sp>
        <p:nvSpPr>
          <p:cNvPr id="28" name="Loop Heading"/>
          <p:cNvSpPr txBox="1"/>
          <p:nvPr/>
        </p:nvSpPr>
        <p:spPr>
          <a:xfrm>
            <a:off x="7818120" y="1645920"/>
            <a:ext cx="3566160" cy="320040"/>
          </a:xfrm>
          <a:prstGeom prst="rect">
            <a:avLst/>
          </a:prstGeom>
          <a:noFill/>
          <a:ln/>
        </p:spPr>
        <p:txBody>
          <a:bodyPr wrap="square" lIns="0" tIns="0" rIns="0" bIns="0" rtlCol="0" anchor="t"/>
          <a:lstStyle/>
          <a:p>
            <a:pPr marL="0" indent="0">
              <a:buNone/>
            </a:pPr>
            <a:r>
              <a:rPr lang="en-US" sz="1600" b="1" dirty="0">
                <a:solidFill>
                  <a:schemeClr val="tx2"/>
                </a:solidFill>
              </a:rPr>
              <a:t>Encoder feedback loop [6]</a:t>
            </a:r>
            <a:endParaRPr lang="en-US" sz="1600" dirty="0"/>
          </a:p>
        </p:txBody>
      </p:sp>
      <p:sp>
        <p:nvSpPr>
          <p:cNvPr id="29" name="Loop Text"/>
          <p:cNvSpPr txBox="1"/>
          <p:nvPr/>
        </p:nvSpPr>
        <p:spPr>
          <a:xfrm>
            <a:off x="7818120" y="2011680"/>
            <a:ext cx="3566160" cy="685800"/>
          </a:xfrm>
          <a:prstGeom prst="rect">
            <a:avLst/>
          </a:prstGeom>
          <a:noFill/>
          <a:ln/>
        </p:spPr>
        <p:txBody>
          <a:bodyPr wrap="square" lIns="0" tIns="0" rIns="0" bIns="0" rtlCol="0" anchor="t"/>
          <a:lstStyle/>
          <a:p>
            <a:pPr marL="0" indent="0">
              <a:buNone/>
            </a:pPr>
            <a:r>
              <a:rPr lang="en-US" sz="1400" dirty="0">
                <a:solidFill>
                  <a:schemeClr val="tx1"/>
                </a:solidFill>
              </a:rPr>
              <a:t>The encoder samples rotor position, so lost steps are detected and compensated.</a:t>
            </a:r>
            <a:endParaRPr lang="en-US" sz="1400" dirty="0"/>
          </a:p>
        </p:txBody>
      </p:sp>
      <p:sp>
        <p:nvSpPr>
          <p:cNvPr id="30" name="Loop Box 1"/>
          <p:cNvSpPr/>
          <p:nvPr/>
        </p:nvSpPr>
        <p:spPr>
          <a:xfrm>
            <a:off x="7818120" y="2926080"/>
            <a:ext cx="1645920" cy="822960"/>
          </a:xfrm>
          <a:prstGeom prst="roundRect">
            <a:avLst>
              <a:gd name="adj" fmla="val 11111"/>
            </a:avLst>
          </a:prstGeom>
          <a:solidFill>
            <a:schemeClr val="accent1"/>
          </a:solidFill>
          <a:ln w="12700">
            <a:solidFill>
              <a:schemeClr val="accent1"/>
            </a:solidFill>
            <a:prstDash val="solid"/>
          </a:ln>
        </p:spPr>
      </p:sp>
      <p:sp>
        <p:nvSpPr>
          <p:cNvPr id="31" name="Loop Label 1"/>
          <p:cNvSpPr txBox="1"/>
          <p:nvPr/>
        </p:nvSpPr>
        <p:spPr>
          <a:xfrm>
            <a:off x="7818120" y="2926080"/>
            <a:ext cx="1645920" cy="822960"/>
          </a:xfrm>
          <a:prstGeom prst="rect">
            <a:avLst/>
          </a:prstGeom>
          <a:noFill/>
          <a:ln/>
        </p:spPr>
        <p:txBody>
          <a:bodyPr wrap="square" lIns="0" tIns="0" rIns="0" bIns="0" rtlCol="0" anchor="ctr"/>
          <a:lstStyle/>
          <a:p>
            <a:pPr marL="0" indent="0" algn="ctr">
              <a:buNone/>
            </a:pPr>
            <a:r>
              <a:rPr lang="en-US" sz="1400" b="1" dirty="0">
                <a:solidFill>
                  <a:schemeClr val="bg1"/>
                </a:solidFill>
              </a:rPr>
              <a:t>Controller</a:t>
            </a:r>
            <a:endParaRPr lang="en-US" sz="1400" dirty="0"/>
          </a:p>
        </p:txBody>
      </p:sp>
      <p:sp>
        <p:nvSpPr>
          <p:cNvPr id="32" name="Loop Box 2"/>
          <p:cNvSpPr/>
          <p:nvPr/>
        </p:nvSpPr>
        <p:spPr>
          <a:xfrm>
            <a:off x="9738360" y="2926080"/>
            <a:ext cx="1645920" cy="822960"/>
          </a:xfrm>
          <a:prstGeom prst="roundRect">
            <a:avLst>
              <a:gd name="adj" fmla="val 11111"/>
            </a:avLst>
          </a:prstGeom>
          <a:solidFill>
            <a:schemeClr val="accent2"/>
          </a:solidFill>
          <a:ln w="12700">
            <a:solidFill>
              <a:schemeClr val="accent2"/>
            </a:solidFill>
            <a:prstDash val="solid"/>
          </a:ln>
        </p:spPr>
      </p:sp>
      <p:sp>
        <p:nvSpPr>
          <p:cNvPr id="33" name="Loop Label 2"/>
          <p:cNvSpPr txBox="1"/>
          <p:nvPr/>
        </p:nvSpPr>
        <p:spPr>
          <a:xfrm>
            <a:off x="9738360" y="2926080"/>
            <a:ext cx="1645920" cy="822960"/>
          </a:xfrm>
          <a:prstGeom prst="rect">
            <a:avLst/>
          </a:prstGeom>
          <a:noFill/>
          <a:ln/>
        </p:spPr>
        <p:txBody>
          <a:bodyPr wrap="square" lIns="0" tIns="0" rIns="0" bIns="0" rtlCol="0" anchor="ctr"/>
          <a:lstStyle/>
          <a:p>
            <a:pPr marL="0" indent="0" algn="ctr">
              <a:buNone/>
            </a:pPr>
            <a:r>
              <a:rPr lang="en-US" sz="1400" b="1" dirty="0">
                <a:solidFill>
                  <a:schemeClr val="bg1"/>
                </a:solidFill>
              </a:rPr>
              <a:t>Driver + Stepper</a:t>
            </a:r>
            <a:endParaRPr lang="en-US" sz="1400" dirty="0"/>
          </a:p>
        </p:txBody>
      </p:sp>
      <p:sp>
        <p:nvSpPr>
          <p:cNvPr id="34" name="Loop Box 3"/>
          <p:cNvSpPr/>
          <p:nvPr/>
        </p:nvSpPr>
        <p:spPr>
          <a:xfrm>
            <a:off x="9738360" y="4754880"/>
            <a:ext cx="1645920" cy="822960"/>
          </a:xfrm>
          <a:prstGeom prst="roundRect">
            <a:avLst>
              <a:gd name="adj" fmla="val 11111"/>
            </a:avLst>
          </a:prstGeom>
          <a:solidFill>
            <a:schemeClr val="accent3"/>
          </a:solidFill>
          <a:ln w="12700">
            <a:solidFill>
              <a:schemeClr val="accent3"/>
            </a:solidFill>
            <a:prstDash val="solid"/>
          </a:ln>
        </p:spPr>
      </p:sp>
      <p:sp>
        <p:nvSpPr>
          <p:cNvPr id="35" name="Loop Label 3"/>
          <p:cNvSpPr txBox="1"/>
          <p:nvPr/>
        </p:nvSpPr>
        <p:spPr>
          <a:xfrm>
            <a:off x="9738360" y="4754880"/>
            <a:ext cx="1645920" cy="822960"/>
          </a:xfrm>
          <a:prstGeom prst="rect">
            <a:avLst/>
          </a:prstGeom>
          <a:noFill/>
          <a:ln/>
        </p:spPr>
        <p:txBody>
          <a:bodyPr wrap="square" lIns="0" tIns="0" rIns="0" bIns="0" rtlCol="0" anchor="ctr"/>
          <a:lstStyle/>
          <a:p>
            <a:pPr marL="0" indent="0" algn="ctr">
              <a:buNone/>
            </a:pPr>
            <a:r>
              <a:rPr lang="en-US" sz="1400" b="1" dirty="0">
                <a:solidFill>
                  <a:schemeClr val="bg1"/>
                </a:solidFill>
              </a:rPr>
              <a:t>Encoder</a:t>
            </a:r>
            <a:endParaRPr lang="en-US" sz="1400" dirty="0"/>
          </a:p>
        </p:txBody>
      </p:sp>
      <p:sp>
        <p:nvSpPr>
          <p:cNvPr id="36" name="Loop Box 4"/>
          <p:cNvSpPr/>
          <p:nvPr/>
        </p:nvSpPr>
        <p:spPr>
          <a:xfrm>
            <a:off x="7818120" y="4754880"/>
            <a:ext cx="1645920" cy="822960"/>
          </a:xfrm>
          <a:prstGeom prst="roundRect">
            <a:avLst>
              <a:gd name="adj" fmla="val 11111"/>
            </a:avLst>
          </a:prstGeom>
          <a:solidFill>
            <a:schemeClr val="accent1"/>
          </a:solidFill>
          <a:ln w="12700">
            <a:solidFill>
              <a:schemeClr val="accent1"/>
            </a:solidFill>
            <a:prstDash val="solid"/>
          </a:ln>
        </p:spPr>
      </p:sp>
      <p:sp>
        <p:nvSpPr>
          <p:cNvPr id="37" name="Loop Label 4"/>
          <p:cNvSpPr txBox="1"/>
          <p:nvPr/>
        </p:nvSpPr>
        <p:spPr>
          <a:xfrm>
            <a:off x="7818120" y="4754880"/>
            <a:ext cx="1645920" cy="822960"/>
          </a:xfrm>
          <a:prstGeom prst="rect">
            <a:avLst/>
          </a:prstGeom>
          <a:noFill/>
          <a:ln/>
        </p:spPr>
        <p:txBody>
          <a:bodyPr wrap="square" lIns="0" tIns="0" rIns="0" bIns="0" rtlCol="0" anchor="ctr"/>
          <a:lstStyle/>
          <a:p>
            <a:pPr marL="0" indent="0" algn="ctr">
              <a:buNone/>
            </a:pPr>
            <a:r>
              <a:rPr lang="en-US" sz="1400" b="1" dirty="0">
                <a:solidFill>
                  <a:schemeClr val="bg1"/>
                </a:solidFill>
              </a:rPr>
              <a:t>Compare</a:t>
            </a:r>
            <a:endParaRPr lang="en-US" sz="1400" dirty="0"/>
          </a:p>
          <a:p>
            <a:pPr marL="0" indent="0" algn="ctr">
              <a:buNone/>
            </a:pPr>
            <a:r>
              <a:rPr lang="en-US" sz="1400" b="1" dirty="0">
                <a:solidFill>
                  <a:schemeClr val="bg1"/>
                </a:solidFill>
              </a:rPr>
              <a:t>actual vs desired</a:t>
            </a:r>
            <a:endParaRPr lang="en-US" sz="1400" dirty="0"/>
          </a:p>
        </p:txBody>
      </p:sp>
      <p:sp>
        <p:nvSpPr>
          <p:cNvPr id="38" name="Arrow Controller to Driver"/>
          <p:cNvSpPr/>
          <p:nvPr/>
        </p:nvSpPr>
        <p:spPr>
          <a:xfrm>
            <a:off x="9464040" y="3337560"/>
            <a:ext cx="274320" cy="0"/>
          </a:xfrm>
          <a:prstGeom prst="line">
            <a:avLst/>
          </a:prstGeom>
          <a:noFill/>
          <a:ln w="28575">
            <a:solidFill>
              <a:schemeClr val="accent6"/>
            </a:solidFill>
            <a:prstDash val="solid"/>
            <a:tailEnd type="triangle"/>
          </a:ln>
        </p:spPr>
      </p:sp>
      <p:sp>
        <p:nvSpPr>
          <p:cNvPr id="39" name="Arrow Stepper to Encoder"/>
          <p:cNvSpPr/>
          <p:nvPr/>
        </p:nvSpPr>
        <p:spPr>
          <a:xfrm>
            <a:off x="10561320" y="3749040"/>
            <a:ext cx="0" cy="1005840"/>
          </a:xfrm>
          <a:prstGeom prst="line">
            <a:avLst/>
          </a:prstGeom>
          <a:noFill/>
          <a:ln w="28575">
            <a:solidFill>
              <a:schemeClr val="accent6"/>
            </a:solidFill>
            <a:prstDash val="solid"/>
            <a:tailEnd type="triangle"/>
          </a:ln>
        </p:spPr>
      </p:sp>
      <p:sp>
        <p:nvSpPr>
          <p:cNvPr id="40" name="Arrow Encoder to Compare"/>
          <p:cNvSpPr/>
          <p:nvPr/>
        </p:nvSpPr>
        <p:spPr>
          <a:xfrm flipH="1">
            <a:off x="9464040" y="5166360"/>
            <a:ext cx="274320" cy="0"/>
          </a:xfrm>
          <a:prstGeom prst="line">
            <a:avLst/>
          </a:prstGeom>
          <a:noFill/>
          <a:ln w="28575">
            <a:solidFill>
              <a:schemeClr val="accent6"/>
            </a:solidFill>
            <a:prstDash val="solid"/>
            <a:tailEnd type="triangle"/>
          </a:ln>
        </p:spPr>
      </p:sp>
      <p:sp>
        <p:nvSpPr>
          <p:cNvPr id="41" name="Arrow Compare to Controller"/>
          <p:cNvSpPr/>
          <p:nvPr/>
        </p:nvSpPr>
        <p:spPr>
          <a:xfrm flipV="1">
            <a:off x="8641080" y="3749040"/>
            <a:ext cx="0" cy="1005840"/>
          </a:xfrm>
          <a:prstGeom prst="line">
            <a:avLst/>
          </a:prstGeom>
          <a:noFill/>
          <a:ln w="28575">
            <a:solidFill>
              <a:schemeClr val="accent6"/>
            </a:solidFill>
            <a:prstDash val="solid"/>
            <a:tailEnd type="triangle"/>
          </a:ln>
        </p:spPr>
      </p:sp>
      <p:sp>
        <p:nvSpPr>
          <p:cNvPr id="4"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Research Gaps and Problem Formulation</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What the literature leaves open, and the problem this project addresses</a:t>
            </a:r>
            <a:endParaRPr lang="en-US" sz="1600" dirty="0"/>
          </a:p>
        </p:txBody>
      </p:sp>
      <p:sp>
        <p:nvSpPr>
          <p:cNvPr id="5" name="Gaps Heading"/>
          <p:cNvSpPr txBox="1"/>
          <p:nvPr/>
        </p:nvSpPr>
        <p:spPr>
          <a:xfrm>
            <a:off x="548640" y="1481328"/>
            <a:ext cx="6400800" cy="320040"/>
          </a:xfrm>
          <a:prstGeom prst="rect">
            <a:avLst/>
          </a:prstGeom>
          <a:noFill/>
          <a:ln/>
        </p:spPr>
        <p:txBody>
          <a:bodyPr wrap="square" lIns="0" tIns="0" rIns="0" bIns="0" rtlCol="0" anchor="t"/>
          <a:lstStyle/>
          <a:p>
            <a:pPr marL="0" indent="0">
              <a:buNone/>
            </a:pPr>
            <a:r>
              <a:rPr lang="en-US" sz="1800" b="1" dirty="0">
                <a:solidFill>
                  <a:schemeClr val="tx2"/>
                </a:solidFill>
              </a:rPr>
              <a:t>Research gaps</a:t>
            </a:r>
            <a:endParaRPr lang="en-US" sz="1800" dirty="0"/>
          </a:p>
        </p:txBody>
      </p:sp>
      <p:sp>
        <p:nvSpPr>
          <p:cNvPr id="6" name="Gap Card 1"/>
          <p:cNvSpPr/>
          <p:nvPr/>
        </p:nvSpPr>
        <p:spPr>
          <a:xfrm>
            <a:off x="548640" y="1874520"/>
            <a:ext cx="6675120" cy="1234440"/>
          </a:xfrm>
          <a:prstGeom prst="roundRect">
            <a:avLst>
              <a:gd name="adj" fmla="val 7407"/>
            </a:avLst>
          </a:prstGeom>
          <a:solidFill>
            <a:schemeClr val="bg2"/>
          </a:solidFill>
          <a:ln w="9525">
            <a:solidFill>
              <a:schemeClr val="accent6">
                <a:alpha val="45000"/>
              </a:schemeClr>
            </a:solidFill>
            <a:prstDash val="solid"/>
          </a:ln>
        </p:spPr>
      </p:sp>
      <p:sp>
        <p:nvSpPr>
          <p:cNvPr id="7" name="IconBadge FaFlask"/>
          <p:cNvSpPr/>
          <p:nvPr/>
        </p:nvSpPr>
        <p:spPr>
          <a:xfrm>
            <a:off x="731520" y="2212848"/>
            <a:ext cx="566928" cy="566928"/>
          </a:xfrm>
          <a:prstGeom prst="ellipse">
            <a:avLst/>
          </a:prstGeom>
          <a:solidFill>
            <a:schemeClr val="accent1"/>
          </a:solidFill>
          <a:ln w="12700">
            <a:solidFill>
              <a:schemeClr val="accent1"/>
            </a:solidFill>
            <a:prstDash val="solid"/>
          </a:ln>
        </p:spPr>
      </p:sp>
      <p:pic>
        <p:nvPicPr>
          <p:cNvPr id="8" name="Image 0" descr="FaFlask icon"/>
          <p:cNvPicPr>
            <a:picLocks noChangeAspect="1"/>
          </p:cNvPicPr>
          <p:nvPr/>
        </p:nvPicPr>
        <p:blipFill>
          <a:blip r:embed="rId3"/>
          <a:stretch>
            <a:fillRect/>
          </a:stretch>
        </p:blipFill>
        <p:spPr>
          <a:xfrm>
            <a:off x="873252" y="2354580"/>
            <a:ext cx="283464" cy="283464"/>
          </a:xfrm>
          <a:prstGeom prst="rect">
            <a:avLst/>
          </a:prstGeom>
        </p:spPr>
      </p:pic>
      <p:sp>
        <p:nvSpPr>
          <p:cNvPr id="9" name="Gap Title 1"/>
          <p:cNvSpPr txBox="1"/>
          <p:nvPr/>
        </p:nvSpPr>
        <p:spPr>
          <a:xfrm>
            <a:off x="1554480" y="1984248"/>
            <a:ext cx="5486400" cy="274320"/>
          </a:xfrm>
          <a:prstGeom prst="rect">
            <a:avLst/>
          </a:prstGeom>
          <a:noFill/>
          <a:ln/>
        </p:spPr>
        <p:txBody>
          <a:bodyPr wrap="square" lIns="0" tIns="0" rIns="0" bIns="0" rtlCol="0" anchor="t"/>
          <a:lstStyle/>
          <a:p>
            <a:pPr marL="0" indent="0">
              <a:buNone/>
            </a:pPr>
            <a:r>
              <a:rPr lang="en-US" sz="1600" b="1" dirty="0">
                <a:solidFill>
                  <a:schemeClr val="tx2"/>
                </a:solidFill>
              </a:rPr>
              <a:t>Simulation-only validation</a:t>
            </a:r>
            <a:endParaRPr lang="en-US" sz="1600" dirty="0"/>
          </a:p>
        </p:txBody>
      </p:sp>
      <p:sp>
        <p:nvSpPr>
          <p:cNvPr id="10" name="Gap Text 1"/>
          <p:cNvSpPr txBox="1"/>
          <p:nvPr/>
        </p:nvSpPr>
        <p:spPr>
          <a:xfrm>
            <a:off x="1554480" y="2304288"/>
            <a:ext cx="5486400" cy="731520"/>
          </a:xfrm>
          <a:prstGeom prst="rect">
            <a:avLst/>
          </a:prstGeom>
          <a:noFill/>
          <a:ln/>
        </p:spPr>
        <p:txBody>
          <a:bodyPr wrap="square" lIns="0" tIns="0" rIns="0" bIns="0" rtlCol="0" anchor="t"/>
          <a:lstStyle/>
          <a:p>
            <a:pPr marL="0" indent="0">
              <a:buNone/>
            </a:pPr>
            <a:r>
              <a:rPr lang="en-US" sz="1400" dirty="0">
                <a:solidFill>
                  <a:schemeClr val="tx1"/>
                </a:solidFill>
              </a:rPr>
              <a:t>IK and trajectory-tracking studies [4], [5] are validated in MATLAB; hardware realisation is left open.</a:t>
            </a:r>
            <a:endParaRPr lang="en-US" sz="1400" dirty="0"/>
          </a:p>
        </p:txBody>
      </p:sp>
      <p:sp>
        <p:nvSpPr>
          <p:cNvPr id="11" name="Gap Card 2"/>
          <p:cNvSpPr/>
          <p:nvPr/>
        </p:nvSpPr>
        <p:spPr>
          <a:xfrm>
            <a:off x="548640" y="3246120"/>
            <a:ext cx="6675120" cy="1234440"/>
          </a:xfrm>
          <a:prstGeom prst="roundRect">
            <a:avLst>
              <a:gd name="adj" fmla="val 7407"/>
            </a:avLst>
          </a:prstGeom>
          <a:solidFill>
            <a:schemeClr val="bg2"/>
          </a:solidFill>
          <a:ln w="9525">
            <a:solidFill>
              <a:schemeClr val="accent6">
                <a:alpha val="45000"/>
              </a:schemeClr>
            </a:solidFill>
            <a:prstDash val="solid"/>
          </a:ln>
        </p:spPr>
      </p:sp>
      <p:sp>
        <p:nvSpPr>
          <p:cNvPr id="12" name="IconBadge FaBrain"/>
          <p:cNvSpPr/>
          <p:nvPr/>
        </p:nvSpPr>
        <p:spPr>
          <a:xfrm>
            <a:off x="731520" y="3584448"/>
            <a:ext cx="566928" cy="566928"/>
          </a:xfrm>
          <a:prstGeom prst="ellipse">
            <a:avLst/>
          </a:prstGeom>
          <a:solidFill>
            <a:schemeClr val="accent2"/>
          </a:solidFill>
          <a:ln w="12700">
            <a:solidFill>
              <a:schemeClr val="accent2"/>
            </a:solidFill>
            <a:prstDash val="solid"/>
          </a:ln>
        </p:spPr>
      </p:sp>
      <p:pic>
        <p:nvPicPr>
          <p:cNvPr id="13" name="Image 1" descr="FaBrain icon"/>
          <p:cNvPicPr>
            <a:picLocks noChangeAspect="1"/>
          </p:cNvPicPr>
          <p:nvPr/>
        </p:nvPicPr>
        <p:blipFill>
          <a:blip r:embed="rId4"/>
          <a:stretch>
            <a:fillRect/>
          </a:stretch>
        </p:blipFill>
        <p:spPr>
          <a:xfrm>
            <a:off x="873252" y="3726180"/>
            <a:ext cx="283464" cy="283464"/>
          </a:xfrm>
          <a:prstGeom prst="rect">
            <a:avLst/>
          </a:prstGeom>
        </p:spPr>
      </p:pic>
      <p:sp>
        <p:nvSpPr>
          <p:cNvPr id="14" name="Gap Title 2"/>
          <p:cNvSpPr txBox="1"/>
          <p:nvPr/>
        </p:nvSpPr>
        <p:spPr>
          <a:xfrm>
            <a:off x="1554480" y="3355848"/>
            <a:ext cx="5486400" cy="274320"/>
          </a:xfrm>
          <a:prstGeom prst="rect">
            <a:avLst/>
          </a:prstGeom>
          <a:noFill/>
          <a:ln/>
        </p:spPr>
        <p:txBody>
          <a:bodyPr wrap="square" lIns="0" tIns="0" rIns="0" bIns="0" rtlCol="0" anchor="t"/>
          <a:lstStyle/>
          <a:p>
            <a:pPr marL="0" indent="0">
              <a:buNone/>
            </a:pPr>
            <a:r>
              <a:rPr lang="en-US" sz="1600" b="1" dirty="0">
                <a:solidFill>
                  <a:schemeClr val="tx2"/>
                </a:solidFill>
              </a:rPr>
              <a:t>Heavy solvers for simple geometry</a:t>
            </a:r>
            <a:endParaRPr lang="en-US" sz="1600" dirty="0"/>
          </a:p>
        </p:txBody>
      </p:sp>
      <p:sp>
        <p:nvSpPr>
          <p:cNvPr id="15" name="Gap Text 2"/>
          <p:cNvSpPr txBox="1"/>
          <p:nvPr/>
        </p:nvSpPr>
        <p:spPr>
          <a:xfrm>
            <a:off x="1554480" y="3675888"/>
            <a:ext cx="5486400" cy="731520"/>
          </a:xfrm>
          <a:prstGeom prst="rect">
            <a:avLst/>
          </a:prstGeom>
          <a:noFill/>
          <a:ln/>
        </p:spPr>
        <p:txBody>
          <a:bodyPr wrap="square" lIns="0" tIns="0" rIns="0" bIns="0" rtlCol="0" anchor="t"/>
          <a:lstStyle/>
          <a:p>
            <a:pPr marL="0" indent="0">
              <a:buNone/>
            </a:pPr>
            <a:r>
              <a:rPr lang="en-US" sz="1400" dirty="0">
                <a:solidFill>
                  <a:schemeClr val="tx1"/>
                </a:solidFill>
              </a:rPr>
              <a:t>Neural and evolutionary solvers target redundant arms; a 2-link arm has a closed-form solution that suits a microcontroller.</a:t>
            </a:r>
            <a:endParaRPr lang="en-US" sz="1400" dirty="0"/>
          </a:p>
        </p:txBody>
      </p:sp>
      <p:sp>
        <p:nvSpPr>
          <p:cNvPr id="16" name="Gap Card 3"/>
          <p:cNvSpPr/>
          <p:nvPr/>
        </p:nvSpPr>
        <p:spPr>
          <a:xfrm>
            <a:off x="548640" y="4617720"/>
            <a:ext cx="6675120" cy="1234440"/>
          </a:xfrm>
          <a:prstGeom prst="roundRect">
            <a:avLst>
              <a:gd name="adj" fmla="val 7407"/>
            </a:avLst>
          </a:prstGeom>
          <a:solidFill>
            <a:schemeClr val="bg2"/>
          </a:solidFill>
          <a:ln w="9525">
            <a:solidFill>
              <a:schemeClr val="accent6">
                <a:alpha val="45000"/>
              </a:schemeClr>
            </a:solidFill>
            <a:prstDash val="solid"/>
          </a:ln>
        </p:spPr>
      </p:sp>
      <p:sp>
        <p:nvSpPr>
          <p:cNvPr id="17" name="IconBadge FaSyncAlt"/>
          <p:cNvSpPr/>
          <p:nvPr/>
        </p:nvSpPr>
        <p:spPr>
          <a:xfrm>
            <a:off x="731520" y="4956048"/>
            <a:ext cx="566928" cy="566928"/>
          </a:xfrm>
          <a:prstGeom prst="ellipse">
            <a:avLst/>
          </a:prstGeom>
          <a:solidFill>
            <a:schemeClr val="accent3"/>
          </a:solidFill>
          <a:ln w="12700">
            <a:solidFill>
              <a:schemeClr val="accent3"/>
            </a:solidFill>
            <a:prstDash val="solid"/>
          </a:ln>
        </p:spPr>
      </p:sp>
      <p:pic>
        <p:nvPicPr>
          <p:cNvPr id="18" name="Image 2" descr="FaSyncAlt icon"/>
          <p:cNvPicPr>
            <a:picLocks noChangeAspect="1"/>
          </p:cNvPicPr>
          <p:nvPr/>
        </p:nvPicPr>
        <p:blipFill>
          <a:blip r:embed="rId5"/>
          <a:stretch>
            <a:fillRect/>
          </a:stretch>
        </p:blipFill>
        <p:spPr>
          <a:xfrm>
            <a:off x="873252" y="5097780"/>
            <a:ext cx="283464" cy="283464"/>
          </a:xfrm>
          <a:prstGeom prst="rect">
            <a:avLst/>
          </a:prstGeom>
        </p:spPr>
      </p:pic>
      <p:sp>
        <p:nvSpPr>
          <p:cNvPr id="19" name="Gap Title 3"/>
          <p:cNvSpPr txBox="1"/>
          <p:nvPr/>
        </p:nvSpPr>
        <p:spPr>
          <a:xfrm>
            <a:off x="1554480" y="4727448"/>
            <a:ext cx="5486400" cy="274320"/>
          </a:xfrm>
          <a:prstGeom prst="rect">
            <a:avLst/>
          </a:prstGeom>
          <a:noFill/>
          <a:ln/>
        </p:spPr>
        <p:txBody>
          <a:bodyPr wrap="square" lIns="0" tIns="0" rIns="0" bIns="0" rtlCol="0" anchor="t"/>
          <a:lstStyle/>
          <a:p>
            <a:pPr marL="0" indent="0">
              <a:buNone/>
            </a:pPr>
            <a:r>
              <a:rPr lang="en-US" sz="1600" b="1" dirty="0">
                <a:solidFill>
                  <a:schemeClr val="tx2"/>
                </a:solidFill>
              </a:rPr>
              <a:t>Open-loop steppers drift</a:t>
            </a:r>
            <a:endParaRPr lang="en-US" sz="1600" dirty="0"/>
          </a:p>
        </p:txBody>
      </p:sp>
      <p:sp>
        <p:nvSpPr>
          <p:cNvPr id="20" name="Gap Text 3"/>
          <p:cNvSpPr txBox="1"/>
          <p:nvPr/>
        </p:nvSpPr>
        <p:spPr>
          <a:xfrm>
            <a:off x="1554480" y="5047488"/>
            <a:ext cx="5486400" cy="731520"/>
          </a:xfrm>
          <a:prstGeom prst="rect">
            <a:avLst/>
          </a:prstGeom>
          <a:noFill/>
          <a:ln/>
        </p:spPr>
        <p:txBody>
          <a:bodyPr wrap="square" lIns="0" tIns="0" rIns="0" bIns="0" rtlCol="0" anchor="t"/>
          <a:lstStyle/>
          <a:p>
            <a:pPr marL="0" indent="0">
              <a:buNone/>
            </a:pPr>
            <a:r>
              <a:rPr lang="en-US" sz="1400" dirty="0">
                <a:solidFill>
                  <a:schemeClr val="tx1"/>
                </a:solidFill>
              </a:rPr>
              <a:t>Missed steps accumulate silently along a path unless encoder feedback closes the loop [6].</a:t>
            </a:r>
            <a:endParaRPr lang="en-US" sz="1400" dirty="0"/>
          </a:p>
        </p:txBody>
      </p:sp>
      <p:sp>
        <p:nvSpPr>
          <p:cNvPr id="21" name="Problem Card"/>
          <p:cNvSpPr/>
          <p:nvPr/>
        </p:nvSpPr>
        <p:spPr>
          <a:xfrm>
            <a:off x="7498080" y="1508760"/>
            <a:ext cx="4142232" cy="4480560"/>
          </a:xfrm>
          <a:prstGeom prst="roundRect">
            <a:avLst>
              <a:gd name="adj" fmla="val 2208"/>
            </a:avLst>
          </a:prstGeom>
          <a:solidFill>
            <a:schemeClr val="accent1"/>
          </a:solidFill>
          <a:ln w="12700">
            <a:solidFill>
              <a:schemeClr val="accent1"/>
            </a:solidFill>
            <a:prstDash val="solid"/>
          </a:ln>
        </p:spPr>
      </p:sp>
      <p:sp>
        <p:nvSpPr>
          <p:cNvPr id="22" name="Problem Heading"/>
          <p:cNvSpPr txBox="1"/>
          <p:nvPr/>
        </p:nvSpPr>
        <p:spPr>
          <a:xfrm>
            <a:off x="7772400" y="1691640"/>
            <a:ext cx="3657600" cy="365760"/>
          </a:xfrm>
          <a:prstGeom prst="rect">
            <a:avLst/>
          </a:prstGeom>
          <a:noFill/>
          <a:ln/>
        </p:spPr>
        <p:txBody>
          <a:bodyPr wrap="square" lIns="0" tIns="0" rIns="0" bIns="0" rtlCol="0" anchor="t"/>
          <a:lstStyle/>
          <a:p>
            <a:pPr marL="0" indent="0">
              <a:buNone/>
            </a:pPr>
            <a:r>
              <a:rPr lang="en-US" sz="2000" b="1" dirty="0">
                <a:solidFill>
                  <a:schemeClr val="bg1"/>
                </a:solidFill>
              </a:rPr>
              <a:t>Problem formulation</a:t>
            </a:r>
            <a:endParaRPr lang="en-US" sz="2000" dirty="0"/>
          </a:p>
        </p:txBody>
      </p:sp>
      <p:sp>
        <p:nvSpPr>
          <p:cNvPr id="23" name="Problem Statement"/>
          <p:cNvSpPr txBox="1"/>
          <p:nvPr/>
        </p:nvSpPr>
        <p:spPr>
          <a:xfrm>
            <a:off x="7772400" y="2194560"/>
            <a:ext cx="3611880" cy="960120"/>
          </a:xfrm>
          <a:prstGeom prst="rect">
            <a:avLst/>
          </a:prstGeom>
          <a:noFill/>
          <a:ln/>
        </p:spPr>
        <p:txBody>
          <a:bodyPr wrap="square" lIns="0" tIns="0" rIns="0" bIns="0" rtlCol="0" anchor="t"/>
          <a:lstStyle/>
          <a:p>
            <a:pPr marL="0" indent="0">
              <a:buNone/>
            </a:pPr>
            <a:r>
              <a:rPr lang="en-US" sz="1400" dirty="0">
                <a:solidFill>
                  <a:schemeClr val="bg1"/>
                </a:solidFill>
              </a:rPr>
              <a:t>Make a 2-link, 2-DOF planar arm follow a pre-defined (x, y) path accurately and repeatably.</a:t>
            </a:r>
            <a:endParaRPr lang="en-US" sz="1400" dirty="0"/>
          </a:p>
        </p:txBody>
      </p:sp>
      <p:sp>
        <p:nvSpPr>
          <p:cNvPr id="24" name="GFS Label 1"/>
          <p:cNvSpPr txBox="1"/>
          <p:nvPr/>
        </p:nvSpPr>
        <p:spPr>
          <a:xfrm>
            <a:off x="7772400" y="3337560"/>
            <a:ext cx="3611880" cy="256032"/>
          </a:xfrm>
          <a:prstGeom prst="rect">
            <a:avLst/>
          </a:prstGeom>
          <a:noFill/>
          <a:ln/>
        </p:spPr>
        <p:txBody>
          <a:bodyPr wrap="square" lIns="0" tIns="0" rIns="0" bIns="0" rtlCol="0" anchor="t"/>
          <a:lstStyle/>
          <a:p>
            <a:pPr marL="0" indent="0">
              <a:buNone/>
            </a:pPr>
            <a:r>
              <a:rPr lang="en-US" sz="1400" b="1" dirty="0">
                <a:solidFill>
                  <a:schemeClr val="accent4"/>
                </a:solidFill>
              </a:rPr>
              <a:t>Given</a:t>
            </a:r>
            <a:endParaRPr lang="en-US" sz="1400" dirty="0"/>
          </a:p>
        </p:txBody>
      </p:sp>
      <p:sp>
        <p:nvSpPr>
          <p:cNvPr id="25" name="GFS Text 1"/>
          <p:cNvSpPr txBox="1"/>
          <p:nvPr/>
        </p:nvSpPr>
        <p:spPr>
          <a:xfrm>
            <a:off x="7772400" y="3611880"/>
            <a:ext cx="3611880" cy="457200"/>
          </a:xfrm>
          <a:prstGeom prst="rect">
            <a:avLst/>
          </a:prstGeom>
          <a:noFill/>
          <a:ln/>
        </p:spPr>
        <p:txBody>
          <a:bodyPr wrap="square" lIns="0" tIns="0" rIns="0" bIns="0" rtlCol="0" anchor="t"/>
          <a:lstStyle/>
          <a:p>
            <a:pPr marL="0" indent="0">
              <a:buNone/>
            </a:pPr>
            <a:r>
              <a:rPr lang="en-US" sz="1600" dirty="0">
                <a:solidFill>
                  <a:schemeClr val="bg1"/>
                </a:solidFill>
                <a:latin typeface="+mj-lt" pitchFamily="34" charset="0"/>
                <a:ea typeface="+mj-lt" pitchFamily="34" charset="-122"/>
                <a:cs typeface="+mj-lt" pitchFamily="34" charset="-120"/>
              </a:rPr>
              <a:t>L₁, L₂ and a path of (x, y) waypoints</a:t>
            </a:r>
            <a:endParaRPr lang="en-US" sz="1600" dirty="0"/>
          </a:p>
        </p:txBody>
      </p:sp>
      <p:sp>
        <p:nvSpPr>
          <p:cNvPr id="26" name="GFS Label 2"/>
          <p:cNvSpPr txBox="1"/>
          <p:nvPr/>
        </p:nvSpPr>
        <p:spPr>
          <a:xfrm>
            <a:off x="7772400" y="4206240"/>
            <a:ext cx="3611880" cy="256032"/>
          </a:xfrm>
          <a:prstGeom prst="rect">
            <a:avLst/>
          </a:prstGeom>
          <a:noFill/>
          <a:ln/>
        </p:spPr>
        <p:txBody>
          <a:bodyPr wrap="square" lIns="0" tIns="0" rIns="0" bIns="0" rtlCol="0" anchor="t"/>
          <a:lstStyle/>
          <a:p>
            <a:pPr marL="0" indent="0">
              <a:buNone/>
            </a:pPr>
            <a:r>
              <a:rPr lang="en-US" sz="1400" b="1" dirty="0">
                <a:solidFill>
                  <a:schemeClr val="accent4"/>
                </a:solidFill>
              </a:rPr>
              <a:t>Find</a:t>
            </a:r>
            <a:endParaRPr lang="en-US" sz="1400" dirty="0"/>
          </a:p>
        </p:txBody>
      </p:sp>
      <p:sp>
        <p:nvSpPr>
          <p:cNvPr id="27" name="GFS Text 2"/>
          <p:cNvSpPr txBox="1"/>
          <p:nvPr/>
        </p:nvSpPr>
        <p:spPr>
          <a:xfrm>
            <a:off x="7772400" y="4480560"/>
            <a:ext cx="3611880" cy="457200"/>
          </a:xfrm>
          <a:prstGeom prst="rect">
            <a:avLst/>
          </a:prstGeom>
          <a:noFill/>
          <a:ln/>
        </p:spPr>
        <p:txBody>
          <a:bodyPr wrap="square" lIns="0" tIns="0" rIns="0" bIns="0" rtlCol="0" anchor="t"/>
          <a:lstStyle/>
          <a:p>
            <a:pPr marL="0" indent="0">
              <a:buNone/>
            </a:pPr>
            <a:r>
              <a:rPr lang="en-US" sz="1600" dirty="0">
                <a:solidFill>
                  <a:schemeClr val="bg1"/>
                </a:solidFill>
                <a:latin typeface="+mj-lt" pitchFamily="34" charset="0"/>
                <a:ea typeface="+mj-lt" pitchFamily="34" charset="-122"/>
                <a:cs typeface="+mj-lt" pitchFamily="34" charset="-120"/>
              </a:rPr>
              <a:t>(θ₁, θ₂) at every waypoint</a:t>
            </a:r>
            <a:endParaRPr lang="en-US" sz="1600" dirty="0"/>
          </a:p>
        </p:txBody>
      </p:sp>
      <p:sp>
        <p:nvSpPr>
          <p:cNvPr id="28" name="GFS Label 3"/>
          <p:cNvSpPr txBox="1"/>
          <p:nvPr/>
        </p:nvSpPr>
        <p:spPr>
          <a:xfrm>
            <a:off x="7772400" y="5074920"/>
            <a:ext cx="3611880" cy="256032"/>
          </a:xfrm>
          <a:prstGeom prst="rect">
            <a:avLst/>
          </a:prstGeom>
          <a:noFill/>
          <a:ln/>
        </p:spPr>
        <p:txBody>
          <a:bodyPr wrap="square" lIns="0" tIns="0" rIns="0" bIns="0" rtlCol="0" anchor="t"/>
          <a:lstStyle/>
          <a:p>
            <a:pPr marL="0" indent="0">
              <a:buNone/>
            </a:pPr>
            <a:r>
              <a:rPr lang="en-US" sz="1400" b="1" dirty="0">
                <a:solidFill>
                  <a:schemeClr val="accent4"/>
                </a:solidFill>
              </a:rPr>
              <a:t>Subject to</a:t>
            </a:r>
            <a:endParaRPr lang="en-US" sz="1400" dirty="0"/>
          </a:p>
        </p:txBody>
      </p:sp>
      <p:sp>
        <p:nvSpPr>
          <p:cNvPr id="29" name="GFS Text 3"/>
          <p:cNvSpPr txBox="1"/>
          <p:nvPr/>
        </p:nvSpPr>
        <p:spPr>
          <a:xfrm>
            <a:off x="7772400" y="5349240"/>
            <a:ext cx="3611880" cy="457200"/>
          </a:xfrm>
          <a:prstGeom prst="rect">
            <a:avLst/>
          </a:prstGeom>
          <a:noFill/>
          <a:ln/>
        </p:spPr>
        <p:txBody>
          <a:bodyPr wrap="square" lIns="0" tIns="0" rIns="0" bIns="0" rtlCol="0" anchor="t"/>
          <a:lstStyle/>
          <a:p>
            <a:pPr marL="0" indent="0">
              <a:buNone/>
            </a:pPr>
            <a:r>
              <a:rPr lang="en-US" sz="1600" dirty="0">
                <a:solidFill>
                  <a:schemeClr val="bg1"/>
                </a:solidFill>
                <a:latin typeface="+mj-lt" pitchFamily="34" charset="0"/>
                <a:ea typeface="+mj-lt" pitchFamily="34" charset="-122"/>
                <a:cs typeface="+mj-lt" pitchFamily="34" charset="-120"/>
              </a:rPr>
              <a:t>R</a:t>
            </a:r>
            <a:r>
              <a:rPr lang="en-US" sz="1600" baseline="-40000" dirty="0">
                <a:solidFill>
                  <a:schemeClr val="bg1"/>
                </a:solidFill>
                <a:latin typeface="+mj-lt" pitchFamily="34" charset="0"/>
                <a:ea typeface="+mj-lt" pitchFamily="34" charset="-122"/>
                <a:cs typeface="+mj-lt" pitchFamily="34" charset="-120"/>
              </a:rPr>
              <a:t>min</a:t>
            </a:r>
            <a:r>
              <a:rPr lang="en-US" sz="1600" dirty="0">
                <a:solidFill>
                  <a:schemeClr val="bg1"/>
                </a:solidFill>
                <a:latin typeface="+mj-lt" pitchFamily="34" charset="0"/>
                <a:ea typeface="+mj-lt" pitchFamily="34" charset="-122"/>
                <a:cs typeface="+mj-lt" pitchFamily="34" charset="-120"/>
              </a:rPr>
              <a:t> ≤ √(x² + y²) ≤ R</a:t>
            </a:r>
            <a:r>
              <a:rPr lang="en-US" sz="1600" baseline="-40000" dirty="0">
                <a:solidFill>
                  <a:schemeClr val="bg1"/>
                </a:solidFill>
                <a:latin typeface="+mj-lt" pitchFamily="34" charset="0"/>
                <a:ea typeface="+mj-lt" pitchFamily="34" charset="-122"/>
                <a:cs typeface="+mj-lt" pitchFamily="34" charset="-120"/>
              </a:rPr>
              <a:t>max</a:t>
            </a:r>
            <a:endParaRPr lang="en-US" sz="1600" dirty="0"/>
          </a:p>
        </p:txBody>
      </p:sp>
      <p:sp>
        <p:nvSpPr>
          <p:cNvPr id="4"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Research Gaps and Problem Formulation (contd.)</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Workspace and trajectory: where the end-effector can go, and the path it follows</a:t>
            </a:r>
            <a:endParaRPr lang="en-US" sz="1600" dirty="0"/>
          </a:p>
        </p:txBody>
      </p:sp>
      <p:sp>
        <p:nvSpPr>
          <p:cNvPr id="5" name="Workspace Panel"/>
          <p:cNvSpPr/>
          <p:nvPr/>
        </p:nvSpPr>
        <p:spPr>
          <a:xfrm>
            <a:off x="548640" y="1508760"/>
            <a:ext cx="4754880" cy="4754880"/>
          </a:xfrm>
          <a:prstGeom prst="roundRect">
            <a:avLst>
              <a:gd name="adj" fmla="val 1923"/>
            </a:avLst>
          </a:prstGeom>
          <a:solidFill>
            <a:schemeClr val="bg2"/>
          </a:solidFill>
          <a:ln w="9525">
            <a:solidFill>
              <a:schemeClr val="accent6">
                <a:alpha val="45000"/>
              </a:schemeClr>
            </a:solidFill>
            <a:prstDash val="solid"/>
          </a:ln>
        </p:spPr>
      </p:sp>
      <p:pic>
        <p:nvPicPr>
          <p:cNvPr id="6" name="Image 0" descr="Annular reachable workspace with arm pose, R_max and R_min"/>
          <p:cNvPicPr>
            <a:picLocks noChangeAspect="1"/>
          </p:cNvPicPr>
          <p:nvPr/>
        </p:nvPicPr>
        <p:blipFill>
          <a:blip r:embed="rId3"/>
          <a:stretch>
            <a:fillRect/>
          </a:stretch>
        </p:blipFill>
        <p:spPr>
          <a:xfrm>
            <a:off x="685800" y="1645920"/>
            <a:ext cx="4480560" cy="4480560"/>
          </a:xfrm>
          <a:prstGeom prst="rect">
            <a:avLst/>
          </a:prstGeom>
        </p:spPr>
      </p:pic>
      <p:graphicFrame>
        <p:nvGraphicFramePr>
          <p:cNvPr id="7" name="Chart 0"/>
          <p:cNvGraphicFramePr/>
          <p:nvPr/>
        </p:nvGraphicFramePr>
        <p:xfrm>
          <a:off x="5577840" y="1463040"/>
          <a:ext cx="6062472" cy="2697480"/>
        </p:xfrm>
        <a:graphic>
          <a:graphicData uri="http://schemas.openxmlformats.org/drawingml/2006/chart">
            <c:chart xmlns:c="http://schemas.openxmlformats.org/drawingml/2006/chart" xmlns:r="http://schemas.openxmlformats.org/officeDocument/2006/relationships" r:id="rId4"/>
          </a:graphicData>
        </a:graphic>
      </p:graphicFrame>
      <p:sp>
        <p:nvSpPr>
          <p:cNvPr id="8" name="Trajectory Panel"/>
          <p:cNvSpPr/>
          <p:nvPr/>
        </p:nvSpPr>
        <p:spPr>
          <a:xfrm>
            <a:off x="5577840" y="4297680"/>
            <a:ext cx="6062472" cy="1965960"/>
          </a:xfrm>
          <a:prstGeom prst="roundRect">
            <a:avLst>
              <a:gd name="adj" fmla="val 4651"/>
            </a:avLst>
          </a:prstGeom>
          <a:solidFill>
            <a:schemeClr val="bg2"/>
          </a:solidFill>
          <a:ln w="9525">
            <a:solidFill>
              <a:schemeClr val="accent6">
                <a:alpha val="45000"/>
              </a:schemeClr>
            </a:solidFill>
            <a:prstDash val="solid"/>
          </a:ln>
        </p:spPr>
      </p:sp>
      <p:pic>
        <p:nvPicPr>
          <p:cNvPr id="9" name="Image 1" descr="Path discretised into waypoints from start to end"/>
          <p:cNvPicPr>
            <a:picLocks noChangeAspect="1"/>
          </p:cNvPicPr>
          <p:nvPr/>
        </p:nvPicPr>
        <p:blipFill>
          <a:blip r:embed="rId5"/>
          <a:stretch>
            <a:fillRect/>
          </a:stretch>
        </p:blipFill>
        <p:spPr>
          <a:xfrm>
            <a:off x="5669280" y="4618566"/>
            <a:ext cx="2697480" cy="1324188"/>
          </a:xfrm>
          <a:prstGeom prst="rect">
            <a:avLst/>
          </a:prstGeom>
        </p:spPr>
      </p:pic>
      <p:sp>
        <p:nvSpPr>
          <p:cNvPr id="10" name="Trajectory Notes"/>
          <p:cNvSpPr txBox="1"/>
          <p:nvPr/>
        </p:nvSpPr>
        <p:spPr>
          <a:xfrm>
            <a:off x="8458200" y="4434840"/>
            <a:ext cx="3063240" cy="1737360"/>
          </a:xfrm>
          <a:prstGeom prst="rect">
            <a:avLst/>
          </a:prstGeom>
          <a:noFill/>
          <a:ln/>
        </p:spPr>
        <p:txBody>
          <a:bodyPr wrap="square" lIns="0" tIns="0" rIns="0" bIns="0" rtlCol="0" anchor="t"/>
          <a:lstStyle/>
          <a:p>
            <a:pPr marL="0" indent="0">
              <a:spcAft>
                <a:spcPts val="500"/>
              </a:spcAft>
              <a:buNone/>
            </a:pPr>
            <a:r>
              <a:rPr lang="en-US" sz="1400" b="1" dirty="0">
                <a:solidFill>
                  <a:schemeClr val="accent1"/>
                </a:solidFill>
              </a:rPr>
              <a:t>Path = {(x₁,y₁), …, (xₙ,yₙ)}</a:t>
            </a:r>
            <a:endParaRPr lang="en-US" sz="1400" dirty="0"/>
          </a:p>
          <a:p>
            <a:pPr marL="342900" indent="-342900">
              <a:spcAft>
                <a:spcPts val="500"/>
              </a:spcAft>
              <a:buSzPct val="100000"/>
              <a:buChar char="•"/>
            </a:pPr>
            <a:r>
              <a:rPr lang="en-US" sz="1400" dirty="0">
                <a:solidFill>
                  <a:schemeClr val="tx1"/>
                </a:solidFill>
              </a:rPr>
              <a:t>Waypoints must lie inside the annulus</a:t>
            </a:r>
            <a:endParaRPr lang="en-US" sz="1400" dirty="0"/>
          </a:p>
          <a:p>
            <a:pPr marL="342900" indent="-342900">
              <a:spcAft>
                <a:spcPts val="500"/>
              </a:spcAft>
              <a:buSzPct val="100000"/>
              <a:buChar char="•"/>
            </a:pPr>
            <a:r>
              <a:rPr lang="en-US" sz="1400" dirty="0">
                <a:solidFill>
                  <a:schemeClr val="tx1"/>
                </a:solidFill>
              </a:rPr>
              <a:t>IK is solved for each waypoint in turn</a:t>
            </a:r>
            <a:endParaRPr lang="en-US" sz="1400" dirty="0"/>
          </a:p>
          <a:p>
            <a:pPr marL="342900" indent="-342900">
              <a:spcAft>
                <a:spcPts val="500"/>
              </a:spcAft>
              <a:buSzPct val="100000"/>
              <a:buChar char="•"/>
            </a:pPr>
            <a:r>
              <a:rPr lang="en-US" sz="1400" dirty="0">
                <a:solidFill>
                  <a:schemeClr val="tx1"/>
                </a:solidFill>
              </a:rPr>
              <a:t>Finer spacing gives a smoother trace</a:t>
            </a:r>
            <a:endParaRPr lang="en-US" sz="14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Research Gaps and Problem Formulation (contd.)</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Inverse kinematics: from a target (x, y) to joint angles (θ₁, θ₂)</a:t>
            </a:r>
            <a:endParaRPr lang="en-US" sz="1600" dirty="0"/>
          </a:p>
        </p:txBody>
      </p:sp>
      <p:sp>
        <p:nvSpPr>
          <p:cNvPr id="5" name="IK Step Card 1"/>
          <p:cNvSpPr/>
          <p:nvPr/>
        </p:nvSpPr>
        <p:spPr>
          <a:xfrm>
            <a:off x="548640" y="1508760"/>
            <a:ext cx="5669280" cy="1435608"/>
          </a:xfrm>
          <a:prstGeom prst="roundRect">
            <a:avLst>
              <a:gd name="adj" fmla="val 6369"/>
            </a:avLst>
          </a:prstGeom>
          <a:solidFill>
            <a:schemeClr val="bg2"/>
          </a:solidFill>
          <a:ln w="9525">
            <a:solidFill>
              <a:schemeClr val="accent6">
                <a:alpha val="45000"/>
              </a:schemeClr>
            </a:solidFill>
            <a:prstDash val="solid"/>
          </a:ln>
        </p:spPr>
      </p:sp>
      <p:sp>
        <p:nvSpPr>
          <p:cNvPr id="6" name="NumBadge 1"/>
          <p:cNvSpPr/>
          <p:nvPr/>
        </p:nvSpPr>
        <p:spPr>
          <a:xfrm>
            <a:off x="713232" y="1673352"/>
            <a:ext cx="502920" cy="502920"/>
          </a:xfrm>
          <a:prstGeom prst="ellipse">
            <a:avLst/>
          </a:prstGeom>
          <a:solidFill>
            <a:schemeClr val="accent1"/>
          </a:solidFill>
          <a:ln w="12700">
            <a:solidFill>
              <a:schemeClr val="accent1"/>
            </a:solidFill>
            <a:prstDash val="solid"/>
          </a:ln>
        </p:spPr>
      </p:sp>
      <p:sp>
        <p:nvSpPr>
          <p:cNvPr id="7" name="NumLabel 1"/>
          <p:cNvSpPr txBox="1"/>
          <p:nvPr/>
        </p:nvSpPr>
        <p:spPr>
          <a:xfrm>
            <a:off x="713232" y="1673352"/>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1</a:t>
            </a:r>
            <a:endParaRPr lang="en-US" sz="1700" dirty="0"/>
          </a:p>
        </p:txBody>
      </p:sp>
      <p:sp>
        <p:nvSpPr>
          <p:cNvPr id="8" name="IK Step Title 1"/>
          <p:cNvSpPr txBox="1"/>
          <p:nvPr/>
        </p:nvSpPr>
        <p:spPr>
          <a:xfrm>
            <a:off x="1371600" y="1664208"/>
            <a:ext cx="4663440" cy="274320"/>
          </a:xfrm>
          <a:prstGeom prst="rect">
            <a:avLst/>
          </a:prstGeom>
          <a:noFill/>
          <a:ln/>
        </p:spPr>
        <p:txBody>
          <a:bodyPr wrap="square" lIns="0" tIns="0" rIns="0" bIns="0" rtlCol="0" anchor="t"/>
          <a:lstStyle/>
          <a:p>
            <a:pPr marL="0" indent="0">
              <a:buNone/>
            </a:pPr>
            <a:r>
              <a:rPr lang="en-US" sz="1600" b="1" dirty="0">
                <a:solidFill>
                  <a:schemeClr val="tx2"/>
                </a:solidFill>
              </a:rPr>
              <a:t>Elbow angle</a:t>
            </a:r>
            <a:endParaRPr lang="en-US" sz="1600" dirty="0"/>
          </a:p>
        </p:txBody>
      </p:sp>
      <p:sp>
        <p:nvSpPr>
          <p:cNvPr id="9" name="IK Equation 1"/>
          <p:cNvSpPr txBox="1"/>
          <p:nvPr/>
        </p:nvSpPr>
        <p:spPr>
          <a:xfrm>
            <a:off x="1371600" y="1984248"/>
            <a:ext cx="4709160" cy="502920"/>
          </a:xfrm>
          <a:prstGeom prst="rect">
            <a:avLst/>
          </a:prstGeom>
          <a:noFill/>
          <a:ln/>
        </p:spPr>
        <p:txBody>
          <a:bodyPr wrap="square" lIns="0" tIns="0" rIns="0" bIns="0" rtlCol="0" anchor="t"/>
          <a:lstStyle/>
          <a:p>
            <a:pPr marL="0" indent="0">
              <a:buNone/>
            </a:pPr>
            <a:r>
              <a:rPr lang="en-US" sz="1400" b="1" dirty="0">
                <a:solidFill>
                  <a:schemeClr val="accent3"/>
                </a:solidFill>
                <a:latin typeface="+mj-lt" pitchFamily="34" charset="0"/>
                <a:ea typeface="+mj-lt" pitchFamily="34" charset="-122"/>
                <a:cs typeface="+mj-lt" pitchFamily="34" charset="-120"/>
              </a:rPr>
              <a:t>cos θ₂ = (x² + y² − L₁² − L₂²) / (2 L₁ L₂)</a:t>
            </a:r>
            <a:endParaRPr lang="en-US" sz="1400" dirty="0"/>
          </a:p>
        </p:txBody>
      </p:sp>
      <p:sp>
        <p:nvSpPr>
          <p:cNvPr id="10" name="IK Note 1"/>
          <p:cNvSpPr txBox="1"/>
          <p:nvPr/>
        </p:nvSpPr>
        <p:spPr>
          <a:xfrm>
            <a:off x="1371600" y="2532888"/>
            <a:ext cx="4709160" cy="274320"/>
          </a:xfrm>
          <a:prstGeom prst="rect">
            <a:avLst/>
          </a:prstGeom>
          <a:noFill/>
          <a:ln/>
        </p:spPr>
        <p:txBody>
          <a:bodyPr wrap="square" lIns="0" tIns="0" rIns="0" bIns="0" rtlCol="0" anchor="t"/>
          <a:lstStyle/>
          <a:p>
            <a:pPr marL="0" indent="0">
              <a:buNone/>
            </a:pPr>
            <a:r>
              <a:rPr lang="en-US" sz="1400" i="1" dirty="0">
                <a:solidFill>
                  <a:schemeClr val="tx1"/>
                </a:solidFill>
              </a:rPr>
              <a:t>Two solutions exist: elbow-up and elbow-down.</a:t>
            </a:r>
            <a:endParaRPr lang="en-US" sz="1400" dirty="0"/>
          </a:p>
        </p:txBody>
      </p:sp>
      <p:sp>
        <p:nvSpPr>
          <p:cNvPr id="11" name="IK Step Card 2"/>
          <p:cNvSpPr/>
          <p:nvPr/>
        </p:nvSpPr>
        <p:spPr>
          <a:xfrm>
            <a:off x="548640" y="3081528"/>
            <a:ext cx="5669280" cy="1435608"/>
          </a:xfrm>
          <a:prstGeom prst="roundRect">
            <a:avLst>
              <a:gd name="adj" fmla="val 6369"/>
            </a:avLst>
          </a:prstGeom>
          <a:solidFill>
            <a:schemeClr val="bg2"/>
          </a:solidFill>
          <a:ln w="9525">
            <a:solidFill>
              <a:schemeClr val="accent6">
                <a:alpha val="45000"/>
              </a:schemeClr>
            </a:solidFill>
            <a:prstDash val="solid"/>
          </a:ln>
        </p:spPr>
      </p:sp>
      <p:sp>
        <p:nvSpPr>
          <p:cNvPr id="12" name="NumBadge 2"/>
          <p:cNvSpPr/>
          <p:nvPr/>
        </p:nvSpPr>
        <p:spPr>
          <a:xfrm>
            <a:off x="713232" y="3246120"/>
            <a:ext cx="502920" cy="502920"/>
          </a:xfrm>
          <a:prstGeom prst="ellipse">
            <a:avLst/>
          </a:prstGeom>
          <a:solidFill>
            <a:schemeClr val="accent2"/>
          </a:solidFill>
          <a:ln w="12700">
            <a:solidFill>
              <a:schemeClr val="accent2"/>
            </a:solidFill>
            <a:prstDash val="solid"/>
          </a:ln>
        </p:spPr>
      </p:sp>
      <p:sp>
        <p:nvSpPr>
          <p:cNvPr id="13" name="NumLabel 2"/>
          <p:cNvSpPr txBox="1"/>
          <p:nvPr/>
        </p:nvSpPr>
        <p:spPr>
          <a:xfrm>
            <a:off x="713232" y="324612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2</a:t>
            </a:r>
            <a:endParaRPr lang="en-US" sz="1700" dirty="0"/>
          </a:p>
        </p:txBody>
      </p:sp>
      <p:sp>
        <p:nvSpPr>
          <p:cNvPr id="14" name="IK Step Title 2"/>
          <p:cNvSpPr txBox="1"/>
          <p:nvPr/>
        </p:nvSpPr>
        <p:spPr>
          <a:xfrm>
            <a:off x="1371600" y="3236976"/>
            <a:ext cx="4663440" cy="274320"/>
          </a:xfrm>
          <a:prstGeom prst="rect">
            <a:avLst/>
          </a:prstGeom>
          <a:noFill/>
          <a:ln/>
        </p:spPr>
        <p:txBody>
          <a:bodyPr wrap="square" lIns="0" tIns="0" rIns="0" bIns="0" rtlCol="0" anchor="t"/>
          <a:lstStyle/>
          <a:p>
            <a:pPr marL="0" indent="0">
              <a:buNone/>
            </a:pPr>
            <a:r>
              <a:rPr lang="en-US" sz="1600" b="1" dirty="0">
                <a:solidFill>
                  <a:schemeClr val="tx2"/>
                </a:solidFill>
              </a:rPr>
              <a:t>Shoulder angle</a:t>
            </a:r>
            <a:endParaRPr lang="en-US" sz="1600" dirty="0"/>
          </a:p>
        </p:txBody>
      </p:sp>
      <p:sp>
        <p:nvSpPr>
          <p:cNvPr id="15" name="IK Equation 2"/>
          <p:cNvSpPr txBox="1"/>
          <p:nvPr/>
        </p:nvSpPr>
        <p:spPr>
          <a:xfrm>
            <a:off x="1371600" y="3557016"/>
            <a:ext cx="4709160" cy="502920"/>
          </a:xfrm>
          <a:prstGeom prst="rect">
            <a:avLst/>
          </a:prstGeom>
          <a:noFill/>
          <a:ln/>
        </p:spPr>
        <p:txBody>
          <a:bodyPr wrap="square" lIns="0" tIns="0" rIns="0" bIns="0" rtlCol="0" anchor="t"/>
          <a:lstStyle/>
          <a:p>
            <a:pPr marL="0" indent="0">
              <a:buNone/>
            </a:pPr>
            <a:r>
              <a:rPr lang="en-US" sz="1400" b="1" dirty="0">
                <a:solidFill>
                  <a:schemeClr val="accent3"/>
                </a:solidFill>
                <a:latin typeface="+mj-lt" pitchFamily="34" charset="0"/>
                <a:ea typeface="+mj-lt" pitchFamily="34" charset="-122"/>
                <a:cs typeface="+mj-lt" pitchFamily="34" charset="-120"/>
              </a:rPr>
              <a:t>θ₁ = atan2(y, x) − atan2(L₂ sin θ₂, L₁ + L₂ cos θ₂)</a:t>
            </a:r>
            <a:endParaRPr lang="en-US" sz="1400" dirty="0"/>
          </a:p>
        </p:txBody>
      </p:sp>
      <p:sp>
        <p:nvSpPr>
          <p:cNvPr id="16" name="IK Note 2"/>
          <p:cNvSpPr txBox="1"/>
          <p:nvPr/>
        </p:nvSpPr>
        <p:spPr>
          <a:xfrm>
            <a:off x="1371600" y="4105656"/>
            <a:ext cx="4709160" cy="274320"/>
          </a:xfrm>
          <a:prstGeom prst="rect">
            <a:avLst/>
          </a:prstGeom>
          <a:noFill/>
          <a:ln/>
        </p:spPr>
        <p:txBody>
          <a:bodyPr wrap="square" lIns="0" tIns="0" rIns="0" bIns="0" rtlCol="0" anchor="t"/>
          <a:lstStyle/>
          <a:p>
            <a:pPr marL="0" indent="0">
              <a:buNone/>
            </a:pPr>
            <a:r>
              <a:rPr lang="en-US" sz="1400" i="1" dirty="0">
                <a:solidFill>
                  <a:schemeClr val="tx1"/>
                </a:solidFill>
              </a:rPr>
              <a:t>θ₁ follows once θ₂ is fixed.</a:t>
            </a:r>
            <a:endParaRPr lang="en-US" sz="1400" dirty="0"/>
          </a:p>
        </p:txBody>
      </p:sp>
      <p:sp>
        <p:nvSpPr>
          <p:cNvPr id="17" name="IK Step Card 3"/>
          <p:cNvSpPr/>
          <p:nvPr/>
        </p:nvSpPr>
        <p:spPr>
          <a:xfrm>
            <a:off x="548640" y="4654296"/>
            <a:ext cx="5669280" cy="1435608"/>
          </a:xfrm>
          <a:prstGeom prst="roundRect">
            <a:avLst>
              <a:gd name="adj" fmla="val 6369"/>
            </a:avLst>
          </a:prstGeom>
          <a:solidFill>
            <a:schemeClr val="bg2"/>
          </a:solidFill>
          <a:ln w="9525">
            <a:solidFill>
              <a:schemeClr val="accent6">
                <a:alpha val="45000"/>
              </a:schemeClr>
            </a:solidFill>
            <a:prstDash val="solid"/>
          </a:ln>
        </p:spPr>
      </p:sp>
      <p:sp>
        <p:nvSpPr>
          <p:cNvPr id="18" name="NumBadge 3"/>
          <p:cNvSpPr/>
          <p:nvPr/>
        </p:nvSpPr>
        <p:spPr>
          <a:xfrm>
            <a:off x="713232" y="4818888"/>
            <a:ext cx="502920" cy="502920"/>
          </a:xfrm>
          <a:prstGeom prst="ellipse">
            <a:avLst/>
          </a:prstGeom>
          <a:solidFill>
            <a:schemeClr val="accent3"/>
          </a:solidFill>
          <a:ln w="12700">
            <a:solidFill>
              <a:schemeClr val="accent3"/>
            </a:solidFill>
            <a:prstDash val="solid"/>
          </a:ln>
        </p:spPr>
      </p:sp>
      <p:sp>
        <p:nvSpPr>
          <p:cNvPr id="19" name="NumLabel 3"/>
          <p:cNvSpPr txBox="1"/>
          <p:nvPr/>
        </p:nvSpPr>
        <p:spPr>
          <a:xfrm>
            <a:off x="713232" y="4818888"/>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3</a:t>
            </a:r>
            <a:endParaRPr lang="en-US" sz="1700" dirty="0"/>
          </a:p>
        </p:txBody>
      </p:sp>
      <p:sp>
        <p:nvSpPr>
          <p:cNvPr id="20" name="IK Step Title 3"/>
          <p:cNvSpPr txBox="1"/>
          <p:nvPr/>
        </p:nvSpPr>
        <p:spPr>
          <a:xfrm>
            <a:off x="1371600" y="4809744"/>
            <a:ext cx="4663440" cy="274320"/>
          </a:xfrm>
          <a:prstGeom prst="rect">
            <a:avLst/>
          </a:prstGeom>
          <a:noFill/>
          <a:ln/>
        </p:spPr>
        <p:txBody>
          <a:bodyPr wrap="square" lIns="0" tIns="0" rIns="0" bIns="0" rtlCol="0" anchor="t"/>
          <a:lstStyle/>
          <a:p>
            <a:pPr marL="0" indent="0">
              <a:buNone/>
            </a:pPr>
            <a:r>
              <a:rPr lang="en-US" sz="1600" b="1" dirty="0">
                <a:solidFill>
                  <a:schemeClr val="tx2"/>
                </a:solidFill>
              </a:rPr>
              <a:t>Reachability check</a:t>
            </a:r>
            <a:endParaRPr lang="en-US" sz="1600" dirty="0"/>
          </a:p>
        </p:txBody>
      </p:sp>
      <p:sp>
        <p:nvSpPr>
          <p:cNvPr id="21" name="IK Equation 3"/>
          <p:cNvSpPr txBox="1"/>
          <p:nvPr/>
        </p:nvSpPr>
        <p:spPr>
          <a:xfrm>
            <a:off x="1371600" y="5129784"/>
            <a:ext cx="4709160" cy="502920"/>
          </a:xfrm>
          <a:prstGeom prst="rect">
            <a:avLst/>
          </a:prstGeom>
          <a:noFill/>
          <a:ln/>
        </p:spPr>
        <p:txBody>
          <a:bodyPr wrap="square" lIns="0" tIns="0" rIns="0" bIns="0" rtlCol="0" anchor="t"/>
          <a:lstStyle/>
          <a:p>
            <a:pPr marL="0" indent="0">
              <a:buNone/>
            </a:pPr>
            <a:r>
              <a:rPr lang="en-US" sz="1400" b="1" dirty="0">
                <a:solidFill>
                  <a:schemeClr val="accent3"/>
                </a:solidFill>
                <a:latin typeface="+mj-lt" pitchFamily="34" charset="0"/>
                <a:ea typeface="+mj-lt" pitchFamily="34" charset="-122"/>
                <a:cs typeface="+mj-lt" pitchFamily="34" charset="-120"/>
              </a:rPr>
              <a:t>R</a:t>
            </a:r>
            <a:r>
              <a:rPr lang="en-US" sz="1400" b="1" baseline="-40000" dirty="0">
                <a:solidFill>
                  <a:schemeClr val="accent3"/>
                </a:solidFill>
                <a:latin typeface="+mj-lt" pitchFamily="34" charset="0"/>
                <a:ea typeface="+mj-lt" pitchFamily="34" charset="-122"/>
                <a:cs typeface="+mj-lt" pitchFamily="34" charset="-120"/>
              </a:rPr>
              <a:t>min</a:t>
            </a:r>
            <a:r>
              <a:rPr lang="en-US" sz="1400" b="1" dirty="0">
                <a:solidFill>
                  <a:schemeClr val="accent3"/>
                </a:solidFill>
                <a:latin typeface="+mj-lt" pitchFamily="34" charset="0"/>
                <a:ea typeface="+mj-lt" pitchFamily="34" charset="-122"/>
                <a:cs typeface="+mj-lt" pitchFamily="34" charset="-120"/>
              </a:rPr>
              <a:t> ≤ √(x² + y²) ≤ R</a:t>
            </a:r>
            <a:r>
              <a:rPr lang="en-US" sz="1400" b="1" baseline="-40000" dirty="0">
                <a:solidFill>
                  <a:schemeClr val="accent3"/>
                </a:solidFill>
                <a:latin typeface="+mj-lt" pitchFamily="34" charset="0"/>
                <a:ea typeface="+mj-lt" pitchFamily="34" charset="-122"/>
                <a:cs typeface="+mj-lt" pitchFamily="34" charset="-120"/>
              </a:rPr>
              <a:t>max</a:t>
            </a:r>
            <a:endParaRPr lang="en-US" sz="1400" dirty="0"/>
          </a:p>
        </p:txBody>
      </p:sp>
      <p:sp>
        <p:nvSpPr>
          <p:cNvPr id="22" name="IK Note 3"/>
          <p:cNvSpPr txBox="1"/>
          <p:nvPr/>
        </p:nvSpPr>
        <p:spPr>
          <a:xfrm>
            <a:off x="1371600" y="5678424"/>
            <a:ext cx="4709160" cy="274320"/>
          </a:xfrm>
          <a:prstGeom prst="rect">
            <a:avLst/>
          </a:prstGeom>
          <a:noFill/>
          <a:ln/>
        </p:spPr>
        <p:txBody>
          <a:bodyPr wrap="square" lIns="0" tIns="0" rIns="0" bIns="0" rtlCol="0" anchor="t"/>
          <a:lstStyle/>
          <a:p>
            <a:pPr marL="0" indent="0">
              <a:buNone/>
            </a:pPr>
            <a:r>
              <a:rPr lang="en-US" sz="1400" i="1" dirty="0">
                <a:solidFill>
                  <a:schemeClr val="tx1"/>
                </a:solidFill>
              </a:rPr>
              <a:t>Reject or clamp targets outside the annulus.</a:t>
            </a:r>
            <a:endParaRPr lang="en-US" sz="1400" dirty="0"/>
          </a:p>
        </p:txBody>
      </p:sp>
      <p:graphicFrame>
        <p:nvGraphicFramePr>
          <p:cNvPr id="23" name="Chart 0"/>
          <p:cNvGraphicFramePr/>
          <p:nvPr/>
        </p:nvGraphicFramePr>
        <p:xfrm>
          <a:off x="6492240" y="1463040"/>
          <a:ext cx="5148072"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24" name="Chart Caption"/>
          <p:cNvSpPr txBox="1"/>
          <p:nvPr/>
        </p:nvSpPr>
        <p:spPr>
          <a:xfrm>
            <a:off x="6492240" y="5623560"/>
            <a:ext cx="5148072" cy="502920"/>
          </a:xfrm>
          <a:prstGeom prst="rect">
            <a:avLst/>
          </a:prstGeom>
          <a:noFill/>
          <a:ln/>
        </p:spPr>
        <p:txBody>
          <a:bodyPr wrap="square" lIns="0" tIns="0" rIns="0" bIns="0" rtlCol="0" anchor="t"/>
          <a:lstStyle/>
          <a:p>
            <a:pPr marL="0" indent="0">
              <a:buNone/>
            </a:pPr>
            <a:r>
              <a:rPr lang="en-US" sz="1200" i="1" dirty="0">
                <a:solidFill>
                  <a:schemeClr val="accent6"/>
                </a:solidFill>
              </a:rPr>
              <a:t>L₁ = 20 cm, L₂ = 15 cm; circle radius 6 cm centred at (20, 12). Computed from the equations on this slide.</a:t>
            </a:r>
            <a:endParaRPr lang="en-US" sz="12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Project Objectives</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One aim, four objectives</a:t>
            </a:r>
            <a:endParaRPr lang="en-US" sz="1600" dirty="0"/>
          </a:p>
        </p:txBody>
      </p:sp>
      <p:sp>
        <p:nvSpPr>
          <p:cNvPr id="5" name="Aim Banner"/>
          <p:cNvSpPr/>
          <p:nvPr/>
        </p:nvSpPr>
        <p:spPr>
          <a:xfrm>
            <a:off x="548640" y="1508760"/>
            <a:ext cx="11091672" cy="1051560"/>
          </a:xfrm>
          <a:prstGeom prst="roundRect">
            <a:avLst>
              <a:gd name="adj" fmla="val 8696"/>
            </a:avLst>
          </a:prstGeom>
          <a:solidFill>
            <a:schemeClr val="accent1"/>
          </a:solidFill>
          <a:ln w="12700">
            <a:solidFill>
              <a:schemeClr val="accent1"/>
            </a:solidFill>
            <a:prstDash val="solid"/>
          </a:ln>
        </p:spPr>
      </p:sp>
      <p:sp>
        <p:nvSpPr>
          <p:cNvPr id="6" name="Aim Label"/>
          <p:cNvSpPr txBox="1"/>
          <p:nvPr/>
        </p:nvSpPr>
        <p:spPr>
          <a:xfrm>
            <a:off x="822960" y="1508760"/>
            <a:ext cx="822960" cy="1051560"/>
          </a:xfrm>
          <a:prstGeom prst="rect">
            <a:avLst/>
          </a:prstGeom>
          <a:noFill/>
          <a:ln/>
        </p:spPr>
        <p:txBody>
          <a:bodyPr wrap="square" lIns="0" tIns="0" rIns="0" bIns="0" rtlCol="0" anchor="ctr"/>
          <a:lstStyle/>
          <a:p>
            <a:pPr marL="0" indent="0">
              <a:buNone/>
            </a:pPr>
            <a:r>
              <a:rPr lang="en-US" sz="2400" b="1" dirty="0">
                <a:solidFill>
                  <a:schemeClr val="accent4"/>
                </a:solidFill>
                <a:latin typeface="+mj-lt" pitchFamily="34" charset="0"/>
                <a:ea typeface="+mj-lt" pitchFamily="34" charset="-122"/>
                <a:cs typeface="+mj-lt" pitchFamily="34" charset="-120"/>
              </a:rPr>
              <a:t>AIM</a:t>
            </a:r>
            <a:endParaRPr lang="en-US" sz="2400" dirty="0"/>
          </a:p>
        </p:txBody>
      </p:sp>
      <p:sp>
        <p:nvSpPr>
          <p:cNvPr id="7" name="Aim Text"/>
          <p:cNvSpPr txBox="1"/>
          <p:nvPr/>
        </p:nvSpPr>
        <p:spPr>
          <a:xfrm>
            <a:off x="1737360" y="1554480"/>
            <a:ext cx="9692640" cy="960120"/>
          </a:xfrm>
          <a:prstGeom prst="rect">
            <a:avLst/>
          </a:prstGeom>
          <a:noFill/>
          <a:ln/>
        </p:spPr>
        <p:txBody>
          <a:bodyPr wrap="square" lIns="0" tIns="0" rIns="0" bIns="0" rtlCol="0" anchor="ctr"/>
          <a:lstStyle/>
          <a:p>
            <a:pPr marL="0" indent="0">
              <a:buNone/>
            </a:pPr>
            <a:r>
              <a:rPr lang="en-US" sz="1800" dirty="0">
                <a:solidFill>
                  <a:schemeClr val="bg1"/>
                </a:solidFill>
              </a:rPr>
              <a:t>Design and implement a 2-link, 2-DOF planar robotic arm whose end-effector follows a pre-defined trajectory of (x, y) coordinates with accuracy and repeatability.</a:t>
            </a:r>
            <a:endParaRPr lang="en-US" sz="1800" dirty="0"/>
          </a:p>
        </p:txBody>
      </p:sp>
      <p:sp>
        <p:nvSpPr>
          <p:cNvPr id="8" name="Objective Card 1"/>
          <p:cNvSpPr/>
          <p:nvPr/>
        </p:nvSpPr>
        <p:spPr>
          <a:xfrm>
            <a:off x="548640" y="2788920"/>
            <a:ext cx="2606040" cy="3429000"/>
          </a:xfrm>
          <a:prstGeom prst="roundRect">
            <a:avLst>
              <a:gd name="adj" fmla="val 3509"/>
            </a:avLst>
          </a:prstGeom>
          <a:solidFill>
            <a:schemeClr val="bg2"/>
          </a:solidFill>
          <a:ln w="9525">
            <a:solidFill>
              <a:schemeClr val="accent6">
                <a:alpha val="45000"/>
              </a:schemeClr>
            </a:solidFill>
            <a:prstDash val="solid"/>
          </a:ln>
        </p:spPr>
      </p:sp>
      <p:sp>
        <p:nvSpPr>
          <p:cNvPr id="9" name="IconBadge FaBullseye"/>
          <p:cNvSpPr/>
          <p:nvPr/>
        </p:nvSpPr>
        <p:spPr>
          <a:xfrm>
            <a:off x="777240" y="3017520"/>
            <a:ext cx="640080" cy="640080"/>
          </a:xfrm>
          <a:prstGeom prst="ellipse">
            <a:avLst/>
          </a:prstGeom>
          <a:solidFill>
            <a:schemeClr val="accent1"/>
          </a:solidFill>
          <a:ln w="12700">
            <a:solidFill>
              <a:schemeClr val="accent1"/>
            </a:solidFill>
            <a:prstDash val="solid"/>
          </a:ln>
        </p:spPr>
      </p:sp>
      <p:pic>
        <p:nvPicPr>
          <p:cNvPr id="10" name="Image 0" descr="FaBullseye icon"/>
          <p:cNvPicPr>
            <a:picLocks noChangeAspect="1"/>
          </p:cNvPicPr>
          <p:nvPr/>
        </p:nvPicPr>
        <p:blipFill>
          <a:blip r:embed="rId3"/>
          <a:stretch>
            <a:fillRect/>
          </a:stretch>
        </p:blipFill>
        <p:spPr>
          <a:xfrm>
            <a:off x="937260" y="3177540"/>
            <a:ext cx="320040" cy="320040"/>
          </a:xfrm>
          <a:prstGeom prst="rect">
            <a:avLst/>
          </a:prstGeom>
        </p:spPr>
      </p:pic>
      <p:sp>
        <p:nvSpPr>
          <p:cNvPr id="11" name="Objective Caption 1"/>
          <p:cNvSpPr txBox="1"/>
          <p:nvPr/>
        </p:nvSpPr>
        <p:spPr>
          <a:xfrm>
            <a:off x="777240" y="3794760"/>
            <a:ext cx="2194560" cy="256032"/>
          </a:xfrm>
          <a:prstGeom prst="rect">
            <a:avLst/>
          </a:prstGeom>
          <a:noFill/>
          <a:ln/>
        </p:spPr>
        <p:txBody>
          <a:bodyPr wrap="square" lIns="0" tIns="0" rIns="0" bIns="0" rtlCol="0" anchor="t"/>
          <a:lstStyle/>
          <a:p>
            <a:pPr marL="0" indent="0">
              <a:buNone/>
            </a:pPr>
            <a:r>
              <a:rPr lang="en-US" sz="1200" b="1" dirty="0">
                <a:solidFill>
                  <a:schemeClr val="accent3"/>
                </a:solidFill>
              </a:rPr>
              <a:t>Objective 1</a:t>
            </a:r>
            <a:endParaRPr lang="en-US" sz="1200" dirty="0"/>
          </a:p>
        </p:txBody>
      </p:sp>
      <p:sp>
        <p:nvSpPr>
          <p:cNvPr id="12" name="Objective Title 1"/>
          <p:cNvSpPr txBox="1"/>
          <p:nvPr/>
        </p:nvSpPr>
        <p:spPr>
          <a:xfrm>
            <a:off x="777240" y="4069080"/>
            <a:ext cx="2194560" cy="548640"/>
          </a:xfrm>
          <a:prstGeom prst="rect">
            <a:avLst/>
          </a:prstGeom>
          <a:noFill/>
          <a:ln/>
        </p:spPr>
        <p:txBody>
          <a:bodyPr wrap="square" lIns="0" tIns="0" rIns="0" bIns="0" rtlCol="0" anchor="t"/>
          <a:lstStyle/>
          <a:p>
            <a:pPr marL="0" indent="0">
              <a:buNone/>
            </a:pPr>
            <a:r>
              <a:rPr lang="en-US" sz="1600" b="1" dirty="0">
                <a:solidFill>
                  <a:schemeClr val="tx2"/>
                </a:solidFill>
              </a:rPr>
              <a:t>Define the workspace</a:t>
            </a:r>
            <a:endParaRPr lang="en-US" sz="1600" dirty="0"/>
          </a:p>
        </p:txBody>
      </p:sp>
      <p:sp>
        <p:nvSpPr>
          <p:cNvPr id="13" name="Objective Text 1"/>
          <p:cNvSpPr txBox="1"/>
          <p:nvPr/>
        </p:nvSpPr>
        <p:spPr>
          <a:xfrm>
            <a:off x="777240" y="4663440"/>
            <a:ext cx="2194560" cy="1463040"/>
          </a:xfrm>
          <a:prstGeom prst="rect">
            <a:avLst/>
          </a:prstGeom>
          <a:noFill/>
          <a:ln/>
        </p:spPr>
        <p:txBody>
          <a:bodyPr wrap="square" lIns="0" tIns="0" rIns="0" bIns="0" rtlCol="0" anchor="t"/>
          <a:lstStyle/>
          <a:p>
            <a:pPr marL="0" indent="0">
              <a:buNone/>
            </a:pPr>
            <a:r>
              <a:rPr lang="en-US" sz="1600" dirty="0">
                <a:solidFill>
                  <a:schemeClr val="tx1"/>
                </a:solidFill>
              </a:rPr>
              <a:t>Determine the full set of reachable (x, y) points for a given pair of link lengths.</a:t>
            </a:r>
            <a:endParaRPr lang="en-US" sz="1600" dirty="0"/>
          </a:p>
        </p:txBody>
      </p:sp>
      <p:sp>
        <p:nvSpPr>
          <p:cNvPr id="14" name="Objective Card 2"/>
          <p:cNvSpPr/>
          <p:nvPr/>
        </p:nvSpPr>
        <p:spPr>
          <a:xfrm>
            <a:off x="3376879" y="2788920"/>
            <a:ext cx="2606040" cy="3429000"/>
          </a:xfrm>
          <a:prstGeom prst="roundRect">
            <a:avLst>
              <a:gd name="adj" fmla="val 3509"/>
            </a:avLst>
          </a:prstGeom>
          <a:solidFill>
            <a:schemeClr val="bg2"/>
          </a:solidFill>
          <a:ln w="9525">
            <a:solidFill>
              <a:schemeClr val="accent6">
                <a:alpha val="45000"/>
              </a:schemeClr>
            </a:solidFill>
            <a:prstDash val="solid"/>
          </a:ln>
        </p:spPr>
      </p:sp>
      <p:sp>
        <p:nvSpPr>
          <p:cNvPr id="15" name="IconBadge FaCogs"/>
          <p:cNvSpPr/>
          <p:nvPr/>
        </p:nvSpPr>
        <p:spPr>
          <a:xfrm>
            <a:off x="3605479" y="3017520"/>
            <a:ext cx="640080" cy="640080"/>
          </a:xfrm>
          <a:prstGeom prst="ellipse">
            <a:avLst/>
          </a:prstGeom>
          <a:solidFill>
            <a:schemeClr val="accent2"/>
          </a:solidFill>
          <a:ln w="12700">
            <a:solidFill>
              <a:schemeClr val="accent2"/>
            </a:solidFill>
            <a:prstDash val="solid"/>
          </a:ln>
        </p:spPr>
      </p:sp>
      <p:pic>
        <p:nvPicPr>
          <p:cNvPr id="16" name="Image 1" descr="FaCogs icon"/>
          <p:cNvPicPr>
            <a:picLocks noChangeAspect="1"/>
          </p:cNvPicPr>
          <p:nvPr/>
        </p:nvPicPr>
        <p:blipFill>
          <a:blip r:embed="rId4"/>
          <a:stretch>
            <a:fillRect/>
          </a:stretch>
        </p:blipFill>
        <p:spPr>
          <a:xfrm>
            <a:off x="3765499" y="3177540"/>
            <a:ext cx="320040" cy="320040"/>
          </a:xfrm>
          <a:prstGeom prst="rect">
            <a:avLst/>
          </a:prstGeom>
        </p:spPr>
      </p:pic>
      <p:sp>
        <p:nvSpPr>
          <p:cNvPr id="17" name="Objective Caption 2"/>
          <p:cNvSpPr txBox="1"/>
          <p:nvPr/>
        </p:nvSpPr>
        <p:spPr>
          <a:xfrm>
            <a:off x="3605479" y="3794760"/>
            <a:ext cx="2194560" cy="256032"/>
          </a:xfrm>
          <a:prstGeom prst="rect">
            <a:avLst/>
          </a:prstGeom>
          <a:noFill/>
          <a:ln/>
        </p:spPr>
        <p:txBody>
          <a:bodyPr wrap="square" lIns="0" tIns="0" rIns="0" bIns="0" rtlCol="0" anchor="t"/>
          <a:lstStyle/>
          <a:p>
            <a:pPr marL="0" indent="0">
              <a:buNone/>
            </a:pPr>
            <a:r>
              <a:rPr lang="en-US" sz="1200" b="1" dirty="0">
                <a:solidFill>
                  <a:schemeClr val="accent3"/>
                </a:solidFill>
              </a:rPr>
              <a:t>Objective 2</a:t>
            </a:r>
            <a:endParaRPr lang="en-US" sz="1200" dirty="0"/>
          </a:p>
        </p:txBody>
      </p:sp>
      <p:sp>
        <p:nvSpPr>
          <p:cNvPr id="18" name="Objective Title 2"/>
          <p:cNvSpPr txBox="1"/>
          <p:nvPr/>
        </p:nvSpPr>
        <p:spPr>
          <a:xfrm>
            <a:off x="3605479" y="4069080"/>
            <a:ext cx="2194560" cy="548640"/>
          </a:xfrm>
          <a:prstGeom prst="rect">
            <a:avLst/>
          </a:prstGeom>
          <a:noFill/>
          <a:ln/>
        </p:spPr>
        <p:txBody>
          <a:bodyPr wrap="square" lIns="0" tIns="0" rIns="0" bIns="0" rtlCol="0" anchor="t"/>
          <a:lstStyle/>
          <a:p>
            <a:pPr marL="0" indent="0">
              <a:buNone/>
            </a:pPr>
            <a:r>
              <a:rPr lang="en-US" sz="1600" b="1" dirty="0">
                <a:solidFill>
                  <a:schemeClr val="tx2"/>
                </a:solidFill>
              </a:rPr>
              <a:t>Independent joint actuation</a:t>
            </a:r>
            <a:endParaRPr lang="en-US" sz="1600" dirty="0"/>
          </a:p>
        </p:txBody>
      </p:sp>
      <p:sp>
        <p:nvSpPr>
          <p:cNvPr id="19" name="Objective Text 2"/>
          <p:cNvSpPr txBox="1"/>
          <p:nvPr/>
        </p:nvSpPr>
        <p:spPr>
          <a:xfrm>
            <a:off x="3605479" y="4663440"/>
            <a:ext cx="2194560" cy="1463040"/>
          </a:xfrm>
          <a:prstGeom prst="rect">
            <a:avLst/>
          </a:prstGeom>
          <a:noFill/>
          <a:ln/>
        </p:spPr>
        <p:txBody>
          <a:bodyPr wrap="square" lIns="0" tIns="0" rIns="0" bIns="0" rtlCol="0" anchor="t"/>
          <a:lstStyle/>
          <a:p>
            <a:pPr marL="0" indent="0">
              <a:buNone/>
            </a:pPr>
            <a:r>
              <a:rPr lang="en-US" sz="1600" dirty="0">
                <a:solidFill>
                  <a:schemeClr val="tx1"/>
                </a:solidFill>
              </a:rPr>
              <a:t>Drive each joint with a dedicated stepper motor for precise angular control.</a:t>
            </a:r>
            <a:endParaRPr lang="en-US" sz="1600" dirty="0"/>
          </a:p>
        </p:txBody>
      </p:sp>
      <p:sp>
        <p:nvSpPr>
          <p:cNvPr id="20" name="Objective Card 3"/>
          <p:cNvSpPr/>
          <p:nvPr/>
        </p:nvSpPr>
        <p:spPr>
          <a:xfrm>
            <a:off x="6205118" y="2788920"/>
            <a:ext cx="2606040" cy="3429000"/>
          </a:xfrm>
          <a:prstGeom prst="roundRect">
            <a:avLst>
              <a:gd name="adj" fmla="val 3509"/>
            </a:avLst>
          </a:prstGeom>
          <a:solidFill>
            <a:schemeClr val="bg2"/>
          </a:solidFill>
          <a:ln w="9525">
            <a:solidFill>
              <a:schemeClr val="accent6">
                <a:alpha val="45000"/>
              </a:schemeClr>
            </a:solidFill>
            <a:prstDash val="solid"/>
          </a:ln>
        </p:spPr>
      </p:sp>
      <p:sp>
        <p:nvSpPr>
          <p:cNvPr id="21" name="IconBadge FaSyncAlt"/>
          <p:cNvSpPr/>
          <p:nvPr/>
        </p:nvSpPr>
        <p:spPr>
          <a:xfrm>
            <a:off x="6433718" y="3017520"/>
            <a:ext cx="640080" cy="640080"/>
          </a:xfrm>
          <a:prstGeom prst="ellipse">
            <a:avLst/>
          </a:prstGeom>
          <a:solidFill>
            <a:schemeClr val="accent3"/>
          </a:solidFill>
          <a:ln w="12700">
            <a:solidFill>
              <a:schemeClr val="accent3"/>
            </a:solidFill>
            <a:prstDash val="solid"/>
          </a:ln>
        </p:spPr>
      </p:sp>
      <p:pic>
        <p:nvPicPr>
          <p:cNvPr id="22" name="Image 2" descr="FaSyncAlt icon"/>
          <p:cNvPicPr>
            <a:picLocks noChangeAspect="1"/>
          </p:cNvPicPr>
          <p:nvPr/>
        </p:nvPicPr>
        <p:blipFill>
          <a:blip r:embed="rId5"/>
          <a:stretch>
            <a:fillRect/>
          </a:stretch>
        </p:blipFill>
        <p:spPr>
          <a:xfrm>
            <a:off x="6593738" y="3177540"/>
            <a:ext cx="320040" cy="320040"/>
          </a:xfrm>
          <a:prstGeom prst="rect">
            <a:avLst/>
          </a:prstGeom>
        </p:spPr>
      </p:pic>
      <p:sp>
        <p:nvSpPr>
          <p:cNvPr id="23" name="Objective Caption 3"/>
          <p:cNvSpPr txBox="1"/>
          <p:nvPr/>
        </p:nvSpPr>
        <p:spPr>
          <a:xfrm>
            <a:off x="6433718" y="3794760"/>
            <a:ext cx="2194560" cy="256032"/>
          </a:xfrm>
          <a:prstGeom prst="rect">
            <a:avLst/>
          </a:prstGeom>
          <a:noFill/>
          <a:ln/>
        </p:spPr>
        <p:txBody>
          <a:bodyPr wrap="square" lIns="0" tIns="0" rIns="0" bIns="0" rtlCol="0" anchor="t"/>
          <a:lstStyle/>
          <a:p>
            <a:pPr marL="0" indent="0">
              <a:buNone/>
            </a:pPr>
            <a:r>
              <a:rPr lang="en-US" sz="1200" b="1" dirty="0">
                <a:solidFill>
                  <a:schemeClr val="accent3"/>
                </a:solidFill>
              </a:rPr>
              <a:t>Objective 3</a:t>
            </a:r>
            <a:endParaRPr lang="en-US" sz="1200" dirty="0"/>
          </a:p>
        </p:txBody>
      </p:sp>
      <p:sp>
        <p:nvSpPr>
          <p:cNvPr id="24" name="Objective Title 3"/>
          <p:cNvSpPr txBox="1"/>
          <p:nvPr/>
        </p:nvSpPr>
        <p:spPr>
          <a:xfrm>
            <a:off x="6433718" y="4069080"/>
            <a:ext cx="2194560" cy="548640"/>
          </a:xfrm>
          <a:prstGeom prst="rect">
            <a:avLst/>
          </a:prstGeom>
          <a:noFill/>
          <a:ln/>
        </p:spPr>
        <p:txBody>
          <a:bodyPr wrap="square" lIns="0" tIns="0" rIns="0" bIns="0" rtlCol="0" anchor="t"/>
          <a:lstStyle/>
          <a:p>
            <a:pPr marL="0" indent="0">
              <a:buNone/>
            </a:pPr>
            <a:r>
              <a:rPr lang="en-US" sz="1600" b="1" dirty="0">
                <a:solidFill>
                  <a:schemeClr val="tx2"/>
                </a:solidFill>
              </a:rPr>
              <a:t>Closed-loop correction</a:t>
            </a:r>
            <a:endParaRPr lang="en-US" sz="1600" dirty="0"/>
          </a:p>
        </p:txBody>
      </p:sp>
      <p:sp>
        <p:nvSpPr>
          <p:cNvPr id="25" name="Objective Text 3"/>
          <p:cNvSpPr txBox="1"/>
          <p:nvPr/>
        </p:nvSpPr>
        <p:spPr>
          <a:xfrm>
            <a:off x="6433718" y="4663440"/>
            <a:ext cx="2194560" cy="1463040"/>
          </a:xfrm>
          <a:prstGeom prst="rect">
            <a:avLst/>
          </a:prstGeom>
          <a:noFill/>
          <a:ln/>
        </p:spPr>
        <p:txBody>
          <a:bodyPr wrap="square" lIns="0" tIns="0" rIns="0" bIns="0" rtlCol="0" anchor="t"/>
          <a:lstStyle/>
          <a:p>
            <a:pPr marL="0" indent="0">
              <a:buNone/>
            </a:pPr>
            <a:r>
              <a:rPr lang="en-US" sz="1600" dirty="0">
                <a:solidFill>
                  <a:schemeClr val="tx1"/>
                </a:solidFill>
              </a:rPr>
              <a:t>Use a rotary encoder on each joint to correct step loss and drift.</a:t>
            </a:r>
            <a:endParaRPr lang="en-US" sz="1600" dirty="0"/>
          </a:p>
        </p:txBody>
      </p:sp>
      <p:sp>
        <p:nvSpPr>
          <p:cNvPr id="26" name="Objective Card 4"/>
          <p:cNvSpPr/>
          <p:nvPr/>
        </p:nvSpPr>
        <p:spPr>
          <a:xfrm>
            <a:off x="9033358" y="2788920"/>
            <a:ext cx="2606040" cy="3429000"/>
          </a:xfrm>
          <a:prstGeom prst="roundRect">
            <a:avLst>
              <a:gd name="adj" fmla="val 3509"/>
            </a:avLst>
          </a:prstGeom>
          <a:solidFill>
            <a:schemeClr val="bg2"/>
          </a:solidFill>
          <a:ln w="9525">
            <a:solidFill>
              <a:schemeClr val="accent6">
                <a:alpha val="45000"/>
              </a:schemeClr>
            </a:solidFill>
            <a:prstDash val="solid"/>
          </a:ln>
        </p:spPr>
      </p:sp>
      <p:sp>
        <p:nvSpPr>
          <p:cNvPr id="27" name="IconBadge FaRoute"/>
          <p:cNvSpPr/>
          <p:nvPr/>
        </p:nvSpPr>
        <p:spPr>
          <a:xfrm>
            <a:off x="9261958" y="3017520"/>
            <a:ext cx="640080" cy="640080"/>
          </a:xfrm>
          <a:prstGeom prst="ellipse">
            <a:avLst/>
          </a:prstGeom>
          <a:solidFill>
            <a:schemeClr val="accent1"/>
          </a:solidFill>
          <a:ln w="12700">
            <a:solidFill>
              <a:schemeClr val="accent1"/>
            </a:solidFill>
            <a:prstDash val="solid"/>
          </a:ln>
        </p:spPr>
      </p:sp>
      <p:pic>
        <p:nvPicPr>
          <p:cNvPr id="28" name="Image 3" descr="FaRoute icon"/>
          <p:cNvPicPr>
            <a:picLocks noChangeAspect="1"/>
          </p:cNvPicPr>
          <p:nvPr/>
        </p:nvPicPr>
        <p:blipFill>
          <a:blip r:embed="rId6"/>
          <a:stretch>
            <a:fillRect/>
          </a:stretch>
        </p:blipFill>
        <p:spPr>
          <a:xfrm>
            <a:off x="9421978" y="3177540"/>
            <a:ext cx="320040" cy="320040"/>
          </a:xfrm>
          <a:prstGeom prst="rect">
            <a:avLst/>
          </a:prstGeom>
        </p:spPr>
      </p:pic>
      <p:sp>
        <p:nvSpPr>
          <p:cNvPr id="29" name="Objective Caption 4"/>
          <p:cNvSpPr txBox="1"/>
          <p:nvPr/>
        </p:nvSpPr>
        <p:spPr>
          <a:xfrm>
            <a:off x="9261958" y="3794760"/>
            <a:ext cx="2194560" cy="256032"/>
          </a:xfrm>
          <a:prstGeom prst="rect">
            <a:avLst/>
          </a:prstGeom>
          <a:noFill/>
          <a:ln/>
        </p:spPr>
        <p:txBody>
          <a:bodyPr wrap="square" lIns="0" tIns="0" rIns="0" bIns="0" rtlCol="0" anchor="t"/>
          <a:lstStyle/>
          <a:p>
            <a:pPr marL="0" indent="0">
              <a:buNone/>
            </a:pPr>
            <a:r>
              <a:rPr lang="en-US" sz="1200" b="1" dirty="0">
                <a:solidFill>
                  <a:schemeClr val="accent3"/>
                </a:solidFill>
              </a:rPr>
              <a:t>Objective 4</a:t>
            </a:r>
            <a:endParaRPr lang="en-US" sz="1200" dirty="0"/>
          </a:p>
        </p:txBody>
      </p:sp>
      <p:sp>
        <p:nvSpPr>
          <p:cNvPr id="30" name="Objective Title 4"/>
          <p:cNvSpPr txBox="1"/>
          <p:nvPr/>
        </p:nvSpPr>
        <p:spPr>
          <a:xfrm>
            <a:off x="9261958" y="4069080"/>
            <a:ext cx="2194560" cy="548640"/>
          </a:xfrm>
          <a:prstGeom prst="rect">
            <a:avLst/>
          </a:prstGeom>
          <a:noFill/>
          <a:ln/>
        </p:spPr>
        <p:txBody>
          <a:bodyPr wrap="square" lIns="0" tIns="0" rIns="0" bIns="0" rtlCol="0" anchor="t"/>
          <a:lstStyle/>
          <a:p>
            <a:pPr marL="0" indent="0">
              <a:buNone/>
            </a:pPr>
            <a:r>
              <a:rPr lang="en-US" sz="1600" b="1" dirty="0">
                <a:solidFill>
                  <a:schemeClr val="tx2"/>
                </a:solidFill>
              </a:rPr>
              <a:t>Path following</a:t>
            </a:r>
            <a:endParaRPr lang="en-US" sz="1600" dirty="0"/>
          </a:p>
        </p:txBody>
      </p:sp>
      <p:sp>
        <p:nvSpPr>
          <p:cNvPr id="31" name="Objective Text 4"/>
          <p:cNvSpPr txBox="1"/>
          <p:nvPr/>
        </p:nvSpPr>
        <p:spPr>
          <a:xfrm>
            <a:off x="9261958" y="4663440"/>
            <a:ext cx="2194560" cy="1463040"/>
          </a:xfrm>
          <a:prstGeom prst="rect">
            <a:avLst/>
          </a:prstGeom>
          <a:noFill/>
          <a:ln/>
        </p:spPr>
        <p:txBody>
          <a:bodyPr wrap="square" lIns="0" tIns="0" rIns="0" bIns="0" rtlCol="0" anchor="t"/>
          <a:lstStyle/>
          <a:p>
            <a:pPr marL="0" indent="0">
              <a:buNone/>
            </a:pPr>
            <a:r>
              <a:rPr lang="en-US" sz="1600" dirty="0">
                <a:solidFill>
                  <a:schemeClr val="tx1"/>
                </a:solidFill>
              </a:rPr>
              <a:t>Convert a Cartesian path into joint angles (IK) and drive the arm smoothly along it.</a:t>
            </a:r>
            <a:endParaRPr lang="en-US" sz="1600" dirty="0"/>
          </a:p>
        </p:txBody>
      </p:sp>
      <p:sp>
        <p:nvSpPr>
          <p:cNvPr id="4"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Project Objectives (contd.)</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Proposed system architecture</a:t>
            </a:r>
            <a:endParaRPr lang="en-US" sz="1600" dirty="0"/>
          </a:p>
        </p:txBody>
      </p:sp>
      <p:sp>
        <p:nvSpPr>
          <p:cNvPr id="5" name="Architecture Panel"/>
          <p:cNvSpPr/>
          <p:nvPr/>
        </p:nvSpPr>
        <p:spPr>
          <a:xfrm>
            <a:off x="548640" y="1508760"/>
            <a:ext cx="7589520" cy="4754880"/>
          </a:xfrm>
          <a:prstGeom prst="roundRect">
            <a:avLst>
              <a:gd name="adj" fmla="val 1923"/>
            </a:avLst>
          </a:prstGeom>
          <a:solidFill>
            <a:schemeClr val="bg2"/>
          </a:solidFill>
          <a:ln w="9525">
            <a:solidFill>
              <a:schemeClr val="accent6">
                <a:alpha val="45000"/>
              </a:schemeClr>
            </a:solidFill>
            <a:prstDash val="solid"/>
          </a:ln>
        </p:spPr>
      </p:sp>
      <p:pic>
        <p:nvPicPr>
          <p:cNvPr id="6" name="Image 0" descr="Block diagram: path input, inverse kinematics, controller, stepper drivers and motors, encoders feeding back"/>
          <p:cNvPicPr>
            <a:picLocks noChangeAspect="1"/>
          </p:cNvPicPr>
          <p:nvPr/>
        </p:nvPicPr>
        <p:blipFill>
          <a:blip r:embed="rId3"/>
          <a:stretch>
            <a:fillRect/>
          </a:stretch>
        </p:blipFill>
        <p:spPr>
          <a:xfrm>
            <a:off x="731520" y="1988490"/>
            <a:ext cx="7223760" cy="3795421"/>
          </a:xfrm>
          <a:prstGeom prst="rect">
            <a:avLst/>
          </a:prstGeom>
        </p:spPr>
      </p:pic>
      <p:sp>
        <p:nvSpPr>
          <p:cNvPr id="7" name="Architecture Point 1"/>
          <p:cNvSpPr/>
          <p:nvPr/>
        </p:nvSpPr>
        <p:spPr>
          <a:xfrm>
            <a:off x="8412480" y="1508760"/>
            <a:ext cx="3227832" cy="1444752"/>
          </a:xfrm>
          <a:prstGeom prst="roundRect">
            <a:avLst>
              <a:gd name="adj" fmla="val 6329"/>
            </a:avLst>
          </a:prstGeom>
          <a:solidFill>
            <a:schemeClr val="bg2"/>
          </a:solidFill>
          <a:ln w="9525">
            <a:solidFill>
              <a:schemeClr val="accent6">
                <a:alpha val="45000"/>
              </a:schemeClr>
            </a:solidFill>
            <a:prstDash val="solid"/>
          </a:ln>
        </p:spPr>
      </p:sp>
      <p:sp>
        <p:nvSpPr>
          <p:cNvPr id="8" name="IconBadge FaRoute"/>
          <p:cNvSpPr/>
          <p:nvPr/>
        </p:nvSpPr>
        <p:spPr>
          <a:xfrm>
            <a:off x="8549640" y="1645920"/>
            <a:ext cx="475488" cy="475488"/>
          </a:xfrm>
          <a:prstGeom prst="ellipse">
            <a:avLst/>
          </a:prstGeom>
          <a:solidFill>
            <a:schemeClr val="accent1"/>
          </a:solidFill>
          <a:ln w="12700">
            <a:solidFill>
              <a:schemeClr val="accent1"/>
            </a:solidFill>
            <a:prstDash val="solid"/>
          </a:ln>
        </p:spPr>
      </p:sp>
      <p:pic>
        <p:nvPicPr>
          <p:cNvPr id="9" name="Image 1" descr="FaRoute icon"/>
          <p:cNvPicPr>
            <a:picLocks noChangeAspect="1"/>
          </p:cNvPicPr>
          <p:nvPr/>
        </p:nvPicPr>
        <p:blipFill>
          <a:blip r:embed="rId4"/>
          <a:stretch>
            <a:fillRect/>
          </a:stretch>
        </p:blipFill>
        <p:spPr>
          <a:xfrm>
            <a:off x="8668512" y="1764792"/>
            <a:ext cx="237744" cy="237744"/>
          </a:xfrm>
          <a:prstGeom prst="rect">
            <a:avLst/>
          </a:prstGeom>
        </p:spPr>
      </p:pic>
      <p:sp>
        <p:nvSpPr>
          <p:cNvPr id="10" name="Architecture Title 1"/>
          <p:cNvSpPr txBox="1"/>
          <p:nvPr/>
        </p:nvSpPr>
        <p:spPr>
          <a:xfrm>
            <a:off x="9144000" y="1691640"/>
            <a:ext cx="2377440" cy="320040"/>
          </a:xfrm>
          <a:prstGeom prst="rect">
            <a:avLst/>
          </a:prstGeom>
          <a:noFill/>
          <a:ln/>
        </p:spPr>
        <p:txBody>
          <a:bodyPr wrap="square" lIns="0" tIns="0" rIns="0" bIns="0" rtlCol="0" anchor="t"/>
          <a:lstStyle/>
          <a:p>
            <a:pPr marL="0" indent="0">
              <a:buNone/>
            </a:pPr>
            <a:r>
              <a:rPr lang="en-US" sz="1600" b="1" dirty="0">
                <a:solidFill>
                  <a:schemeClr val="tx2"/>
                </a:solidFill>
              </a:rPr>
              <a:t>Plan</a:t>
            </a:r>
            <a:endParaRPr lang="en-US" sz="1600" dirty="0"/>
          </a:p>
        </p:txBody>
      </p:sp>
      <p:sp>
        <p:nvSpPr>
          <p:cNvPr id="11" name="Architecture Text 1"/>
          <p:cNvSpPr txBox="1"/>
          <p:nvPr/>
        </p:nvSpPr>
        <p:spPr>
          <a:xfrm>
            <a:off x="8549640" y="2194560"/>
            <a:ext cx="2971800" cy="731520"/>
          </a:xfrm>
          <a:prstGeom prst="rect">
            <a:avLst/>
          </a:prstGeom>
          <a:noFill/>
          <a:ln/>
        </p:spPr>
        <p:txBody>
          <a:bodyPr wrap="square" lIns="0" tIns="0" rIns="0" bIns="0" rtlCol="0" anchor="t"/>
          <a:lstStyle/>
          <a:p>
            <a:pPr marL="0" indent="0">
              <a:buNone/>
            </a:pPr>
            <a:r>
              <a:rPr lang="en-US" sz="1400" dirty="0">
                <a:solidFill>
                  <a:schemeClr val="tx1"/>
                </a:solidFill>
              </a:rPr>
              <a:t>The Cartesian path is converted to joint angles by the IK solver.</a:t>
            </a:r>
            <a:endParaRPr lang="en-US" sz="1400" dirty="0"/>
          </a:p>
        </p:txBody>
      </p:sp>
      <p:sp>
        <p:nvSpPr>
          <p:cNvPr id="12" name="Architecture Point 2"/>
          <p:cNvSpPr/>
          <p:nvPr/>
        </p:nvSpPr>
        <p:spPr>
          <a:xfrm>
            <a:off x="8412480" y="3090672"/>
            <a:ext cx="3227832" cy="1444752"/>
          </a:xfrm>
          <a:prstGeom prst="roundRect">
            <a:avLst>
              <a:gd name="adj" fmla="val 6329"/>
            </a:avLst>
          </a:prstGeom>
          <a:solidFill>
            <a:schemeClr val="bg2"/>
          </a:solidFill>
          <a:ln w="9525">
            <a:solidFill>
              <a:schemeClr val="accent6">
                <a:alpha val="45000"/>
              </a:schemeClr>
            </a:solidFill>
            <a:prstDash val="solid"/>
          </a:ln>
        </p:spPr>
      </p:sp>
      <p:sp>
        <p:nvSpPr>
          <p:cNvPr id="13" name="IconBadge FaMicrochip"/>
          <p:cNvSpPr/>
          <p:nvPr/>
        </p:nvSpPr>
        <p:spPr>
          <a:xfrm>
            <a:off x="8549640" y="3227832"/>
            <a:ext cx="475488" cy="475488"/>
          </a:xfrm>
          <a:prstGeom prst="ellipse">
            <a:avLst/>
          </a:prstGeom>
          <a:solidFill>
            <a:schemeClr val="accent2"/>
          </a:solidFill>
          <a:ln w="12700">
            <a:solidFill>
              <a:schemeClr val="accent2"/>
            </a:solidFill>
            <a:prstDash val="solid"/>
          </a:ln>
        </p:spPr>
      </p:sp>
      <p:pic>
        <p:nvPicPr>
          <p:cNvPr id="14" name="Image 2" descr="FaMicrochip icon"/>
          <p:cNvPicPr>
            <a:picLocks noChangeAspect="1"/>
          </p:cNvPicPr>
          <p:nvPr/>
        </p:nvPicPr>
        <p:blipFill>
          <a:blip r:embed="rId5"/>
          <a:stretch>
            <a:fillRect/>
          </a:stretch>
        </p:blipFill>
        <p:spPr>
          <a:xfrm>
            <a:off x="8668512" y="3346704"/>
            <a:ext cx="237744" cy="237744"/>
          </a:xfrm>
          <a:prstGeom prst="rect">
            <a:avLst/>
          </a:prstGeom>
        </p:spPr>
      </p:pic>
      <p:sp>
        <p:nvSpPr>
          <p:cNvPr id="15" name="Architecture Title 2"/>
          <p:cNvSpPr txBox="1"/>
          <p:nvPr/>
        </p:nvSpPr>
        <p:spPr>
          <a:xfrm>
            <a:off x="9144000" y="3273552"/>
            <a:ext cx="2377440" cy="320040"/>
          </a:xfrm>
          <a:prstGeom prst="rect">
            <a:avLst/>
          </a:prstGeom>
          <a:noFill/>
          <a:ln/>
        </p:spPr>
        <p:txBody>
          <a:bodyPr wrap="square" lIns="0" tIns="0" rIns="0" bIns="0" rtlCol="0" anchor="t"/>
          <a:lstStyle/>
          <a:p>
            <a:pPr marL="0" indent="0">
              <a:buNone/>
            </a:pPr>
            <a:r>
              <a:rPr lang="en-US" sz="1600" b="1" dirty="0">
                <a:solidFill>
                  <a:schemeClr val="tx2"/>
                </a:solidFill>
              </a:rPr>
              <a:t>Drive</a:t>
            </a:r>
            <a:endParaRPr lang="en-US" sz="1600" dirty="0"/>
          </a:p>
        </p:txBody>
      </p:sp>
      <p:sp>
        <p:nvSpPr>
          <p:cNvPr id="16" name="Architecture Text 2"/>
          <p:cNvSpPr txBox="1"/>
          <p:nvPr/>
        </p:nvSpPr>
        <p:spPr>
          <a:xfrm>
            <a:off x="8549640" y="3776472"/>
            <a:ext cx="2971800" cy="731520"/>
          </a:xfrm>
          <a:prstGeom prst="rect">
            <a:avLst/>
          </a:prstGeom>
          <a:noFill/>
          <a:ln/>
        </p:spPr>
        <p:txBody>
          <a:bodyPr wrap="square" lIns="0" tIns="0" rIns="0" bIns="0" rtlCol="0" anchor="t"/>
          <a:lstStyle/>
          <a:p>
            <a:pPr marL="0" indent="0">
              <a:buNone/>
            </a:pPr>
            <a:r>
              <a:rPr lang="en-US" sz="1400" dirty="0">
                <a:solidFill>
                  <a:schemeClr val="tx1"/>
                </a:solidFill>
              </a:rPr>
              <a:t>The controller sends step and direction signals to two stepper drivers.</a:t>
            </a:r>
            <a:endParaRPr lang="en-US" sz="1400" dirty="0"/>
          </a:p>
        </p:txBody>
      </p:sp>
      <p:sp>
        <p:nvSpPr>
          <p:cNvPr id="17" name="Architecture Point 3"/>
          <p:cNvSpPr/>
          <p:nvPr/>
        </p:nvSpPr>
        <p:spPr>
          <a:xfrm>
            <a:off x="8412480" y="4672584"/>
            <a:ext cx="3227832" cy="1444752"/>
          </a:xfrm>
          <a:prstGeom prst="roundRect">
            <a:avLst>
              <a:gd name="adj" fmla="val 6329"/>
            </a:avLst>
          </a:prstGeom>
          <a:solidFill>
            <a:schemeClr val="bg2"/>
          </a:solidFill>
          <a:ln w="9525">
            <a:solidFill>
              <a:schemeClr val="accent6">
                <a:alpha val="45000"/>
              </a:schemeClr>
            </a:solidFill>
            <a:prstDash val="solid"/>
          </a:ln>
        </p:spPr>
      </p:sp>
      <p:sp>
        <p:nvSpPr>
          <p:cNvPr id="18" name="IconBadge FaSyncAlt"/>
          <p:cNvSpPr/>
          <p:nvPr/>
        </p:nvSpPr>
        <p:spPr>
          <a:xfrm>
            <a:off x="8549640" y="4809744"/>
            <a:ext cx="475488" cy="475488"/>
          </a:xfrm>
          <a:prstGeom prst="ellipse">
            <a:avLst/>
          </a:prstGeom>
          <a:solidFill>
            <a:schemeClr val="accent3"/>
          </a:solidFill>
          <a:ln w="12700">
            <a:solidFill>
              <a:schemeClr val="accent3"/>
            </a:solidFill>
            <a:prstDash val="solid"/>
          </a:ln>
        </p:spPr>
      </p:sp>
      <p:pic>
        <p:nvPicPr>
          <p:cNvPr id="19" name="Image 3" descr="FaSyncAlt icon"/>
          <p:cNvPicPr>
            <a:picLocks noChangeAspect="1"/>
          </p:cNvPicPr>
          <p:nvPr/>
        </p:nvPicPr>
        <p:blipFill>
          <a:blip r:embed="rId6"/>
          <a:stretch>
            <a:fillRect/>
          </a:stretch>
        </p:blipFill>
        <p:spPr>
          <a:xfrm>
            <a:off x="8668512" y="4928616"/>
            <a:ext cx="237744" cy="237744"/>
          </a:xfrm>
          <a:prstGeom prst="rect">
            <a:avLst/>
          </a:prstGeom>
        </p:spPr>
      </p:pic>
      <p:sp>
        <p:nvSpPr>
          <p:cNvPr id="20" name="Architecture Title 3"/>
          <p:cNvSpPr txBox="1"/>
          <p:nvPr/>
        </p:nvSpPr>
        <p:spPr>
          <a:xfrm>
            <a:off x="9144000" y="4855464"/>
            <a:ext cx="2377440" cy="320040"/>
          </a:xfrm>
          <a:prstGeom prst="rect">
            <a:avLst/>
          </a:prstGeom>
          <a:noFill/>
          <a:ln/>
        </p:spPr>
        <p:txBody>
          <a:bodyPr wrap="square" lIns="0" tIns="0" rIns="0" bIns="0" rtlCol="0" anchor="t"/>
          <a:lstStyle/>
          <a:p>
            <a:pPr marL="0" indent="0">
              <a:buNone/>
            </a:pPr>
            <a:r>
              <a:rPr lang="en-US" sz="1600" b="1" dirty="0">
                <a:solidFill>
                  <a:schemeClr val="tx2"/>
                </a:solidFill>
              </a:rPr>
              <a:t>Correct</a:t>
            </a:r>
            <a:endParaRPr lang="en-US" sz="1600" dirty="0"/>
          </a:p>
        </p:txBody>
      </p:sp>
      <p:sp>
        <p:nvSpPr>
          <p:cNvPr id="21" name="Architecture Text 3"/>
          <p:cNvSpPr txBox="1"/>
          <p:nvPr/>
        </p:nvSpPr>
        <p:spPr>
          <a:xfrm>
            <a:off x="8549640" y="5358384"/>
            <a:ext cx="2971800" cy="731520"/>
          </a:xfrm>
          <a:prstGeom prst="rect">
            <a:avLst/>
          </a:prstGeom>
          <a:noFill/>
          <a:ln/>
        </p:spPr>
        <p:txBody>
          <a:bodyPr wrap="square" lIns="0" tIns="0" rIns="0" bIns="0" rtlCol="0" anchor="t"/>
          <a:lstStyle/>
          <a:p>
            <a:pPr marL="0" indent="0">
              <a:buNone/>
            </a:pPr>
            <a:r>
              <a:rPr lang="en-US" sz="1400" dirty="0">
                <a:solidFill>
                  <a:schemeClr val="tx1"/>
                </a:solidFill>
              </a:rPr>
              <a:t>Encoders on each joint feed the actual angle back to the controller.</a:t>
            </a:r>
            <a:endParaRPr lang="en-US" sz="14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Project Objectives (contd.)</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Firmware control algorithm</a:t>
            </a:r>
            <a:endParaRPr lang="en-US" sz="1600" dirty="0"/>
          </a:p>
        </p:txBody>
      </p:sp>
      <p:sp>
        <p:nvSpPr>
          <p:cNvPr id="5" name="Flowchart Panel"/>
          <p:cNvSpPr/>
          <p:nvPr/>
        </p:nvSpPr>
        <p:spPr>
          <a:xfrm>
            <a:off x="548640" y="1463040"/>
            <a:ext cx="3657600" cy="4846320"/>
          </a:xfrm>
          <a:prstGeom prst="roundRect">
            <a:avLst>
              <a:gd name="adj" fmla="val 2500"/>
            </a:avLst>
          </a:prstGeom>
          <a:solidFill>
            <a:schemeClr val="bg2"/>
          </a:solidFill>
          <a:ln w="9525">
            <a:solidFill>
              <a:schemeClr val="accent6">
                <a:alpha val="45000"/>
              </a:schemeClr>
            </a:solidFill>
            <a:prstDash val="solid"/>
          </a:ln>
        </p:spPr>
      </p:sp>
      <p:pic>
        <p:nvPicPr>
          <p:cNvPr id="6" name="Image 0" descr="Flowchart of the control algorithm from start to stop with encoder feedback loop"/>
          <p:cNvPicPr>
            <a:picLocks noChangeAspect="1"/>
          </p:cNvPicPr>
          <p:nvPr/>
        </p:nvPicPr>
        <p:blipFill>
          <a:blip r:embed="rId3"/>
          <a:stretch>
            <a:fillRect/>
          </a:stretch>
        </p:blipFill>
        <p:spPr>
          <a:xfrm>
            <a:off x="1005579" y="1600200"/>
            <a:ext cx="2743722" cy="4572000"/>
          </a:xfrm>
          <a:prstGeom prst="rect">
            <a:avLst/>
          </a:prstGeom>
        </p:spPr>
      </p:pic>
      <p:sp>
        <p:nvSpPr>
          <p:cNvPr id="7" name="Algorithm Step Card 1"/>
          <p:cNvSpPr/>
          <p:nvPr/>
        </p:nvSpPr>
        <p:spPr>
          <a:xfrm>
            <a:off x="4572000" y="1508760"/>
            <a:ext cx="7068312" cy="841248"/>
          </a:xfrm>
          <a:prstGeom prst="roundRect">
            <a:avLst>
              <a:gd name="adj" fmla="val 10870"/>
            </a:avLst>
          </a:prstGeom>
          <a:solidFill>
            <a:schemeClr val="bg2"/>
          </a:solidFill>
          <a:ln w="9525">
            <a:solidFill>
              <a:schemeClr val="accent6">
                <a:alpha val="45000"/>
              </a:schemeClr>
            </a:solidFill>
            <a:prstDash val="solid"/>
          </a:ln>
        </p:spPr>
      </p:sp>
      <p:sp>
        <p:nvSpPr>
          <p:cNvPr id="8" name="NumBadge 1"/>
          <p:cNvSpPr/>
          <p:nvPr/>
        </p:nvSpPr>
        <p:spPr>
          <a:xfrm>
            <a:off x="4736592" y="1664208"/>
            <a:ext cx="530352" cy="530352"/>
          </a:xfrm>
          <a:prstGeom prst="ellipse">
            <a:avLst/>
          </a:prstGeom>
          <a:solidFill>
            <a:schemeClr val="accent1"/>
          </a:solidFill>
          <a:ln w="12700">
            <a:solidFill>
              <a:schemeClr val="accent1"/>
            </a:solidFill>
            <a:prstDash val="solid"/>
          </a:ln>
        </p:spPr>
      </p:sp>
      <p:sp>
        <p:nvSpPr>
          <p:cNvPr id="9" name="NumLabel 1"/>
          <p:cNvSpPr txBox="1"/>
          <p:nvPr/>
        </p:nvSpPr>
        <p:spPr>
          <a:xfrm>
            <a:off x="4736592" y="1664208"/>
            <a:ext cx="530352" cy="530352"/>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1</a:t>
            </a:r>
            <a:endParaRPr lang="en-US" sz="1700" dirty="0"/>
          </a:p>
        </p:txBody>
      </p:sp>
      <p:sp>
        <p:nvSpPr>
          <p:cNvPr id="10" name="Algorithm Step Text 1"/>
          <p:cNvSpPr txBox="1"/>
          <p:nvPr/>
        </p:nvSpPr>
        <p:spPr>
          <a:xfrm>
            <a:off x="5486400" y="1581912"/>
            <a:ext cx="5989320" cy="694944"/>
          </a:xfrm>
          <a:prstGeom prst="rect">
            <a:avLst/>
          </a:prstGeom>
          <a:noFill/>
          <a:ln/>
        </p:spPr>
        <p:txBody>
          <a:bodyPr wrap="square" lIns="0" tIns="0" rIns="0" bIns="0" rtlCol="0" anchor="ctr"/>
          <a:lstStyle/>
          <a:p>
            <a:pPr marL="0" indent="0">
              <a:buNone/>
            </a:pPr>
            <a:r>
              <a:rPr lang="en-US" sz="1600" dirty="0">
                <a:solidFill>
                  <a:schemeClr val="tx1"/>
                </a:solidFill>
              </a:rPr>
              <a:t>Load the target trajectory as an ordered list of (x, y) points.</a:t>
            </a:r>
            <a:endParaRPr lang="en-US" sz="1600" dirty="0"/>
          </a:p>
        </p:txBody>
      </p:sp>
      <p:sp>
        <p:nvSpPr>
          <p:cNvPr id="11" name="Algorithm Step Card 2"/>
          <p:cNvSpPr/>
          <p:nvPr/>
        </p:nvSpPr>
        <p:spPr>
          <a:xfrm>
            <a:off x="4572000" y="2459736"/>
            <a:ext cx="7068312" cy="841248"/>
          </a:xfrm>
          <a:prstGeom prst="roundRect">
            <a:avLst>
              <a:gd name="adj" fmla="val 10870"/>
            </a:avLst>
          </a:prstGeom>
          <a:solidFill>
            <a:schemeClr val="bg2"/>
          </a:solidFill>
          <a:ln w="9525">
            <a:solidFill>
              <a:schemeClr val="accent6">
                <a:alpha val="45000"/>
              </a:schemeClr>
            </a:solidFill>
            <a:prstDash val="solid"/>
          </a:ln>
        </p:spPr>
      </p:sp>
      <p:sp>
        <p:nvSpPr>
          <p:cNvPr id="12" name="NumBadge 2"/>
          <p:cNvSpPr/>
          <p:nvPr/>
        </p:nvSpPr>
        <p:spPr>
          <a:xfrm>
            <a:off x="4736592" y="2615184"/>
            <a:ext cx="530352" cy="530352"/>
          </a:xfrm>
          <a:prstGeom prst="ellipse">
            <a:avLst/>
          </a:prstGeom>
          <a:solidFill>
            <a:schemeClr val="accent1"/>
          </a:solidFill>
          <a:ln w="12700">
            <a:solidFill>
              <a:schemeClr val="accent1"/>
            </a:solidFill>
            <a:prstDash val="solid"/>
          </a:ln>
        </p:spPr>
      </p:sp>
      <p:sp>
        <p:nvSpPr>
          <p:cNvPr id="13" name="NumLabel 2"/>
          <p:cNvSpPr txBox="1"/>
          <p:nvPr/>
        </p:nvSpPr>
        <p:spPr>
          <a:xfrm>
            <a:off x="4736592" y="2615184"/>
            <a:ext cx="530352" cy="530352"/>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2</a:t>
            </a:r>
            <a:endParaRPr lang="en-US" sz="1700" dirty="0"/>
          </a:p>
        </p:txBody>
      </p:sp>
      <p:sp>
        <p:nvSpPr>
          <p:cNvPr id="14" name="Algorithm Step Text 2"/>
          <p:cNvSpPr txBox="1"/>
          <p:nvPr/>
        </p:nvSpPr>
        <p:spPr>
          <a:xfrm>
            <a:off x="5486400" y="2532888"/>
            <a:ext cx="5989320" cy="694944"/>
          </a:xfrm>
          <a:prstGeom prst="rect">
            <a:avLst/>
          </a:prstGeom>
          <a:noFill/>
          <a:ln/>
        </p:spPr>
        <p:txBody>
          <a:bodyPr wrap="square" lIns="0" tIns="0" rIns="0" bIns="0" rtlCol="0" anchor="ctr"/>
          <a:lstStyle/>
          <a:p>
            <a:pPr marL="0" indent="0">
              <a:buNone/>
            </a:pPr>
            <a:r>
              <a:rPr lang="en-US" sz="1600" dirty="0">
                <a:solidFill>
                  <a:schemeClr val="tx1"/>
                </a:solidFill>
              </a:rPr>
              <a:t>Inverse kinematics converts each point into a joint-angle pair.</a:t>
            </a:r>
            <a:endParaRPr lang="en-US" sz="1600" dirty="0"/>
          </a:p>
        </p:txBody>
      </p:sp>
      <p:sp>
        <p:nvSpPr>
          <p:cNvPr id="15" name="Algorithm Step Card 3"/>
          <p:cNvSpPr/>
          <p:nvPr/>
        </p:nvSpPr>
        <p:spPr>
          <a:xfrm>
            <a:off x="4572000" y="3410712"/>
            <a:ext cx="7068312" cy="841248"/>
          </a:xfrm>
          <a:prstGeom prst="roundRect">
            <a:avLst>
              <a:gd name="adj" fmla="val 10870"/>
            </a:avLst>
          </a:prstGeom>
          <a:solidFill>
            <a:schemeClr val="bg2"/>
          </a:solidFill>
          <a:ln w="9525">
            <a:solidFill>
              <a:schemeClr val="accent6">
                <a:alpha val="45000"/>
              </a:schemeClr>
            </a:solidFill>
            <a:prstDash val="solid"/>
          </a:ln>
        </p:spPr>
      </p:sp>
      <p:sp>
        <p:nvSpPr>
          <p:cNvPr id="16" name="NumBadge 3"/>
          <p:cNvSpPr/>
          <p:nvPr/>
        </p:nvSpPr>
        <p:spPr>
          <a:xfrm>
            <a:off x="4736592" y="3566160"/>
            <a:ext cx="530352" cy="530352"/>
          </a:xfrm>
          <a:prstGeom prst="ellipse">
            <a:avLst/>
          </a:prstGeom>
          <a:solidFill>
            <a:schemeClr val="accent1"/>
          </a:solidFill>
          <a:ln w="12700">
            <a:solidFill>
              <a:schemeClr val="accent1"/>
            </a:solidFill>
            <a:prstDash val="solid"/>
          </a:ln>
        </p:spPr>
      </p:sp>
      <p:sp>
        <p:nvSpPr>
          <p:cNvPr id="17" name="NumLabel 3"/>
          <p:cNvSpPr txBox="1"/>
          <p:nvPr/>
        </p:nvSpPr>
        <p:spPr>
          <a:xfrm>
            <a:off x="4736592" y="3566160"/>
            <a:ext cx="530352" cy="530352"/>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3</a:t>
            </a:r>
            <a:endParaRPr lang="en-US" sz="1700" dirty="0"/>
          </a:p>
        </p:txBody>
      </p:sp>
      <p:sp>
        <p:nvSpPr>
          <p:cNvPr id="18" name="Algorithm Step Text 3"/>
          <p:cNvSpPr txBox="1"/>
          <p:nvPr/>
        </p:nvSpPr>
        <p:spPr>
          <a:xfrm>
            <a:off x="5486400" y="3483864"/>
            <a:ext cx="5989320" cy="694944"/>
          </a:xfrm>
          <a:prstGeom prst="rect">
            <a:avLst/>
          </a:prstGeom>
          <a:noFill/>
          <a:ln/>
        </p:spPr>
        <p:txBody>
          <a:bodyPr wrap="square" lIns="0" tIns="0" rIns="0" bIns="0" rtlCol="0" anchor="ctr"/>
          <a:lstStyle/>
          <a:p>
            <a:pPr marL="0" indent="0">
              <a:buNone/>
            </a:pPr>
            <a:r>
              <a:rPr lang="en-US" sz="1600" dirty="0">
                <a:solidFill>
                  <a:schemeClr val="tx1"/>
                </a:solidFill>
              </a:rPr>
              <a:t>Angles are translated into step counts and rotation direction for each driver.</a:t>
            </a:r>
            <a:endParaRPr lang="en-US" sz="1600" dirty="0"/>
          </a:p>
        </p:txBody>
      </p:sp>
      <p:sp>
        <p:nvSpPr>
          <p:cNvPr id="19" name="Algorithm Step Card 4"/>
          <p:cNvSpPr/>
          <p:nvPr/>
        </p:nvSpPr>
        <p:spPr>
          <a:xfrm>
            <a:off x="4572000" y="4361688"/>
            <a:ext cx="7068312" cy="841248"/>
          </a:xfrm>
          <a:prstGeom prst="roundRect">
            <a:avLst>
              <a:gd name="adj" fmla="val 10870"/>
            </a:avLst>
          </a:prstGeom>
          <a:solidFill>
            <a:schemeClr val="bg2"/>
          </a:solidFill>
          <a:ln w="9525">
            <a:solidFill>
              <a:schemeClr val="accent6">
                <a:alpha val="45000"/>
              </a:schemeClr>
            </a:solidFill>
            <a:prstDash val="solid"/>
          </a:ln>
        </p:spPr>
      </p:sp>
      <p:sp>
        <p:nvSpPr>
          <p:cNvPr id="20" name="NumBadge 4"/>
          <p:cNvSpPr/>
          <p:nvPr/>
        </p:nvSpPr>
        <p:spPr>
          <a:xfrm>
            <a:off x="4736592" y="4517136"/>
            <a:ext cx="530352" cy="530352"/>
          </a:xfrm>
          <a:prstGeom prst="ellipse">
            <a:avLst/>
          </a:prstGeom>
          <a:solidFill>
            <a:schemeClr val="accent3"/>
          </a:solidFill>
          <a:ln w="12700">
            <a:solidFill>
              <a:schemeClr val="accent3"/>
            </a:solidFill>
            <a:prstDash val="solid"/>
          </a:ln>
        </p:spPr>
      </p:sp>
      <p:sp>
        <p:nvSpPr>
          <p:cNvPr id="21" name="NumLabel 4"/>
          <p:cNvSpPr txBox="1"/>
          <p:nvPr/>
        </p:nvSpPr>
        <p:spPr>
          <a:xfrm>
            <a:off x="4736592" y="4517136"/>
            <a:ext cx="530352" cy="530352"/>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4</a:t>
            </a:r>
            <a:endParaRPr lang="en-US" sz="1700" dirty="0"/>
          </a:p>
        </p:txBody>
      </p:sp>
      <p:sp>
        <p:nvSpPr>
          <p:cNvPr id="22" name="Algorithm Step Text 4"/>
          <p:cNvSpPr txBox="1"/>
          <p:nvPr/>
        </p:nvSpPr>
        <p:spPr>
          <a:xfrm>
            <a:off x="5486400" y="4434840"/>
            <a:ext cx="5989320" cy="694944"/>
          </a:xfrm>
          <a:prstGeom prst="rect">
            <a:avLst/>
          </a:prstGeom>
          <a:noFill/>
          <a:ln/>
        </p:spPr>
        <p:txBody>
          <a:bodyPr wrap="square" lIns="0" tIns="0" rIns="0" bIns="0" rtlCol="0" anchor="ctr"/>
          <a:lstStyle/>
          <a:p>
            <a:pPr marL="0" indent="0">
              <a:buNone/>
            </a:pPr>
            <a:r>
              <a:rPr lang="en-US" sz="1600" dirty="0">
                <a:solidFill>
                  <a:schemeClr val="tx1"/>
                </a:solidFill>
              </a:rPr>
              <a:t>After each move, encoders confirm the joints reached the commanded angles.</a:t>
            </a:r>
            <a:endParaRPr lang="en-US" sz="1600" dirty="0"/>
          </a:p>
        </p:txBody>
      </p:sp>
      <p:sp>
        <p:nvSpPr>
          <p:cNvPr id="23" name="Algorithm Step Card 5"/>
          <p:cNvSpPr/>
          <p:nvPr/>
        </p:nvSpPr>
        <p:spPr>
          <a:xfrm>
            <a:off x="4572000" y="5312664"/>
            <a:ext cx="7068312" cy="841248"/>
          </a:xfrm>
          <a:prstGeom prst="roundRect">
            <a:avLst>
              <a:gd name="adj" fmla="val 10870"/>
            </a:avLst>
          </a:prstGeom>
          <a:solidFill>
            <a:schemeClr val="bg2"/>
          </a:solidFill>
          <a:ln w="9525">
            <a:solidFill>
              <a:schemeClr val="accent6">
                <a:alpha val="45000"/>
              </a:schemeClr>
            </a:solidFill>
            <a:prstDash val="solid"/>
          </a:ln>
        </p:spPr>
      </p:sp>
      <p:sp>
        <p:nvSpPr>
          <p:cNvPr id="24" name="NumBadge 5"/>
          <p:cNvSpPr/>
          <p:nvPr/>
        </p:nvSpPr>
        <p:spPr>
          <a:xfrm>
            <a:off x="4736592" y="5468112"/>
            <a:ext cx="530352" cy="530352"/>
          </a:xfrm>
          <a:prstGeom prst="ellipse">
            <a:avLst/>
          </a:prstGeom>
          <a:solidFill>
            <a:schemeClr val="accent3"/>
          </a:solidFill>
          <a:ln w="12700">
            <a:solidFill>
              <a:schemeClr val="accent3"/>
            </a:solidFill>
            <a:prstDash val="solid"/>
          </a:ln>
        </p:spPr>
      </p:sp>
      <p:sp>
        <p:nvSpPr>
          <p:cNvPr id="25" name="NumLabel 5"/>
          <p:cNvSpPr txBox="1"/>
          <p:nvPr/>
        </p:nvSpPr>
        <p:spPr>
          <a:xfrm>
            <a:off x="4736592" y="5468112"/>
            <a:ext cx="530352" cy="530352"/>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5</a:t>
            </a:r>
            <a:endParaRPr lang="en-US" sz="1700" dirty="0"/>
          </a:p>
        </p:txBody>
      </p:sp>
      <p:sp>
        <p:nvSpPr>
          <p:cNvPr id="26" name="Algorithm Step Text 5"/>
          <p:cNvSpPr txBox="1"/>
          <p:nvPr/>
        </p:nvSpPr>
        <p:spPr>
          <a:xfrm>
            <a:off x="5486400" y="5385816"/>
            <a:ext cx="5989320" cy="694944"/>
          </a:xfrm>
          <a:prstGeom prst="rect">
            <a:avLst/>
          </a:prstGeom>
          <a:noFill/>
          <a:ln/>
        </p:spPr>
        <p:txBody>
          <a:bodyPr wrap="square" lIns="0" tIns="0" rIns="0" bIns="0" rtlCol="0" anchor="ctr"/>
          <a:lstStyle/>
          <a:p>
            <a:pPr marL="0" indent="0">
              <a:buNone/>
            </a:pPr>
            <a:r>
              <a:rPr lang="en-US" sz="1600" dirty="0">
                <a:solidFill>
                  <a:schemeClr val="tx1"/>
                </a:solidFill>
              </a:rPr>
              <a:t>Any discrepancy is corrected before advancing to the next waypoint.</a:t>
            </a:r>
            <a:endParaRPr lang="en-US" sz="1600" dirty="0"/>
          </a:p>
        </p:txBody>
      </p:sp>
      <p:sp>
        <p:nvSpPr>
          <p:cNvPr id="4"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Project Objectives (contd.)</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Hardware: bill of materials</a:t>
            </a:r>
            <a:endParaRPr lang="en-US" sz="1600" dirty="0"/>
          </a:p>
        </p:txBody>
      </p:sp>
      <p:graphicFrame>
        <p:nvGraphicFramePr>
          <p:cNvPr id="15" name="BOM Table"/>
          <p:cNvGraphicFramePr>
            <a:graphicFrameLocks noGrp="1"/>
          </p:cNvGraphicFramePr>
          <p:nvPr>
            <p:extLst>
              <p:ext uri="{D42A27DB-BD31-4B8C-83A1-F6EECF244321}">
                <p14:modId xmlns:p14="http://schemas.microsoft.com/office/powerpoint/2010/main" val="1579011935"/>
              </p:ext>
            </p:extLst>
          </p:nvPr>
        </p:nvGraphicFramePr>
        <p:xfrm>
          <a:off x="548640" y="1508760"/>
          <a:ext cx="795528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rgbClr val="FFFFFF"/>
                          </a:solidFill>
                        </a:rPr>
                        <a:t>Component</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1F2A5E"/>
                    </a:solidFill>
                  </a:tcPr>
                </a:tc>
                <a:tc>
                  <a:txBody>
                    <a:bodyPr/>
                    <a:lstStyle/>
                    <a:p>
                      <a:pPr marL="0" indent="0" algn="ctr">
                        <a:buNone/>
                      </a:pPr>
                      <a:r>
                        <a:rPr lang="en-US" sz="1400" b="1" dirty="0">
                          <a:solidFill>
                            <a:srgbClr val="FFFFFF"/>
                          </a:solidFill>
                        </a:rPr>
                        <a:t>Qty</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1F2A5E"/>
                    </a:solidFill>
                  </a:tcPr>
                </a:tc>
                <a:tc>
                  <a:txBody>
                    <a:bodyPr/>
                    <a:lstStyle/>
                    <a:p>
                      <a:pPr marL="0" indent="0" algn="l">
                        <a:buNone/>
                      </a:pPr>
                      <a:r>
                        <a:rPr lang="en-US" sz="1400" b="1" dirty="0">
                          <a:solidFill>
                            <a:srgbClr val="FFFFFF"/>
                          </a:solidFill>
                        </a:rPr>
                        <a:t>Role in the system</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1F2A5E"/>
                    </a:solidFill>
                  </a:tcPr>
                </a:tc>
                <a:extLst>
                  <a:ext uri="{0D108BD9-81ED-4DB2-BD59-A6C34878D82A}">
                    <a16:rowId xmlns:a16="http://schemas.microsoft.com/office/drawing/2014/main" val="10000"/>
                  </a:ext>
                </a:extLst>
              </a:tr>
              <a:tr h="612648">
                <a:tc>
                  <a:txBody>
                    <a:bodyPr/>
                    <a:lstStyle/>
                    <a:p>
                      <a:pPr marL="0" indent="0">
                        <a:buNone/>
                      </a:pPr>
                      <a:r>
                        <a:rPr lang="en-US" sz="1400" b="1" dirty="0">
                          <a:solidFill>
                            <a:srgbClr val="1F2A5E"/>
                          </a:solidFill>
                        </a:rPr>
                        <a:t>Microcontroller (Arduino / ESP32)</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1F"/>
                          </a:solidFill>
                        </a:rPr>
                        <a:t>1</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400" dirty="0">
                          <a:solidFill>
                            <a:srgbClr val="1B1B1F"/>
                          </a:solidFill>
                        </a:rPr>
                        <a:t>Runs trajectory logic, inverse kinematics &amp; motor commands</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2648">
                <a:tc>
                  <a:txBody>
                    <a:bodyPr/>
                    <a:lstStyle/>
                    <a:p>
                      <a:pPr marL="0" indent="0">
                        <a:buNone/>
                      </a:pPr>
                      <a:r>
                        <a:rPr lang="en-US" sz="1400" b="1" dirty="0">
                          <a:solidFill>
                            <a:srgbClr val="1F2A5E"/>
                          </a:solidFill>
                        </a:rPr>
                        <a:t>Stepper motors (NEMA-17 or similar)</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AF0F6"/>
                    </a:solidFill>
                  </a:tcPr>
                </a:tc>
                <a:tc>
                  <a:txBody>
                    <a:bodyPr/>
                    <a:lstStyle/>
                    <a:p>
                      <a:pPr marL="0" indent="0" algn="ctr">
                        <a:buNone/>
                      </a:pPr>
                      <a:r>
                        <a:rPr lang="en-US" sz="1400" dirty="0">
                          <a:solidFill>
                            <a:srgbClr val="1B1B1F"/>
                          </a:solidFill>
                        </a:rPr>
                        <a:t>2</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AF0F6"/>
                    </a:solidFill>
                  </a:tcPr>
                </a:tc>
                <a:tc>
                  <a:txBody>
                    <a:bodyPr/>
                    <a:lstStyle/>
                    <a:p>
                      <a:pPr marL="0" indent="0">
                        <a:buNone/>
                      </a:pPr>
                      <a:r>
                        <a:rPr lang="en-US" sz="1400" dirty="0">
                          <a:solidFill>
                            <a:srgbClr val="1B1B1F"/>
                          </a:solidFill>
                        </a:rPr>
                        <a:t>Actuate joint A and joint B</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AF0F6"/>
                    </a:solidFill>
                  </a:tcPr>
                </a:tc>
                <a:extLst>
                  <a:ext uri="{0D108BD9-81ED-4DB2-BD59-A6C34878D82A}">
                    <a16:rowId xmlns:a16="http://schemas.microsoft.com/office/drawing/2014/main" val="10002"/>
                  </a:ext>
                </a:extLst>
              </a:tr>
              <a:tr h="612648">
                <a:tc>
                  <a:txBody>
                    <a:bodyPr/>
                    <a:lstStyle/>
                    <a:p>
                      <a:pPr marL="0" indent="0">
                        <a:buNone/>
                      </a:pPr>
                      <a:r>
                        <a:rPr lang="en-US" sz="1400" b="1" dirty="0">
                          <a:solidFill>
                            <a:srgbClr val="1F2A5E"/>
                          </a:solidFill>
                        </a:rPr>
                        <a:t>Stepper drivers (A4988 / DRV8825)</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1F"/>
                          </a:solidFill>
                        </a:rPr>
                        <a:t>2</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400" dirty="0">
                          <a:solidFill>
                            <a:srgbClr val="1B1B1F"/>
                          </a:solidFill>
                        </a:rPr>
                        <a:t>Convert step/direction signals into motor phase currents</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2648">
                <a:tc>
                  <a:txBody>
                    <a:bodyPr/>
                    <a:lstStyle/>
                    <a:p>
                      <a:pPr marL="0" indent="0">
                        <a:buNone/>
                      </a:pPr>
                      <a:r>
                        <a:rPr lang="en-US" sz="1400" b="1" dirty="0">
                          <a:solidFill>
                            <a:srgbClr val="1F2A5E"/>
                          </a:solidFill>
                        </a:rPr>
                        <a:t>Rotary encoders</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AF0F6"/>
                    </a:solidFill>
                  </a:tcPr>
                </a:tc>
                <a:tc>
                  <a:txBody>
                    <a:bodyPr/>
                    <a:lstStyle/>
                    <a:p>
                      <a:pPr marL="0" indent="0" algn="ctr">
                        <a:buNone/>
                      </a:pPr>
                      <a:r>
                        <a:rPr lang="en-US" sz="1400" dirty="0">
                          <a:solidFill>
                            <a:srgbClr val="1B1B1F"/>
                          </a:solidFill>
                        </a:rPr>
                        <a:t>2</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AF0F6"/>
                    </a:solidFill>
                  </a:tcPr>
                </a:tc>
                <a:tc>
                  <a:txBody>
                    <a:bodyPr/>
                    <a:lstStyle/>
                    <a:p>
                      <a:pPr marL="0" indent="0">
                        <a:buNone/>
                      </a:pPr>
                      <a:r>
                        <a:rPr lang="en-US" sz="1400" dirty="0">
                          <a:solidFill>
                            <a:srgbClr val="1B1B1F"/>
                          </a:solidFill>
                        </a:rPr>
                        <a:t>Measure actual joint angles for closed-loop feedback</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AF0F6"/>
                    </a:solidFill>
                  </a:tcPr>
                </a:tc>
                <a:extLst>
                  <a:ext uri="{0D108BD9-81ED-4DB2-BD59-A6C34878D82A}">
                    <a16:rowId xmlns:a16="http://schemas.microsoft.com/office/drawing/2014/main" val="10004"/>
                  </a:ext>
                </a:extLst>
              </a:tr>
              <a:tr h="612648">
                <a:tc>
                  <a:txBody>
                    <a:bodyPr/>
                    <a:lstStyle/>
                    <a:p>
                      <a:pPr marL="0" indent="0">
                        <a:buNone/>
                      </a:pPr>
                      <a:r>
                        <a:rPr lang="en-US" sz="1400" b="1" dirty="0">
                          <a:solidFill>
                            <a:srgbClr val="1F2A5E"/>
                          </a:solidFill>
                        </a:rPr>
                        <a:t>Link members (AB, BC)</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1F"/>
                          </a:solidFill>
                        </a:rPr>
                        <a:t>2</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400" dirty="0">
                          <a:solidFill>
                            <a:srgbClr val="1B1B1F"/>
                          </a:solidFill>
                        </a:rPr>
                        <a:t>Rigid arm segments, aluminium or 3D-printed</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12648">
                <a:tc>
                  <a:txBody>
                    <a:bodyPr/>
                    <a:lstStyle/>
                    <a:p>
                      <a:pPr marL="0" indent="0">
                        <a:buNone/>
                      </a:pPr>
                      <a:r>
                        <a:rPr lang="en-US" sz="1400" b="1" dirty="0">
                          <a:solidFill>
                            <a:srgbClr val="1F2A5E"/>
                          </a:solidFill>
                        </a:rPr>
                        <a:t>Base frame &amp; bearings</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AF0F6"/>
                    </a:solidFill>
                  </a:tcPr>
                </a:tc>
                <a:tc>
                  <a:txBody>
                    <a:bodyPr/>
                    <a:lstStyle/>
                    <a:p>
                      <a:pPr marL="0" indent="0" algn="ctr">
                        <a:buNone/>
                      </a:pPr>
                      <a:r>
                        <a:rPr lang="en-US" sz="1400" dirty="0">
                          <a:solidFill>
                            <a:srgbClr val="1B1B1F"/>
                          </a:solidFill>
                        </a:rPr>
                        <a:t>1 set</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AF0F6"/>
                    </a:solidFill>
                  </a:tcPr>
                </a:tc>
                <a:tc>
                  <a:txBody>
                    <a:bodyPr/>
                    <a:lstStyle/>
                    <a:p>
                      <a:pPr marL="0" indent="0">
                        <a:buNone/>
                      </a:pPr>
                      <a:r>
                        <a:rPr lang="en-US" sz="1400" dirty="0">
                          <a:solidFill>
                            <a:srgbClr val="1B1B1F"/>
                          </a:solidFill>
                        </a:rPr>
                        <a:t>Mounts joint A, supports structural loads</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AF0F6"/>
                    </a:solidFill>
                  </a:tcPr>
                </a:tc>
                <a:extLst>
                  <a:ext uri="{0D108BD9-81ED-4DB2-BD59-A6C34878D82A}">
                    <a16:rowId xmlns:a16="http://schemas.microsoft.com/office/drawing/2014/main" val="10006"/>
                  </a:ext>
                </a:extLst>
              </a:tr>
              <a:tr h="612648">
                <a:tc>
                  <a:txBody>
                    <a:bodyPr/>
                    <a:lstStyle/>
                    <a:p>
                      <a:pPr marL="0" indent="0">
                        <a:buNone/>
                      </a:pPr>
                      <a:r>
                        <a:rPr lang="en-US" sz="1400" b="1" dirty="0">
                          <a:solidFill>
                            <a:srgbClr val="1F2A5E"/>
                          </a:solidFill>
                        </a:rPr>
                        <a:t>Power supply unit</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1B1F"/>
                          </a:solidFill>
                        </a:rPr>
                        <a:t>1</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400" dirty="0">
                          <a:solidFill>
                            <a:srgbClr val="1B1B1F"/>
                          </a:solidFill>
                        </a:rPr>
                        <a:t>Delivers regulated power to motors &amp; controller</a:t>
                      </a:r>
                      <a:endParaRPr lang="en-US" sz="1400" dirty="0"/>
                    </a:p>
                  </a:txBody>
                  <a:tcPr marT="36576" marB="36576"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BOM Tile 1"/>
          <p:cNvSpPr/>
          <p:nvPr/>
        </p:nvSpPr>
        <p:spPr>
          <a:xfrm>
            <a:off x="8778240" y="1508760"/>
            <a:ext cx="2862072" cy="1417320"/>
          </a:xfrm>
          <a:prstGeom prst="roundRect">
            <a:avLst>
              <a:gd name="adj" fmla="val 6452"/>
            </a:avLst>
          </a:prstGeom>
          <a:solidFill>
            <a:schemeClr val="accent1"/>
          </a:solidFill>
          <a:ln w="12700">
            <a:solidFill>
              <a:schemeClr val="accent1"/>
            </a:solidFill>
            <a:prstDash val="solid"/>
          </a:ln>
        </p:spPr>
      </p:sp>
      <p:sp>
        <p:nvSpPr>
          <p:cNvPr id="7" name="BOM Tile Value 1"/>
          <p:cNvSpPr txBox="1"/>
          <p:nvPr/>
        </p:nvSpPr>
        <p:spPr>
          <a:xfrm>
            <a:off x="8778240" y="1618488"/>
            <a:ext cx="2862072" cy="685800"/>
          </a:xfrm>
          <a:prstGeom prst="rect">
            <a:avLst/>
          </a:prstGeom>
          <a:noFill/>
          <a:ln/>
        </p:spPr>
        <p:txBody>
          <a:bodyPr wrap="square" lIns="0" tIns="0" rIns="0" bIns="0" rtlCol="0" anchor="ctr"/>
          <a:lstStyle/>
          <a:p>
            <a:pPr marL="0" indent="0" algn="ctr">
              <a:buNone/>
            </a:pPr>
            <a:r>
              <a:rPr lang="en-US" sz="4400" b="1" dirty="0">
                <a:solidFill>
                  <a:schemeClr val="bg1"/>
                </a:solidFill>
                <a:latin typeface="+mj-lt" pitchFamily="34" charset="0"/>
                <a:ea typeface="+mj-lt" pitchFamily="34" charset="-122"/>
                <a:cs typeface="+mj-lt" pitchFamily="34" charset="-120"/>
              </a:rPr>
              <a:t>2</a:t>
            </a:r>
            <a:endParaRPr lang="en-US" sz="4400" dirty="0"/>
          </a:p>
        </p:txBody>
      </p:sp>
      <p:sp>
        <p:nvSpPr>
          <p:cNvPr id="8" name="BOM Tile Label 1"/>
          <p:cNvSpPr txBox="1"/>
          <p:nvPr/>
        </p:nvSpPr>
        <p:spPr>
          <a:xfrm>
            <a:off x="8778240" y="2350008"/>
            <a:ext cx="2862072" cy="365760"/>
          </a:xfrm>
          <a:prstGeom prst="rect">
            <a:avLst/>
          </a:prstGeom>
          <a:noFill/>
          <a:ln/>
        </p:spPr>
        <p:txBody>
          <a:bodyPr wrap="square" lIns="0" tIns="0" rIns="0" bIns="0" rtlCol="0" anchor="t"/>
          <a:lstStyle/>
          <a:p>
            <a:pPr marL="0" indent="0" algn="ctr">
              <a:buNone/>
            </a:pPr>
            <a:r>
              <a:rPr lang="en-US" sz="1600" dirty="0">
                <a:solidFill>
                  <a:schemeClr val="bg1"/>
                </a:solidFill>
              </a:rPr>
              <a:t>Stepper motors</a:t>
            </a:r>
            <a:endParaRPr lang="en-US" sz="1600" dirty="0"/>
          </a:p>
        </p:txBody>
      </p:sp>
      <p:sp>
        <p:nvSpPr>
          <p:cNvPr id="9" name="BOM Tile 2"/>
          <p:cNvSpPr/>
          <p:nvPr/>
        </p:nvSpPr>
        <p:spPr>
          <a:xfrm>
            <a:off x="8778240" y="3063240"/>
            <a:ext cx="2862072" cy="1417320"/>
          </a:xfrm>
          <a:prstGeom prst="roundRect">
            <a:avLst>
              <a:gd name="adj" fmla="val 6452"/>
            </a:avLst>
          </a:prstGeom>
          <a:solidFill>
            <a:schemeClr val="accent2"/>
          </a:solidFill>
          <a:ln w="12700">
            <a:solidFill>
              <a:schemeClr val="accent2"/>
            </a:solidFill>
            <a:prstDash val="solid"/>
          </a:ln>
        </p:spPr>
      </p:sp>
      <p:sp>
        <p:nvSpPr>
          <p:cNvPr id="10" name="BOM Tile Value 2"/>
          <p:cNvSpPr txBox="1"/>
          <p:nvPr/>
        </p:nvSpPr>
        <p:spPr>
          <a:xfrm>
            <a:off x="8778240" y="3172968"/>
            <a:ext cx="2862072" cy="685800"/>
          </a:xfrm>
          <a:prstGeom prst="rect">
            <a:avLst/>
          </a:prstGeom>
          <a:noFill/>
          <a:ln/>
        </p:spPr>
        <p:txBody>
          <a:bodyPr wrap="square" lIns="0" tIns="0" rIns="0" bIns="0" rtlCol="0" anchor="ctr"/>
          <a:lstStyle/>
          <a:p>
            <a:pPr marL="0" indent="0" algn="ctr">
              <a:buNone/>
            </a:pPr>
            <a:r>
              <a:rPr lang="en-US" sz="4400" b="1" dirty="0">
                <a:solidFill>
                  <a:schemeClr val="bg1"/>
                </a:solidFill>
                <a:latin typeface="+mj-lt" pitchFamily="34" charset="0"/>
                <a:ea typeface="+mj-lt" pitchFamily="34" charset="-122"/>
                <a:cs typeface="+mj-lt" pitchFamily="34" charset="-120"/>
              </a:rPr>
              <a:t>2</a:t>
            </a:r>
            <a:endParaRPr lang="en-US" sz="4400" dirty="0"/>
          </a:p>
        </p:txBody>
      </p:sp>
      <p:sp>
        <p:nvSpPr>
          <p:cNvPr id="11" name="BOM Tile Label 2"/>
          <p:cNvSpPr txBox="1"/>
          <p:nvPr/>
        </p:nvSpPr>
        <p:spPr>
          <a:xfrm>
            <a:off x="8778240" y="3904488"/>
            <a:ext cx="2862072" cy="365760"/>
          </a:xfrm>
          <a:prstGeom prst="rect">
            <a:avLst/>
          </a:prstGeom>
          <a:noFill/>
          <a:ln/>
        </p:spPr>
        <p:txBody>
          <a:bodyPr wrap="square" lIns="0" tIns="0" rIns="0" bIns="0" rtlCol="0" anchor="t"/>
          <a:lstStyle/>
          <a:p>
            <a:pPr marL="0" indent="0" algn="ctr">
              <a:buNone/>
            </a:pPr>
            <a:r>
              <a:rPr lang="en-US" sz="1600" dirty="0">
                <a:solidFill>
                  <a:schemeClr val="bg1"/>
                </a:solidFill>
              </a:rPr>
              <a:t>Stepper drivers</a:t>
            </a:r>
            <a:endParaRPr lang="en-US" sz="1600" dirty="0"/>
          </a:p>
        </p:txBody>
      </p:sp>
      <p:sp>
        <p:nvSpPr>
          <p:cNvPr id="12" name="BOM Tile 3"/>
          <p:cNvSpPr/>
          <p:nvPr/>
        </p:nvSpPr>
        <p:spPr>
          <a:xfrm>
            <a:off x="8778240" y="4617720"/>
            <a:ext cx="2862072" cy="1417320"/>
          </a:xfrm>
          <a:prstGeom prst="roundRect">
            <a:avLst>
              <a:gd name="adj" fmla="val 6452"/>
            </a:avLst>
          </a:prstGeom>
          <a:solidFill>
            <a:schemeClr val="accent3"/>
          </a:solidFill>
          <a:ln w="12700">
            <a:solidFill>
              <a:schemeClr val="accent3"/>
            </a:solidFill>
            <a:prstDash val="solid"/>
          </a:ln>
        </p:spPr>
      </p:sp>
      <p:sp>
        <p:nvSpPr>
          <p:cNvPr id="13" name="BOM Tile Value 3"/>
          <p:cNvSpPr txBox="1"/>
          <p:nvPr/>
        </p:nvSpPr>
        <p:spPr>
          <a:xfrm>
            <a:off x="8778240" y="4727448"/>
            <a:ext cx="2862072" cy="685800"/>
          </a:xfrm>
          <a:prstGeom prst="rect">
            <a:avLst/>
          </a:prstGeom>
          <a:noFill/>
          <a:ln/>
        </p:spPr>
        <p:txBody>
          <a:bodyPr wrap="square" lIns="0" tIns="0" rIns="0" bIns="0" rtlCol="0" anchor="ctr"/>
          <a:lstStyle/>
          <a:p>
            <a:pPr marL="0" indent="0" algn="ctr">
              <a:buNone/>
            </a:pPr>
            <a:r>
              <a:rPr lang="en-US" sz="4400" b="1" dirty="0">
                <a:solidFill>
                  <a:schemeClr val="bg1"/>
                </a:solidFill>
                <a:latin typeface="+mj-lt" pitchFamily="34" charset="0"/>
                <a:ea typeface="+mj-lt" pitchFamily="34" charset="-122"/>
                <a:cs typeface="+mj-lt" pitchFamily="34" charset="-120"/>
              </a:rPr>
              <a:t>2</a:t>
            </a:r>
            <a:endParaRPr lang="en-US" sz="4400" dirty="0"/>
          </a:p>
        </p:txBody>
      </p:sp>
      <p:sp>
        <p:nvSpPr>
          <p:cNvPr id="14" name="BOM Tile Label 3"/>
          <p:cNvSpPr txBox="1"/>
          <p:nvPr/>
        </p:nvSpPr>
        <p:spPr>
          <a:xfrm>
            <a:off x="8778240" y="5458968"/>
            <a:ext cx="2862072" cy="365760"/>
          </a:xfrm>
          <a:prstGeom prst="rect">
            <a:avLst/>
          </a:prstGeom>
          <a:noFill/>
          <a:ln/>
        </p:spPr>
        <p:txBody>
          <a:bodyPr wrap="square" lIns="0" tIns="0" rIns="0" bIns="0" rtlCol="0" anchor="t"/>
          <a:lstStyle/>
          <a:p>
            <a:pPr marL="0" indent="0" algn="ctr">
              <a:buNone/>
            </a:pPr>
            <a:r>
              <a:rPr lang="en-US" sz="1600" dirty="0">
                <a:solidFill>
                  <a:schemeClr val="bg1"/>
                </a:solidFill>
              </a:rPr>
              <a:t>Rotary encoders</a:t>
            </a:r>
            <a:endParaRPr lang="en-US" sz="1600" dirty="0"/>
          </a:p>
        </p:txBody>
      </p:sp>
      <p:sp>
        <p:nvSpPr>
          <p:cNvPr id="25"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Project Objectives (contd.)</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Implementation plan in six stages</a:t>
            </a:r>
            <a:endParaRPr lang="en-US" sz="1600" dirty="0"/>
          </a:p>
        </p:txBody>
      </p:sp>
      <p:sp>
        <p:nvSpPr>
          <p:cNvPr id="5" name="Plan Card 1"/>
          <p:cNvSpPr/>
          <p:nvPr/>
        </p:nvSpPr>
        <p:spPr>
          <a:xfrm>
            <a:off x="548640" y="1508760"/>
            <a:ext cx="3337560" cy="2103120"/>
          </a:xfrm>
          <a:prstGeom prst="roundRect">
            <a:avLst>
              <a:gd name="adj" fmla="val 4348"/>
            </a:avLst>
          </a:prstGeom>
          <a:solidFill>
            <a:schemeClr val="bg2"/>
          </a:solidFill>
          <a:ln w="9525">
            <a:solidFill>
              <a:schemeClr val="accent6">
                <a:alpha val="45000"/>
              </a:schemeClr>
            </a:solidFill>
            <a:prstDash val="solid"/>
          </a:ln>
        </p:spPr>
      </p:sp>
      <p:sp>
        <p:nvSpPr>
          <p:cNvPr id="6" name="NumBadge 1"/>
          <p:cNvSpPr/>
          <p:nvPr/>
        </p:nvSpPr>
        <p:spPr>
          <a:xfrm>
            <a:off x="749808" y="1691640"/>
            <a:ext cx="502920" cy="502920"/>
          </a:xfrm>
          <a:prstGeom prst="ellipse">
            <a:avLst/>
          </a:prstGeom>
          <a:solidFill>
            <a:schemeClr val="accent1"/>
          </a:solidFill>
          <a:ln w="12700">
            <a:solidFill>
              <a:schemeClr val="accent1"/>
            </a:solidFill>
            <a:prstDash val="solid"/>
          </a:ln>
        </p:spPr>
      </p:sp>
      <p:sp>
        <p:nvSpPr>
          <p:cNvPr id="7" name="NumLabel 1"/>
          <p:cNvSpPr txBox="1"/>
          <p:nvPr/>
        </p:nvSpPr>
        <p:spPr>
          <a:xfrm>
            <a:off x="749808" y="169164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1</a:t>
            </a:r>
            <a:endParaRPr lang="en-US" sz="1700" dirty="0"/>
          </a:p>
        </p:txBody>
      </p:sp>
      <p:sp>
        <p:nvSpPr>
          <p:cNvPr id="8" name="IconBadge FaRuler"/>
          <p:cNvSpPr/>
          <p:nvPr/>
        </p:nvSpPr>
        <p:spPr>
          <a:xfrm>
            <a:off x="3182112" y="1691640"/>
            <a:ext cx="502920" cy="502920"/>
          </a:xfrm>
          <a:prstGeom prst="ellipse">
            <a:avLst/>
          </a:prstGeom>
          <a:solidFill>
            <a:schemeClr val="accent2"/>
          </a:solidFill>
          <a:ln w="12700">
            <a:solidFill>
              <a:schemeClr val="accent2"/>
            </a:solidFill>
            <a:prstDash val="solid"/>
          </a:ln>
        </p:spPr>
      </p:sp>
      <p:pic>
        <p:nvPicPr>
          <p:cNvPr id="9" name="Image 0" descr="FaRuler icon"/>
          <p:cNvPicPr>
            <a:picLocks noChangeAspect="1"/>
          </p:cNvPicPr>
          <p:nvPr/>
        </p:nvPicPr>
        <p:blipFill>
          <a:blip r:embed="rId3"/>
          <a:stretch>
            <a:fillRect/>
          </a:stretch>
        </p:blipFill>
        <p:spPr>
          <a:xfrm>
            <a:off x="3307842" y="1817370"/>
            <a:ext cx="251460" cy="251460"/>
          </a:xfrm>
          <a:prstGeom prst="rect">
            <a:avLst/>
          </a:prstGeom>
        </p:spPr>
      </p:pic>
      <p:sp>
        <p:nvSpPr>
          <p:cNvPr id="10" name="Plan Title 1"/>
          <p:cNvSpPr txBox="1"/>
          <p:nvPr/>
        </p:nvSpPr>
        <p:spPr>
          <a:xfrm>
            <a:off x="749808" y="2331720"/>
            <a:ext cx="2926080" cy="320040"/>
          </a:xfrm>
          <a:prstGeom prst="rect">
            <a:avLst/>
          </a:prstGeom>
          <a:noFill/>
          <a:ln/>
        </p:spPr>
        <p:txBody>
          <a:bodyPr wrap="square" lIns="0" tIns="0" rIns="0" bIns="0" rtlCol="0" anchor="t"/>
          <a:lstStyle/>
          <a:p>
            <a:pPr marL="0" indent="0">
              <a:buNone/>
            </a:pPr>
            <a:r>
              <a:rPr lang="en-US" sz="1800" b="1" dirty="0">
                <a:solidFill>
                  <a:schemeClr val="tx2"/>
                </a:solidFill>
              </a:rPr>
              <a:t>Mechanical Design</a:t>
            </a:r>
            <a:endParaRPr lang="en-US" sz="1800" dirty="0"/>
          </a:p>
        </p:txBody>
      </p:sp>
      <p:sp>
        <p:nvSpPr>
          <p:cNvPr id="11" name="Plan Text 1"/>
          <p:cNvSpPr txBox="1"/>
          <p:nvPr/>
        </p:nvSpPr>
        <p:spPr>
          <a:xfrm>
            <a:off x="749808" y="2697480"/>
            <a:ext cx="2926080" cy="822960"/>
          </a:xfrm>
          <a:prstGeom prst="rect">
            <a:avLst/>
          </a:prstGeom>
          <a:noFill/>
          <a:ln/>
        </p:spPr>
        <p:txBody>
          <a:bodyPr wrap="square" lIns="0" tIns="0" rIns="0" bIns="0" rtlCol="0" anchor="t"/>
          <a:lstStyle/>
          <a:p>
            <a:pPr marL="0" indent="0">
              <a:buNone/>
            </a:pPr>
            <a:r>
              <a:rPr lang="en-US" sz="1400" dirty="0">
                <a:solidFill>
                  <a:schemeClr val="tx1"/>
                </a:solidFill>
              </a:rPr>
              <a:t>Model links, joints &amp; base; select link lengths for the target workspace.</a:t>
            </a:r>
            <a:endParaRPr lang="en-US" sz="1400" dirty="0"/>
          </a:p>
        </p:txBody>
      </p:sp>
      <p:sp>
        <p:nvSpPr>
          <p:cNvPr id="12" name="Plan Arrow 1"/>
          <p:cNvSpPr/>
          <p:nvPr/>
        </p:nvSpPr>
        <p:spPr>
          <a:xfrm>
            <a:off x="3977640" y="2423160"/>
            <a:ext cx="356616" cy="274320"/>
          </a:xfrm>
          <a:prstGeom prst="rightArrow">
            <a:avLst/>
          </a:prstGeom>
          <a:solidFill>
            <a:schemeClr val="accent6"/>
          </a:solidFill>
          <a:ln w="12700">
            <a:solidFill>
              <a:schemeClr val="accent6"/>
            </a:solidFill>
            <a:prstDash val="solid"/>
          </a:ln>
        </p:spPr>
      </p:sp>
      <p:sp>
        <p:nvSpPr>
          <p:cNvPr id="13" name="Plan Card 2"/>
          <p:cNvSpPr/>
          <p:nvPr/>
        </p:nvSpPr>
        <p:spPr>
          <a:xfrm>
            <a:off x="4425696" y="1508760"/>
            <a:ext cx="3337560" cy="2103120"/>
          </a:xfrm>
          <a:prstGeom prst="roundRect">
            <a:avLst>
              <a:gd name="adj" fmla="val 4348"/>
            </a:avLst>
          </a:prstGeom>
          <a:solidFill>
            <a:schemeClr val="bg2"/>
          </a:solidFill>
          <a:ln w="9525">
            <a:solidFill>
              <a:schemeClr val="accent6">
                <a:alpha val="45000"/>
              </a:schemeClr>
            </a:solidFill>
            <a:prstDash val="solid"/>
          </a:ln>
        </p:spPr>
      </p:sp>
      <p:sp>
        <p:nvSpPr>
          <p:cNvPr id="14" name="NumBadge 2"/>
          <p:cNvSpPr/>
          <p:nvPr/>
        </p:nvSpPr>
        <p:spPr>
          <a:xfrm>
            <a:off x="4626864" y="1691640"/>
            <a:ext cx="502920" cy="502920"/>
          </a:xfrm>
          <a:prstGeom prst="ellipse">
            <a:avLst/>
          </a:prstGeom>
          <a:solidFill>
            <a:schemeClr val="accent1"/>
          </a:solidFill>
          <a:ln w="12700">
            <a:solidFill>
              <a:schemeClr val="accent1"/>
            </a:solidFill>
            <a:prstDash val="solid"/>
          </a:ln>
        </p:spPr>
      </p:sp>
      <p:sp>
        <p:nvSpPr>
          <p:cNvPr id="15" name="NumLabel 2"/>
          <p:cNvSpPr txBox="1"/>
          <p:nvPr/>
        </p:nvSpPr>
        <p:spPr>
          <a:xfrm>
            <a:off x="4626864" y="169164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2</a:t>
            </a:r>
            <a:endParaRPr lang="en-US" sz="1700" dirty="0"/>
          </a:p>
        </p:txBody>
      </p:sp>
      <p:sp>
        <p:nvSpPr>
          <p:cNvPr id="16" name="IconBadge FaCalculator"/>
          <p:cNvSpPr/>
          <p:nvPr/>
        </p:nvSpPr>
        <p:spPr>
          <a:xfrm>
            <a:off x="7059168" y="1691640"/>
            <a:ext cx="502920" cy="502920"/>
          </a:xfrm>
          <a:prstGeom prst="ellipse">
            <a:avLst/>
          </a:prstGeom>
          <a:solidFill>
            <a:schemeClr val="accent2"/>
          </a:solidFill>
          <a:ln w="12700">
            <a:solidFill>
              <a:schemeClr val="accent2"/>
            </a:solidFill>
            <a:prstDash val="solid"/>
          </a:ln>
        </p:spPr>
      </p:sp>
      <p:pic>
        <p:nvPicPr>
          <p:cNvPr id="17" name="Image 1" descr="FaCalculator icon"/>
          <p:cNvPicPr>
            <a:picLocks noChangeAspect="1"/>
          </p:cNvPicPr>
          <p:nvPr/>
        </p:nvPicPr>
        <p:blipFill>
          <a:blip r:embed="rId4"/>
          <a:stretch>
            <a:fillRect/>
          </a:stretch>
        </p:blipFill>
        <p:spPr>
          <a:xfrm>
            <a:off x="7184898" y="1817370"/>
            <a:ext cx="251460" cy="251460"/>
          </a:xfrm>
          <a:prstGeom prst="rect">
            <a:avLst/>
          </a:prstGeom>
        </p:spPr>
      </p:pic>
      <p:sp>
        <p:nvSpPr>
          <p:cNvPr id="18" name="Plan Title 2"/>
          <p:cNvSpPr txBox="1"/>
          <p:nvPr/>
        </p:nvSpPr>
        <p:spPr>
          <a:xfrm>
            <a:off x="4626864" y="2331720"/>
            <a:ext cx="2926080" cy="320040"/>
          </a:xfrm>
          <a:prstGeom prst="rect">
            <a:avLst/>
          </a:prstGeom>
          <a:noFill/>
          <a:ln/>
        </p:spPr>
        <p:txBody>
          <a:bodyPr wrap="square" lIns="0" tIns="0" rIns="0" bIns="0" rtlCol="0" anchor="t"/>
          <a:lstStyle/>
          <a:p>
            <a:pPr marL="0" indent="0">
              <a:buNone/>
            </a:pPr>
            <a:r>
              <a:rPr lang="en-US" sz="1800" b="1" dirty="0">
                <a:solidFill>
                  <a:schemeClr val="tx2"/>
                </a:solidFill>
              </a:rPr>
              <a:t>Kinematic Modelling</a:t>
            </a:r>
            <a:endParaRPr lang="en-US" sz="1800" dirty="0"/>
          </a:p>
        </p:txBody>
      </p:sp>
      <p:sp>
        <p:nvSpPr>
          <p:cNvPr id="19" name="Plan Text 2"/>
          <p:cNvSpPr txBox="1"/>
          <p:nvPr/>
        </p:nvSpPr>
        <p:spPr>
          <a:xfrm>
            <a:off x="4626864" y="2697480"/>
            <a:ext cx="2926080" cy="822960"/>
          </a:xfrm>
          <a:prstGeom prst="rect">
            <a:avLst/>
          </a:prstGeom>
          <a:noFill/>
          <a:ln/>
        </p:spPr>
        <p:txBody>
          <a:bodyPr wrap="square" lIns="0" tIns="0" rIns="0" bIns="0" rtlCol="0" anchor="t"/>
          <a:lstStyle/>
          <a:p>
            <a:pPr marL="0" indent="0">
              <a:buNone/>
            </a:pPr>
            <a:r>
              <a:rPr lang="en-US" sz="1400" dirty="0">
                <a:solidFill>
                  <a:schemeClr val="tx1"/>
                </a:solidFill>
              </a:rPr>
              <a:t>Derive &amp; simulate forward / inverse kinematics; validate reachable area.</a:t>
            </a:r>
            <a:endParaRPr lang="en-US" sz="1400" dirty="0"/>
          </a:p>
        </p:txBody>
      </p:sp>
      <p:sp>
        <p:nvSpPr>
          <p:cNvPr id="20" name="Plan Arrow 2"/>
          <p:cNvSpPr/>
          <p:nvPr/>
        </p:nvSpPr>
        <p:spPr>
          <a:xfrm>
            <a:off x="7854696" y="2423160"/>
            <a:ext cx="356616" cy="274320"/>
          </a:xfrm>
          <a:prstGeom prst="rightArrow">
            <a:avLst/>
          </a:prstGeom>
          <a:solidFill>
            <a:schemeClr val="accent6"/>
          </a:solidFill>
          <a:ln w="12700">
            <a:solidFill>
              <a:schemeClr val="accent6"/>
            </a:solidFill>
            <a:prstDash val="solid"/>
          </a:ln>
        </p:spPr>
      </p:sp>
      <p:sp>
        <p:nvSpPr>
          <p:cNvPr id="21" name="Plan Card 3"/>
          <p:cNvSpPr/>
          <p:nvPr/>
        </p:nvSpPr>
        <p:spPr>
          <a:xfrm>
            <a:off x="8302752" y="1508760"/>
            <a:ext cx="3337560" cy="2103120"/>
          </a:xfrm>
          <a:prstGeom prst="roundRect">
            <a:avLst>
              <a:gd name="adj" fmla="val 4348"/>
            </a:avLst>
          </a:prstGeom>
          <a:solidFill>
            <a:schemeClr val="bg2"/>
          </a:solidFill>
          <a:ln w="9525">
            <a:solidFill>
              <a:schemeClr val="accent6">
                <a:alpha val="45000"/>
              </a:schemeClr>
            </a:solidFill>
            <a:prstDash val="solid"/>
          </a:ln>
        </p:spPr>
      </p:sp>
      <p:sp>
        <p:nvSpPr>
          <p:cNvPr id="22" name="NumBadge 3"/>
          <p:cNvSpPr/>
          <p:nvPr/>
        </p:nvSpPr>
        <p:spPr>
          <a:xfrm>
            <a:off x="8503920" y="1691640"/>
            <a:ext cx="502920" cy="502920"/>
          </a:xfrm>
          <a:prstGeom prst="ellipse">
            <a:avLst/>
          </a:prstGeom>
          <a:solidFill>
            <a:schemeClr val="accent1"/>
          </a:solidFill>
          <a:ln w="12700">
            <a:solidFill>
              <a:schemeClr val="accent1"/>
            </a:solidFill>
            <a:prstDash val="solid"/>
          </a:ln>
        </p:spPr>
      </p:sp>
      <p:sp>
        <p:nvSpPr>
          <p:cNvPr id="23" name="NumLabel 3"/>
          <p:cNvSpPr txBox="1"/>
          <p:nvPr/>
        </p:nvSpPr>
        <p:spPr>
          <a:xfrm>
            <a:off x="8503920" y="169164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3</a:t>
            </a:r>
            <a:endParaRPr lang="en-US" sz="1700" dirty="0"/>
          </a:p>
        </p:txBody>
      </p:sp>
      <p:sp>
        <p:nvSpPr>
          <p:cNvPr id="24" name="IconBadge FaPlug"/>
          <p:cNvSpPr/>
          <p:nvPr/>
        </p:nvSpPr>
        <p:spPr>
          <a:xfrm>
            <a:off x="10936224" y="1691640"/>
            <a:ext cx="502920" cy="502920"/>
          </a:xfrm>
          <a:prstGeom prst="ellipse">
            <a:avLst/>
          </a:prstGeom>
          <a:solidFill>
            <a:schemeClr val="accent2"/>
          </a:solidFill>
          <a:ln w="12700">
            <a:solidFill>
              <a:schemeClr val="accent2"/>
            </a:solidFill>
            <a:prstDash val="solid"/>
          </a:ln>
        </p:spPr>
      </p:sp>
      <p:pic>
        <p:nvPicPr>
          <p:cNvPr id="25" name="Image 2" descr="FaPlug icon"/>
          <p:cNvPicPr>
            <a:picLocks noChangeAspect="1"/>
          </p:cNvPicPr>
          <p:nvPr/>
        </p:nvPicPr>
        <p:blipFill>
          <a:blip r:embed="rId5"/>
          <a:stretch>
            <a:fillRect/>
          </a:stretch>
        </p:blipFill>
        <p:spPr>
          <a:xfrm>
            <a:off x="11061954" y="1817370"/>
            <a:ext cx="251460" cy="251460"/>
          </a:xfrm>
          <a:prstGeom prst="rect">
            <a:avLst/>
          </a:prstGeom>
        </p:spPr>
      </p:pic>
      <p:sp>
        <p:nvSpPr>
          <p:cNvPr id="26" name="Plan Title 3"/>
          <p:cNvSpPr txBox="1"/>
          <p:nvPr/>
        </p:nvSpPr>
        <p:spPr>
          <a:xfrm>
            <a:off x="8503920" y="2331720"/>
            <a:ext cx="2926080" cy="320040"/>
          </a:xfrm>
          <a:prstGeom prst="rect">
            <a:avLst/>
          </a:prstGeom>
          <a:noFill/>
          <a:ln/>
        </p:spPr>
        <p:txBody>
          <a:bodyPr wrap="square" lIns="0" tIns="0" rIns="0" bIns="0" rtlCol="0" anchor="t"/>
          <a:lstStyle/>
          <a:p>
            <a:pPr marL="0" indent="0">
              <a:buNone/>
            </a:pPr>
            <a:r>
              <a:rPr lang="en-US" sz="1800" b="1" dirty="0">
                <a:solidFill>
                  <a:schemeClr val="tx2"/>
                </a:solidFill>
              </a:rPr>
              <a:t>Electronics &amp; Wiring</a:t>
            </a:r>
            <a:endParaRPr lang="en-US" sz="1800" dirty="0"/>
          </a:p>
        </p:txBody>
      </p:sp>
      <p:sp>
        <p:nvSpPr>
          <p:cNvPr id="27" name="Plan Text 3"/>
          <p:cNvSpPr txBox="1"/>
          <p:nvPr/>
        </p:nvSpPr>
        <p:spPr>
          <a:xfrm>
            <a:off x="8503920" y="2697480"/>
            <a:ext cx="2926080" cy="822960"/>
          </a:xfrm>
          <a:prstGeom prst="rect">
            <a:avLst/>
          </a:prstGeom>
          <a:noFill/>
          <a:ln/>
        </p:spPr>
        <p:txBody>
          <a:bodyPr wrap="square" lIns="0" tIns="0" rIns="0" bIns="0" rtlCol="0" anchor="t"/>
          <a:lstStyle/>
          <a:p>
            <a:pPr marL="0" indent="0">
              <a:buNone/>
            </a:pPr>
            <a:r>
              <a:rPr lang="en-US" sz="1400" dirty="0">
                <a:solidFill>
                  <a:schemeClr val="tx1"/>
                </a:solidFill>
              </a:rPr>
              <a:t>Wire stepper drivers, motors, encoders and power supply to the controller.</a:t>
            </a:r>
            <a:endParaRPr lang="en-US" sz="1400" dirty="0"/>
          </a:p>
        </p:txBody>
      </p:sp>
      <p:sp>
        <p:nvSpPr>
          <p:cNvPr id="28" name="Plan Card 4"/>
          <p:cNvSpPr/>
          <p:nvPr/>
        </p:nvSpPr>
        <p:spPr>
          <a:xfrm>
            <a:off x="548640" y="3886200"/>
            <a:ext cx="3337560" cy="2103120"/>
          </a:xfrm>
          <a:prstGeom prst="roundRect">
            <a:avLst>
              <a:gd name="adj" fmla="val 4348"/>
            </a:avLst>
          </a:prstGeom>
          <a:solidFill>
            <a:schemeClr val="bg2"/>
          </a:solidFill>
          <a:ln w="9525">
            <a:solidFill>
              <a:schemeClr val="accent6">
                <a:alpha val="45000"/>
              </a:schemeClr>
            </a:solidFill>
            <a:prstDash val="solid"/>
          </a:ln>
        </p:spPr>
      </p:sp>
      <p:sp>
        <p:nvSpPr>
          <p:cNvPr id="29" name="NumBadge 4"/>
          <p:cNvSpPr/>
          <p:nvPr/>
        </p:nvSpPr>
        <p:spPr>
          <a:xfrm>
            <a:off x="749808" y="4069080"/>
            <a:ext cx="502920" cy="502920"/>
          </a:xfrm>
          <a:prstGeom prst="ellipse">
            <a:avLst/>
          </a:prstGeom>
          <a:solidFill>
            <a:schemeClr val="accent1"/>
          </a:solidFill>
          <a:ln w="12700">
            <a:solidFill>
              <a:schemeClr val="accent1"/>
            </a:solidFill>
            <a:prstDash val="solid"/>
          </a:ln>
        </p:spPr>
      </p:sp>
      <p:sp>
        <p:nvSpPr>
          <p:cNvPr id="30" name="NumLabel 4"/>
          <p:cNvSpPr txBox="1"/>
          <p:nvPr/>
        </p:nvSpPr>
        <p:spPr>
          <a:xfrm>
            <a:off x="749808" y="406908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4</a:t>
            </a:r>
            <a:endParaRPr lang="en-US" sz="1700" dirty="0"/>
          </a:p>
        </p:txBody>
      </p:sp>
      <p:sp>
        <p:nvSpPr>
          <p:cNvPr id="31" name="IconBadge FaCode"/>
          <p:cNvSpPr/>
          <p:nvPr/>
        </p:nvSpPr>
        <p:spPr>
          <a:xfrm>
            <a:off x="3182112" y="4069080"/>
            <a:ext cx="502920" cy="502920"/>
          </a:xfrm>
          <a:prstGeom prst="ellipse">
            <a:avLst/>
          </a:prstGeom>
          <a:solidFill>
            <a:schemeClr val="accent2"/>
          </a:solidFill>
          <a:ln w="12700">
            <a:solidFill>
              <a:schemeClr val="accent2"/>
            </a:solidFill>
            <a:prstDash val="solid"/>
          </a:ln>
        </p:spPr>
      </p:sp>
      <p:pic>
        <p:nvPicPr>
          <p:cNvPr id="32" name="Image 3" descr="FaCode icon"/>
          <p:cNvPicPr>
            <a:picLocks noChangeAspect="1"/>
          </p:cNvPicPr>
          <p:nvPr/>
        </p:nvPicPr>
        <p:blipFill>
          <a:blip r:embed="rId6"/>
          <a:stretch>
            <a:fillRect/>
          </a:stretch>
        </p:blipFill>
        <p:spPr>
          <a:xfrm>
            <a:off x="3307842" y="4194810"/>
            <a:ext cx="251460" cy="251460"/>
          </a:xfrm>
          <a:prstGeom prst="rect">
            <a:avLst/>
          </a:prstGeom>
        </p:spPr>
      </p:pic>
      <p:sp>
        <p:nvSpPr>
          <p:cNvPr id="33" name="Plan Title 4"/>
          <p:cNvSpPr txBox="1"/>
          <p:nvPr/>
        </p:nvSpPr>
        <p:spPr>
          <a:xfrm>
            <a:off x="749808" y="4709160"/>
            <a:ext cx="2926080" cy="320040"/>
          </a:xfrm>
          <a:prstGeom prst="rect">
            <a:avLst/>
          </a:prstGeom>
          <a:noFill/>
          <a:ln/>
        </p:spPr>
        <p:txBody>
          <a:bodyPr wrap="square" lIns="0" tIns="0" rIns="0" bIns="0" rtlCol="0" anchor="t"/>
          <a:lstStyle/>
          <a:p>
            <a:pPr marL="0" indent="0">
              <a:buNone/>
            </a:pPr>
            <a:r>
              <a:rPr lang="en-US" sz="1800" b="1" dirty="0">
                <a:solidFill>
                  <a:schemeClr val="tx2"/>
                </a:solidFill>
              </a:rPr>
              <a:t>Firmware Development</a:t>
            </a:r>
            <a:endParaRPr lang="en-US" sz="1800" dirty="0"/>
          </a:p>
        </p:txBody>
      </p:sp>
      <p:sp>
        <p:nvSpPr>
          <p:cNvPr id="34" name="Plan Text 4"/>
          <p:cNvSpPr txBox="1"/>
          <p:nvPr/>
        </p:nvSpPr>
        <p:spPr>
          <a:xfrm>
            <a:off x="749808" y="5074920"/>
            <a:ext cx="2926080" cy="822960"/>
          </a:xfrm>
          <a:prstGeom prst="rect">
            <a:avLst/>
          </a:prstGeom>
          <a:noFill/>
          <a:ln/>
        </p:spPr>
        <p:txBody>
          <a:bodyPr wrap="square" lIns="0" tIns="0" rIns="0" bIns="0" rtlCol="0" anchor="t"/>
          <a:lstStyle/>
          <a:p>
            <a:pPr marL="0" indent="0">
              <a:buNone/>
            </a:pPr>
            <a:r>
              <a:rPr lang="en-US" sz="1400" dirty="0">
                <a:solidFill>
                  <a:schemeClr val="tx1"/>
                </a:solidFill>
              </a:rPr>
              <a:t>Implement IK solver, step/direction generation and waypoint sequencing.</a:t>
            </a:r>
            <a:endParaRPr lang="en-US" sz="1400" dirty="0"/>
          </a:p>
        </p:txBody>
      </p:sp>
      <p:sp>
        <p:nvSpPr>
          <p:cNvPr id="35" name="Plan Arrow 4"/>
          <p:cNvSpPr/>
          <p:nvPr/>
        </p:nvSpPr>
        <p:spPr>
          <a:xfrm>
            <a:off x="3977640" y="4800600"/>
            <a:ext cx="356616" cy="274320"/>
          </a:xfrm>
          <a:prstGeom prst="rightArrow">
            <a:avLst/>
          </a:prstGeom>
          <a:solidFill>
            <a:schemeClr val="accent6"/>
          </a:solidFill>
          <a:ln w="12700">
            <a:solidFill>
              <a:schemeClr val="accent6"/>
            </a:solidFill>
            <a:prstDash val="solid"/>
          </a:ln>
        </p:spPr>
      </p:sp>
      <p:sp>
        <p:nvSpPr>
          <p:cNvPr id="36" name="Plan Card 5"/>
          <p:cNvSpPr/>
          <p:nvPr/>
        </p:nvSpPr>
        <p:spPr>
          <a:xfrm>
            <a:off x="4425696" y="3886200"/>
            <a:ext cx="3337560" cy="2103120"/>
          </a:xfrm>
          <a:prstGeom prst="roundRect">
            <a:avLst>
              <a:gd name="adj" fmla="val 4348"/>
            </a:avLst>
          </a:prstGeom>
          <a:solidFill>
            <a:schemeClr val="bg2"/>
          </a:solidFill>
          <a:ln w="9525">
            <a:solidFill>
              <a:schemeClr val="accent6">
                <a:alpha val="45000"/>
              </a:schemeClr>
            </a:solidFill>
            <a:prstDash val="solid"/>
          </a:ln>
        </p:spPr>
      </p:sp>
      <p:sp>
        <p:nvSpPr>
          <p:cNvPr id="37" name="NumBadge 5"/>
          <p:cNvSpPr/>
          <p:nvPr/>
        </p:nvSpPr>
        <p:spPr>
          <a:xfrm>
            <a:off x="4626864" y="4069080"/>
            <a:ext cx="502920" cy="502920"/>
          </a:xfrm>
          <a:prstGeom prst="ellipse">
            <a:avLst/>
          </a:prstGeom>
          <a:solidFill>
            <a:schemeClr val="accent3"/>
          </a:solidFill>
          <a:ln w="12700">
            <a:solidFill>
              <a:schemeClr val="accent3"/>
            </a:solidFill>
            <a:prstDash val="solid"/>
          </a:ln>
        </p:spPr>
      </p:sp>
      <p:sp>
        <p:nvSpPr>
          <p:cNvPr id="38" name="NumLabel 5"/>
          <p:cNvSpPr txBox="1"/>
          <p:nvPr/>
        </p:nvSpPr>
        <p:spPr>
          <a:xfrm>
            <a:off x="4626864" y="406908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5</a:t>
            </a:r>
            <a:endParaRPr lang="en-US" sz="1700" dirty="0"/>
          </a:p>
        </p:txBody>
      </p:sp>
      <p:sp>
        <p:nvSpPr>
          <p:cNvPr id="39" name="IconBadge FaSyncAlt"/>
          <p:cNvSpPr/>
          <p:nvPr/>
        </p:nvSpPr>
        <p:spPr>
          <a:xfrm>
            <a:off x="7059168" y="4069080"/>
            <a:ext cx="502920" cy="502920"/>
          </a:xfrm>
          <a:prstGeom prst="ellipse">
            <a:avLst/>
          </a:prstGeom>
          <a:solidFill>
            <a:schemeClr val="accent3"/>
          </a:solidFill>
          <a:ln w="12700">
            <a:solidFill>
              <a:schemeClr val="accent3"/>
            </a:solidFill>
            <a:prstDash val="solid"/>
          </a:ln>
        </p:spPr>
      </p:sp>
      <p:pic>
        <p:nvPicPr>
          <p:cNvPr id="40" name="Image 4" descr="FaSyncAlt icon"/>
          <p:cNvPicPr>
            <a:picLocks noChangeAspect="1"/>
          </p:cNvPicPr>
          <p:nvPr/>
        </p:nvPicPr>
        <p:blipFill>
          <a:blip r:embed="rId7"/>
          <a:stretch>
            <a:fillRect/>
          </a:stretch>
        </p:blipFill>
        <p:spPr>
          <a:xfrm>
            <a:off x="7184898" y="4194810"/>
            <a:ext cx="251460" cy="251460"/>
          </a:xfrm>
          <a:prstGeom prst="rect">
            <a:avLst/>
          </a:prstGeom>
        </p:spPr>
      </p:pic>
      <p:sp>
        <p:nvSpPr>
          <p:cNvPr id="41" name="Plan Title 5"/>
          <p:cNvSpPr txBox="1"/>
          <p:nvPr/>
        </p:nvSpPr>
        <p:spPr>
          <a:xfrm>
            <a:off x="4626864" y="4709160"/>
            <a:ext cx="2926080" cy="320040"/>
          </a:xfrm>
          <a:prstGeom prst="rect">
            <a:avLst/>
          </a:prstGeom>
          <a:noFill/>
          <a:ln/>
        </p:spPr>
        <p:txBody>
          <a:bodyPr wrap="square" lIns="0" tIns="0" rIns="0" bIns="0" rtlCol="0" anchor="t"/>
          <a:lstStyle/>
          <a:p>
            <a:pPr marL="0" indent="0">
              <a:buNone/>
            </a:pPr>
            <a:r>
              <a:rPr lang="en-US" sz="1800" b="1" dirty="0">
                <a:solidFill>
                  <a:schemeClr val="tx2"/>
                </a:solidFill>
              </a:rPr>
              <a:t>Feedback Integration</a:t>
            </a:r>
            <a:endParaRPr lang="en-US" sz="1800" dirty="0"/>
          </a:p>
        </p:txBody>
      </p:sp>
      <p:sp>
        <p:nvSpPr>
          <p:cNvPr id="42" name="Plan Text 5"/>
          <p:cNvSpPr txBox="1"/>
          <p:nvPr/>
        </p:nvSpPr>
        <p:spPr>
          <a:xfrm>
            <a:off x="4626864" y="5074920"/>
            <a:ext cx="2926080" cy="822960"/>
          </a:xfrm>
          <a:prstGeom prst="rect">
            <a:avLst/>
          </a:prstGeom>
          <a:noFill/>
          <a:ln/>
        </p:spPr>
        <p:txBody>
          <a:bodyPr wrap="square" lIns="0" tIns="0" rIns="0" bIns="0" rtlCol="0" anchor="t"/>
          <a:lstStyle/>
          <a:p>
            <a:pPr marL="0" indent="0">
              <a:buNone/>
            </a:pPr>
            <a:r>
              <a:rPr lang="en-US" sz="1400" dirty="0">
                <a:solidFill>
                  <a:schemeClr val="tx1"/>
                </a:solidFill>
              </a:rPr>
              <a:t>Read encoders, close the control loop, calibrate zero positions.</a:t>
            </a:r>
            <a:endParaRPr lang="en-US" sz="1400" dirty="0"/>
          </a:p>
        </p:txBody>
      </p:sp>
      <p:sp>
        <p:nvSpPr>
          <p:cNvPr id="43" name="Plan Arrow 5"/>
          <p:cNvSpPr/>
          <p:nvPr/>
        </p:nvSpPr>
        <p:spPr>
          <a:xfrm>
            <a:off x="7854696" y="4800600"/>
            <a:ext cx="356616" cy="274320"/>
          </a:xfrm>
          <a:prstGeom prst="rightArrow">
            <a:avLst/>
          </a:prstGeom>
          <a:solidFill>
            <a:schemeClr val="accent6"/>
          </a:solidFill>
          <a:ln w="12700">
            <a:solidFill>
              <a:schemeClr val="accent6"/>
            </a:solidFill>
            <a:prstDash val="solid"/>
          </a:ln>
        </p:spPr>
      </p:sp>
      <p:sp>
        <p:nvSpPr>
          <p:cNvPr id="44" name="Plan Card 6"/>
          <p:cNvSpPr/>
          <p:nvPr/>
        </p:nvSpPr>
        <p:spPr>
          <a:xfrm>
            <a:off x="8302752" y="3886200"/>
            <a:ext cx="3337560" cy="2103120"/>
          </a:xfrm>
          <a:prstGeom prst="roundRect">
            <a:avLst>
              <a:gd name="adj" fmla="val 4348"/>
            </a:avLst>
          </a:prstGeom>
          <a:solidFill>
            <a:schemeClr val="bg2"/>
          </a:solidFill>
          <a:ln w="9525">
            <a:solidFill>
              <a:schemeClr val="accent6">
                <a:alpha val="45000"/>
              </a:schemeClr>
            </a:solidFill>
            <a:prstDash val="solid"/>
          </a:ln>
        </p:spPr>
      </p:sp>
      <p:sp>
        <p:nvSpPr>
          <p:cNvPr id="45" name="NumBadge 6"/>
          <p:cNvSpPr/>
          <p:nvPr/>
        </p:nvSpPr>
        <p:spPr>
          <a:xfrm>
            <a:off x="8503920" y="4069080"/>
            <a:ext cx="502920" cy="502920"/>
          </a:xfrm>
          <a:prstGeom prst="ellipse">
            <a:avLst/>
          </a:prstGeom>
          <a:solidFill>
            <a:schemeClr val="accent3"/>
          </a:solidFill>
          <a:ln w="12700">
            <a:solidFill>
              <a:schemeClr val="accent3"/>
            </a:solidFill>
            <a:prstDash val="solid"/>
          </a:ln>
        </p:spPr>
      </p:sp>
      <p:sp>
        <p:nvSpPr>
          <p:cNvPr id="46" name="NumLabel 6"/>
          <p:cNvSpPr txBox="1"/>
          <p:nvPr/>
        </p:nvSpPr>
        <p:spPr>
          <a:xfrm>
            <a:off x="8503920" y="406908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6</a:t>
            </a:r>
            <a:endParaRPr lang="en-US" sz="1700" dirty="0"/>
          </a:p>
        </p:txBody>
      </p:sp>
      <p:sp>
        <p:nvSpPr>
          <p:cNvPr id="47" name="IconBadge FaCrosshairs"/>
          <p:cNvSpPr/>
          <p:nvPr/>
        </p:nvSpPr>
        <p:spPr>
          <a:xfrm>
            <a:off x="10936224" y="4069080"/>
            <a:ext cx="502920" cy="502920"/>
          </a:xfrm>
          <a:prstGeom prst="ellipse">
            <a:avLst/>
          </a:prstGeom>
          <a:solidFill>
            <a:schemeClr val="accent3"/>
          </a:solidFill>
          <a:ln w="12700">
            <a:solidFill>
              <a:schemeClr val="accent3"/>
            </a:solidFill>
            <a:prstDash val="solid"/>
          </a:ln>
        </p:spPr>
      </p:sp>
      <p:pic>
        <p:nvPicPr>
          <p:cNvPr id="48" name="Image 5" descr="FaCrosshairs icon"/>
          <p:cNvPicPr>
            <a:picLocks noChangeAspect="1"/>
          </p:cNvPicPr>
          <p:nvPr/>
        </p:nvPicPr>
        <p:blipFill>
          <a:blip r:embed="rId8"/>
          <a:stretch>
            <a:fillRect/>
          </a:stretch>
        </p:blipFill>
        <p:spPr>
          <a:xfrm>
            <a:off x="11061954" y="4194810"/>
            <a:ext cx="251460" cy="251460"/>
          </a:xfrm>
          <a:prstGeom prst="rect">
            <a:avLst/>
          </a:prstGeom>
        </p:spPr>
      </p:pic>
      <p:sp>
        <p:nvSpPr>
          <p:cNvPr id="49" name="Plan Title 6"/>
          <p:cNvSpPr txBox="1"/>
          <p:nvPr/>
        </p:nvSpPr>
        <p:spPr>
          <a:xfrm>
            <a:off x="8503920" y="4709160"/>
            <a:ext cx="2926080" cy="320040"/>
          </a:xfrm>
          <a:prstGeom prst="rect">
            <a:avLst/>
          </a:prstGeom>
          <a:noFill/>
          <a:ln/>
        </p:spPr>
        <p:txBody>
          <a:bodyPr wrap="square" lIns="0" tIns="0" rIns="0" bIns="0" rtlCol="0" anchor="t"/>
          <a:lstStyle/>
          <a:p>
            <a:pPr marL="0" indent="0">
              <a:buNone/>
            </a:pPr>
            <a:r>
              <a:rPr lang="en-US" sz="1800" b="1" dirty="0">
                <a:solidFill>
                  <a:schemeClr val="tx2"/>
                </a:solidFill>
              </a:rPr>
              <a:t>Trajectory Testing</a:t>
            </a:r>
            <a:endParaRPr lang="en-US" sz="1800" dirty="0"/>
          </a:p>
        </p:txBody>
      </p:sp>
      <p:sp>
        <p:nvSpPr>
          <p:cNvPr id="50" name="Plan Text 6"/>
          <p:cNvSpPr txBox="1"/>
          <p:nvPr/>
        </p:nvSpPr>
        <p:spPr>
          <a:xfrm>
            <a:off x="8503920" y="5074920"/>
            <a:ext cx="2926080" cy="822960"/>
          </a:xfrm>
          <a:prstGeom prst="rect">
            <a:avLst/>
          </a:prstGeom>
          <a:noFill/>
          <a:ln/>
        </p:spPr>
        <p:txBody>
          <a:bodyPr wrap="square" lIns="0" tIns="0" rIns="0" bIns="0" rtlCol="0" anchor="t"/>
          <a:lstStyle/>
          <a:p>
            <a:pPr marL="0" indent="0">
              <a:buNone/>
            </a:pPr>
            <a:r>
              <a:rPr lang="en-US" sz="1400" dirty="0">
                <a:solidFill>
                  <a:schemeClr val="tx1"/>
                </a:solidFill>
              </a:rPr>
              <a:t>Run test paths, measure tracking error, tune and finalise the system.</a:t>
            </a:r>
            <a:endParaRPr lang="en-US" sz="1400" dirty="0"/>
          </a:p>
        </p:txBody>
      </p:sp>
      <p:sp>
        <p:nvSpPr>
          <p:cNvPr id="4"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Conclusions</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What the design achieves, and where it goes next</a:t>
            </a:r>
            <a:endParaRPr lang="en-US" sz="1600" dirty="0"/>
          </a:p>
        </p:txBody>
      </p:sp>
      <p:sp>
        <p:nvSpPr>
          <p:cNvPr id="5" name="Conclusion Card 1"/>
          <p:cNvSpPr/>
          <p:nvPr/>
        </p:nvSpPr>
        <p:spPr>
          <a:xfrm>
            <a:off x="548640" y="1508760"/>
            <a:ext cx="5486400" cy="1417320"/>
          </a:xfrm>
          <a:prstGeom prst="roundRect">
            <a:avLst>
              <a:gd name="adj" fmla="val 6452"/>
            </a:avLst>
          </a:prstGeom>
          <a:solidFill>
            <a:schemeClr val="bg2"/>
          </a:solidFill>
          <a:ln w="9525">
            <a:solidFill>
              <a:schemeClr val="accent6">
                <a:alpha val="45000"/>
              </a:schemeClr>
            </a:solidFill>
            <a:prstDash val="solid"/>
          </a:ln>
        </p:spPr>
      </p:sp>
      <p:sp>
        <p:nvSpPr>
          <p:cNvPr id="6" name="IconBadge FaCheckCircle"/>
          <p:cNvSpPr/>
          <p:nvPr/>
        </p:nvSpPr>
        <p:spPr>
          <a:xfrm>
            <a:off x="731520" y="1920240"/>
            <a:ext cx="594360" cy="594360"/>
          </a:xfrm>
          <a:prstGeom prst="ellipse">
            <a:avLst/>
          </a:prstGeom>
          <a:solidFill>
            <a:schemeClr val="accent1"/>
          </a:solidFill>
          <a:ln w="12700">
            <a:solidFill>
              <a:schemeClr val="accent1"/>
            </a:solidFill>
            <a:prstDash val="solid"/>
          </a:ln>
        </p:spPr>
      </p:sp>
      <p:pic>
        <p:nvPicPr>
          <p:cNvPr id="7" name="Image 0" descr="FaCheckCircle icon"/>
          <p:cNvPicPr>
            <a:picLocks noChangeAspect="1"/>
          </p:cNvPicPr>
          <p:nvPr/>
        </p:nvPicPr>
        <p:blipFill>
          <a:blip r:embed="rId3"/>
          <a:stretch>
            <a:fillRect/>
          </a:stretch>
        </p:blipFill>
        <p:spPr>
          <a:xfrm>
            <a:off x="880110" y="2068830"/>
            <a:ext cx="297180" cy="297180"/>
          </a:xfrm>
          <a:prstGeom prst="rect">
            <a:avLst/>
          </a:prstGeom>
        </p:spPr>
      </p:pic>
      <p:sp>
        <p:nvSpPr>
          <p:cNvPr id="8" name="Conclusion Text 1"/>
          <p:cNvSpPr txBox="1"/>
          <p:nvPr/>
        </p:nvSpPr>
        <p:spPr>
          <a:xfrm>
            <a:off x="1508760" y="1600200"/>
            <a:ext cx="4389120" cy="1234440"/>
          </a:xfrm>
          <a:prstGeom prst="rect">
            <a:avLst/>
          </a:prstGeom>
          <a:noFill/>
          <a:ln/>
        </p:spPr>
        <p:txBody>
          <a:bodyPr wrap="square" lIns="0" tIns="0" rIns="0" bIns="0" rtlCol="0" anchor="ctr"/>
          <a:lstStyle/>
          <a:p>
            <a:pPr marL="0" indent="0">
              <a:buNone/>
            </a:pPr>
            <a:r>
              <a:rPr lang="en-US" sz="1400" dirty="0">
                <a:solidFill>
                  <a:schemeClr val="tx1"/>
                </a:solidFill>
              </a:rPr>
              <a:t>A 2-link, 2-DOF arm gives a well-defined, calculable workspace from just two link lengths.</a:t>
            </a:r>
            <a:endParaRPr lang="en-US" sz="1400" dirty="0"/>
          </a:p>
        </p:txBody>
      </p:sp>
      <p:sp>
        <p:nvSpPr>
          <p:cNvPr id="9" name="Conclusion Card 2"/>
          <p:cNvSpPr/>
          <p:nvPr/>
        </p:nvSpPr>
        <p:spPr>
          <a:xfrm>
            <a:off x="548640" y="3063240"/>
            <a:ext cx="5486400" cy="1417320"/>
          </a:xfrm>
          <a:prstGeom prst="roundRect">
            <a:avLst>
              <a:gd name="adj" fmla="val 6452"/>
            </a:avLst>
          </a:prstGeom>
          <a:solidFill>
            <a:schemeClr val="bg2"/>
          </a:solidFill>
          <a:ln w="9525">
            <a:solidFill>
              <a:schemeClr val="accent6">
                <a:alpha val="45000"/>
              </a:schemeClr>
            </a:solidFill>
            <a:prstDash val="solid"/>
          </a:ln>
        </p:spPr>
      </p:sp>
      <p:sp>
        <p:nvSpPr>
          <p:cNvPr id="10" name="IconBadge FaCheckCircle"/>
          <p:cNvSpPr/>
          <p:nvPr/>
        </p:nvSpPr>
        <p:spPr>
          <a:xfrm>
            <a:off x="731520" y="3474720"/>
            <a:ext cx="594360" cy="594360"/>
          </a:xfrm>
          <a:prstGeom prst="ellipse">
            <a:avLst/>
          </a:prstGeom>
          <a:solidFill>
            <a:schemeClr val="accent2"/>
          </a:solidFill>
          <a:ln w="12700">
            <a:solidFill>
              <a:schemeClr val="accent2"/>
            </a:solidFill>
            <a:prstDash val="solid"/>
          </a:ln>
        </p:spPr>
      </p:sp>
      <p:pic>
        <p:nvPicPr>
          <p:cNvPr id="11" name="Image 1" descr="FaCheckCircle icon"/>
          <p:cNvPicPr>
            <a:picLocks noChangeAspect="1"/>
          </p:cNvPicPr>
          <p:nvPr/>
        </p:nvPicPr>
        <p:blipFill>
          <a:blip r:embed="rId3"/>
          <a:stretch>
            <a:fillRect/>
          </a:stretch>
        </p:blipFill>
        <p:spPr>
          <a:xfrm>
            <a:off x="880110" y="3623310"/>
            <a:ext cx="297180" cy="297180"/>
          </a:xfrm>
          <a:prstGeom prst="rect">
            <a:avLst/>
          </a:prstGeom>
        </p:spPr>
      </p:pic>
      <p:sp>
        <p:nvSpPr>
          <p:cNvPr id="12" name="Conclusion Text 2"/>
          <p:cNvSpPr txBox="1"/>
          <p:nvPr/>
        </p:nvSpPr>
        <p:spPr>
          <a:xfrm>
            <a:off x="1508760" y="3154680"/>
            <a:ext cx="4389120" cy="1234440"/>
          </a:xfrm>
          <a:prstGeom prst="rect">
            <a:avLst/>
          </a:prstGeom>
          <a:noFill/>
          <a:ln/>
        </p:spPr>
        <p:txBody>
          <a:bodyPr wrap="square" lIns="0" tIns="0" rIns="0" bIns="0" rtlCol="0" anchor="ctr"/>
          <a:lstStyle/>
          <a:p>
            <a:pPr marL="0" indent="0">
              <a:buNone/>
            </a:pPr>
            <a:r>
              <a:rPr lang="en-US" sz="1400" dirty="0">
                <a:solidFill>
                  <a:schemeClr val="tx1"/>
                </a:solidFill>
              </a:rPr>
              <a:t>Independent stepper control at A and B, guided by forward and inverse kinematics, is sufficient to place the end-effector anywhere inside that workspace.</a:t>
            </a:r>
            <a:endParaRPr lang="en-US" sz="1400" dirty="0"/>
          </a:p>
        </p:txBody>
      </p:sp>
      <p:sp>
        <p:nvSpPr>
          <p:cNvPr id="13" name="Conclusion Card 3"/>
          <p:cNvSpPr/>
          <p:nvPr/>
        </p:nvSpPr>
        <p:spPr>
          <a:xfrm>
            <a:off x="548640" y="4617720"/>
            <a:ext cx="5486400" cy="1417320"/>
          </a:xfrm>
          <a:prstGeom prst="roundRect">
            <a:avLst>
              <a:gd name="adj" fmla="val 6452"/>
            </a:avLst>
          </a:prstGeom>
          <a:solidFill>
            <a:schemeClr val="bg2"/>
          </a:solidFill>
          <a:ln w="9525">
            <a:solidFill>
              <a:schemeClr val="accent6">
                <a:alpha val="45000"/>
              </a:schemeClr>
            </a:solidFill>
            <a:prstDash val="solid"/>
          </a:ln>
        </p:spPr>
      </p:sp>
      <p:sp>
        <p:nvSpPr>
          <p:cNvPr id="14" name="IconBadge FaCheckCircle"/>
          <p:cNvSpPr/>
          <p:nvPr/>
        </p:nvSpPr>
        <p:spPr>
          <a:xfrm>
            <a:off x="731520" y="5029200"/>
            <a:ext cx="594360" cy="594360"/>
          </a:xfrm>
          <a:prstGeom prst="ellipse">
            <a:avLst/>
          </a:prstGeom>
          <a:solidFill>
            <a:schemeClr val="accent3"/>
          </a:solidFill>
          <a:ln w="12700">
            <a:solidFill>
              <a:schemeClr val="accent3"/>
            </a:solidFill>
            <a:prstDash val="solid"/>
          </a:ln>
        </p:spPr>
      </p:sp>
      <p:pic>
        <p:nvPicPr>
          <p:cNvPr id="15" name="Image 2" descr="FaCheckCircle icon"/>
          <p:cNvPicPr>
            <a:picLocks noChangeAspect="1"/>
          </p:cNvPicPr>
          <p:nvPr/>
        </p:nvPicPr>
        <p:blipFill>
          <a:blip r:embed="rId3"/>
          <a:stretch>
            <a:fillRect/>
          </a:stretch>
        </p:blipFill>
        <p:spPr>
          <a:xfrm>
            <a:off x="880110" y="5177790"/>
            <a:ext cx="297180" cy="297180"/>
          </a:xfrm>
          <a:prstGeom prst="rect">
            <a:avLst/>
          </a:prstGeom>
        </p:spPr>
      </p:pic>
      <p:sp>
        <p:nvSpPr>
          <p:cNvPr id="16" name="Conclusion Text 3"/>
          <p:cNvSpPr txBox="1"/>
          <p:nvPr/>
        </p:nvSpPr>
        <p:spPr>
          <a:xfrm>
            <a:off x="1508760" y="4709160"/>
            <a:ext cx="4389120" cy="1234440"/>
          </a:xfrm>
          <a:prstGeom prst="rect">
            <a:avLst/>
          </a:prstGeom>
          <a:noFill/>
          <a:ln/>
        </p:spPr>
        <p:txBody>
          <a:bodyPr wrap="square" lIns="0" tIns="0" rIns="0" bIns="0" rtlCol="0" anchor="ctr"/>
          <a:lstStyle/>
          <a:p>
            <a:pPr marL="0" indent="0">
              <a:buNone/>
            </a:pPr>
            <a:r>
              <a:rPr lang="en-US" sz="1400" dirty="0">
                <a:solidFill>
                  <a:schemeClr val="tx1"/>
                </a:solidFill>
              </a:rPr>
              <a:t>Encoders close the loop, turning an open-loop stepper system into an accurate trajectory-tracking one.</a:t>
            </a:r>
            <a:endParaRPr lang="en-US" sz="1400" dirty="0"/>
          </a:p>
        </p:txBody>
      </p:sp>
      <p:sp>
        <p:nvSpPr>
          <p:cNvPr id="17" name="Future Scope Panel"/>
          <p:cNvSpPr/>
          <p:nvPr/>
        </p:nvSpPr>
        <p:spPr>
          <a:xfrm>
            <a:off x="6309360" y="1508760"/>
            <a:ext cx="5330952" cy="4526280"/>
          </a:xfrm>
          <a:prstGeom prst="roundRect">
            <a:avLst>
              <a:gd name="adj" fmla="val 2020"/>
            </a:avLst>
          </a:prstGeom>
          <a:solidFill>
            <a:schemeClr val="accent1"/>
          </a:solidFill>
          <a:ln w="12700">
            <a:solidFill>
              <a:schemeClr val="accent1"/>
            </a:solidFill>
            <a:prstDash val="solid"/>
          </a:ln>
        </p:spPr>
      </p:sp>
      <p:sp>
        <p:nvSpPr>
          <p:cNvPr id="18" name="Future Heading"/>
          <p:cNvSpPr txBox="1"/>
          <p:nvPr/>
        </p:nvSpPr>
        <p:spPr>
          <a:xfrm>
            <a:off x="6583680" y="1691640"/>
            <a:ext cx="4754880" cy="365760"/>
          </a:xfrm>
          <a:prstGeom prst="rect">
            <a:avLst/>
          </a:prstGeom>
          <a:noFill/>
          <a:ln/>
        </p:spPr>
        <p:txBody>
          <a:bodyPr wrap="square" lIns="0" tIns="0" rIns="0" bIns="0" rtlCol="0" anchor="t"/>
          <a:lstStyle/>
          <a:p>
            <a:pPr marL="0" indent="0">
              <a:buNone/>
            </a:pPr>
            <a:r>
              <a:rPr lang="en-US" sz="2000" b="1" dirty="0">
                <a:solidFill>
                  <a:schemeClr val="bg1"/>
                </a:solidFill>
              </a:rPr>
              <a:t>Future scope</a:t>
            </a:r>
            <a:endParaRPr lang="en-US" sz="2000" dirty="0"/>
          </a:p>
        </p:txBody>
      </p:sp>
      <p:pic>
        <p:nvPicPr>
          <p:cNvPr id="19" name="Image 3" descr="arrow"/>
          <p:cNvPicPr>
            <a:picLocks noChangeAspect="1"/>
          </p:cNvPicPr>
          <p:nvPr/>
        </p:nvPicPr>
        <p:blipFill>
          <a:blip r:embed="rId4"/>
          <a:stretch>
            <a:fillRect/>
          </a:stretch>
        </p:blipFill>
        <p:spPr>
          <a:xfrm>
            <a:off x="6583680" y="2377440"/>
            <a:ext cx="292608" cy="292608"/>
          </a:xfrm>
          <a:prstGeom prst="rect">
            <a:avLst/>
          </a:prstGeom>
        </p:spPr>
      </p:pic>
      <p:sp>
        <p:nvSpPr>
          <p:cNvPr id="20" name="Future Item 1"/>
          <p:cNvSpPr txBox="1"/>
          <p:nvPr/>
        </p:nvSpPr>
        <p:spPr>
          <a:xfrm>
            <a:off x="7040880" y="2286000"/>
            <a:ext cx="4389120" cy="640080"/>
          </a:xfrm>
          <a:prstGeom prst="rect">
            <a:avLst/>
          </a:prstGeom>
          <a:noFill/>
          <a:ln/>
        </p:spPr>
        <p:txBody>
          <a:bodyPr wrap="square" lIns="0" tIns="0" rIns="0" bIns="0" rtlCol="0" anchor="ctr"/>
          <a:lstStyle/>
          <a:p>
            <a:pPr marL="0" indent="0">
              <a:buNone/>
            </a:pPr>
            <a:r>
              <a:rPr lang="en-US" sz="1400" dirty="0">
                <a:solidFill>
                  <a:schemeClr val="bg1"/>
                </a:solidFill>
              </a:rPr>
              <a:t>Add a 3rd joint / gripper for full pick-and-place capability</a:t>
            </a:r>
            <a:endParaRPr lang="en-US" sz="1400" dirty="0"/>
          </a:p>
        </p:txBody>
      </p:sp>
      <p:pic>
        <p:nvPicPr>
          <p:cNvPr id="21" name="Image 4" descr="arrow"/>
          <p:cNvPicPr>
            <a:picLocks noChangeAspect="1"/>
          </p:cNvPicPr>
          <p:nvPr/>
        </p:nvPicPr>
        <p:blipFill>
          <a:blip r:embed="rId4"/>
          <a:stretch>
            <a:fillRect/>
          </a:stretch>
        </p:blipFill>
        <p:spPr>
          <a:xfrm>
            <a:off x="6583680" y="3108960"/>
            <a:ext cx="292608" cy="292608"/>
          </a:xfrm>
          <a:prstGeom prst="rect">
            <a:avLst/>
          </a:prstGeom>
        </p:spPr>
      </p:pic>
      <p:sp>
        <p:nvSpPr>
          <p:cNvPr id="22" name="Future Item 2"/>
          <p:cNvSpPr txBox="1"/>
          <p:nvPr/>
        </p:nvSpPr>
        <p:spPr>
          <a:xfrm>
            <a:off x="7040880" y="3017520"/>
            <a:ext cx="4389120" cy="640080"/>
          </a:xfrm>
          <a:prstGeom prst="rect">
            <a:avLst/>
          </a:prstGeom>
          <a:noFill/>
          <a:ln/>
        </p:spPr>
        <p:txBody>
          <a:bodyPr wrap="square" lIns="0" tIns="0" rIns="0" bIns="0" rtlCol="0" anchor="ctr"/>
          <a:lstStyle/>
          <a:p>
            <a:pPr marL="0" indent="0">
              <a:buNone/>
            </a:pPr>
            <a:r>
              <a:rPr lang="en-US" sz="1400" dirty="0">
                <a:solidFill>
                  <a:schemeClr val="bg1"/>
                </a:solidFill>
              </a:rPr>
              <a:t>Introduce PID tuning on the feedback loop for faster, smoother correction</a:t>
            </a:r>
            <a:endParaRPr lang="en-US" sz="1400" dirty="0"/>
          </a:p>
        </p:txBody>
      </p:sp>
      <p:pic>
        <p:nvPicPr>
          <p:cNvPr id="23" name="Image 5" descr="arrow"/>
          <p:cNvPicPr>
            <a:picLocks noChangeAspect="1"/>
          </p:cNvPicPr>
          <p:nvPr/>
        </p:nvPicPr>
        <p:blipFill>
          <a:blip r:embed="rId4"/>
          <a:stretch>
            <a:fillRect/>
          </a:stretch>
        </p:blipFill>
        <p:spPr>
          <a:xfrm>
            <a:off x="6583680" y="3840480"/>
            <a:ext cx="292608" cy="292608"/>
          </a:xfrm>
          <a:prstGeom prst="rect">
            <a:avLst/>
          </a:prstGeom>
        </p:spPr>
      </p:pic>
      <p:sp>
        <p:nvSpPr>
          <p:cNvPr id="24" name="Future Item 3"/>
          <p:cNvSpPr txBox="1"/>
          <p:nvPr/>
        </p:nvSpPr>
        <p:spPr>
          <a:xfrm>
            <a:off x="7040880" y="3749040"/>
            <a:ext cx="4389120" cy="640080"/>
          </a:xfrm>
          <a:prstGeom prst="rect">
            <a:avLst/>
          </a:prstGeom>
          <a:noFill/>
          <a:ln/>
        </p:spPr>
        <p:txBody>
          <a:bodyPr wrap="square" lIns="0" tIns="0" rIns="0" bIns="0" rtlCol="0" anchor="ctr"/>
          <a:lstStyle/>
          <a:p>
            <a:pPr marL="0" indent="0">
              <a:buNone/>
            </a:pPr>
            <a:r>
              <a:rPr lang="en-US" sz="1400" dirty="0">
                <a:solidFill>
                  <a:schemeClr val="bg1"/>
                </a:solidFill>
              </a:rPr>
              <a:t>Add vision-based feedback for closed-loop position verification</a:t>
            </a:r>
            <a:endParaRPr lang="en-US" sz="1400" dirty="0"/>
          </a:p>
        </p:txBody>
      </p:sp>
      <p:pic>
        <p:nvPicPr>
          <p:cNvPr id="25" name="Image 6" descr="arrow"/>
          <p:cNvPicPr>
            <a:picLocks noChangeAspect="1"/>
          </p:cNvPicPr>
          <p:nvPr/>
        </p:nvPicPr>
        <p:blipFill>
          <a:blip r:embed="rId4"/>
          <a:stretch>
            <a:fillRect/>
          </a:stretch>
        </p:blipFill>
        <p:spPr>
          <a:xfrm>
            <a:off x="6583680" y="4572000"/>
            <a:ext cx="292608" cy="292608"/>
          </a:xfrm>
          <a:prstGeom prst="rect">
            <a:avLst/>
          </a:prstGeom>
        </p:spPr>
      </p:pic>
      <p:sp>
        <p:nvSpPr>
          <p:cNvPr id="26" name="Future Item 4"/>
          <p:cNvSpPr txBox="1"/>
          <p:nvPr/>
        </p:nvSpPr>
        <p:spPr>
          <a:xfrm>
            <a:off x="7040880" y="4480560"/>
            <a:ext cx="4389120" cy="640080"/>
          </a:xfrm>
          <a:prstGeom prst="rect">
            <a:avLst/>
          </a:prstGeom>
          <a:noFill/>
          <a:ln/>
        </p:spPr>
        <p:txBody>
          <a:bodyPr wrap="square" lIns="0" tIns="0" rIns="0" bIns="0" rtlCol="0" anchor="ctr"/>
          <a:lstStyle/>
          <a:p>
            <a:pPr marL="0" indent="0">
              <a:buNone/>
            </a:pPr>
            <a:r>
              <a:rPr lang="en-US" sz="1400" dirty="0">
                <a:solidFill>
                  <a:schemeClr val="bg1"/>
                </a:solidFill>
              </a:rPr>
              <a:t>Enable wireless (Bluetooth / Wi-Fi) trajectory upload and control</a:t>
            </a:r>
            <a:endParaRPr lang="en-US" sz="1400" dirty="0"/>
          </a:p>
        </p:txBody>
      </p:sp>
      <p:pic>
        <p:nvPicPr>
          <p:cNvPr id="27" name="Image 7" descr="arrow"/>
          <p:cNvPicPr>
            <a:picLocks noChangeAspect="1"/>
          </p:cNvPicPr>
          <p:nvPr/>
        </p:nvPicPr>
        <p:blipFill>
          <a:blip r:embed="rId4"/>
          <a:stretch>
            <a:fillRect/>
          </a:stretch>
        </p:blipFill>
        <p:spPr>
          <a:xfrm>
            <a:off x="6583680" y="5303520"/>
            <a:ext cx="292608" cy="292608"/>
          </a:xfrm>
          <a:prstGeom prst="rect">
            <a:avLst/>
          </a:prstGeom>
        </p:spPr>
      </p:pic>
      <p:sp>
        <p:nvSpPr>
          <p:cNvPr id="28" name="Future Item 5"/>
          <p:cNvSpPr txBox="1"/>
          <p:nvPr/>
        </p:nvSpPr>
        <p:spPr>
          <a:xfrm>
            <a:off x="7040880" y="5212080"/>
            <a:ext cx="4389120" cy="640080"/>
          </a:xfrm>
          <a:prstGeom prst="rect">
            <a:avLst/>
          </a:prstGeom>
          <a:noFill/>
          <a:ln/>
        </p:spPr>
        <p:txBody>
          <a:bodyPr wrap="square" lIns="0" tIns="0" rIns="0" bIns="0" rtlCol="0" anchor="ctr"/>
          <a:lstStyle/>
          <a:p>
            <a:pPr marL="0" indent="0">
              <a:buNone/>
            </a:pPr>
            <a:r>
              <a:rPr lang="en-US" sz="1400" dirty="0">
                <a:solidFill>
                  <a:schemeClr val="bg1"/>
                </a:solidFill>
              </a:rPr>
              <a:t>Optimise link lengths and motor sizing for higher payload capacity</a:t>
            </a:r>
            <a:endParaRPr lang="en-US" sz="1400" dirty="0"/>
          </a:p>
        </p:txBody>
      </p:sp>
      <p:sp>
        <p:nvSpPr>
          <p:cNvPr id="4"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Conclusions (contd.)</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Applications of the 2-DOF trajectory-controlled arm</a:t>
            </a:r>
            <a:endParaRPr lang="en-US" sz="1600" dirty="0"/>
          </a:p>
        </p:txBody>
      </p:sp>
      <p:sp>
        <p:nvSpPr>
          <p:cNvPr id="5" name="Application Card 1"/>
          <p:cNvSpPr/>
          <p:nvPr/>
        </p:nvSpPr>
        <p:spPr>
          <a:xfrm>
            <a:off x="548640" y="1508760"/>
            <a:ext cx="3520440" cy="2194560"/>
          </a:xfrm>
          <a:prstGeom prst="roundRect">
            <a:avLst>
              <a:gd name="adj" fmla="val 4167"/>
            </a:avLst>
          </a:prstGeom>
          <a:solidFill>
            <a:schemeClr val="bg2"/>
          </a:solidFill>
          <a:ln w="9525">
            <a:solidFill>
              <a:schemeClr val="accent6">
                <a:alpha val="45000"/>
              </a:schemeClr>
            </a:solidFill>
            <a:prstDash val="solid"/>
          </a:ln>
        </p:spPr>
      </p:sp>
      <p:sp>
        <p:nvSpPr>
          <p:cNvPr id="6" name="IconBadge FaIndustry"/>
          <p:cNvSpPr/>
          <p:nvPr/>
        </p:nvSpPr>
        <p:spPr>
          <a:xfrm>
            <a:off x="777240" y="1737360"/>
            <a:ext cx="640080" cy="640080"/>
          </a:xfrm>
          <a:prstGeom prst="ellipse">
            <a:avLst/>
          </a:prstGeom>
          <a:solidFill>
            <a:schemeClr val="accent1"/>
          </a:solidFill>
          <a:ln w="12700">
            <a:solidFill>
              <a:schemeClr val="accent1"/>
            </a:solidFill>
            <a:prstDash val="solid"/>
          </a:ln>
        </p:spPr>
      </p:sp>
      <p:pic>
        <p:nvPicPr>
          <p:cNvPr id="7" name="Image 0" descr="FaIndustry icon"/>
          <p:cNvPicPr>
            <a:picLocks noChangeAspect="1"/>
          </p:cNvPicPr>
          <p:nvPr/>
        </p:nvPicPr>
        <p:blipFill>
          <a:blip r:embed="rId3"/>
          <a:stretch>
            <a:fillRect/>
          </a:stretch>
        </p:blipFill>
        <p:spPr>
          <a:xfrm>
            <a:off x="937260" y="1897380"/>
            <a:ext cx="320040" cy="320040"/>
          </a:xfrm>
          <a:prstGeom prst="rect">
            <a:avLst/>
          </a:prstGeom>
        </p:spPr>
      </p:pic>
      <p:sp>
        <p:nvSpPr>
          <p:cNvPr id="8" name="Application Title 1"/>
          <p:cNvSpPr txBox="1"/>
          <p:nvPr/>
        </p:nvSpPr>
        <p:spPr>
          <a:xfrm>
            <a:off x="777240" y="2514600"/>
            <a:ext cx="3108960" cy="320040"/>
          </a:xfrm>
          <a:prstGeom prst="rect">
            <a:avLst/>
          </a:prstGeom>
          <a:noFill/>
          <a:ln/>
        </p:spPr>
        <p:txBody>
          <a:bodyPr wrap="square" lIns="0" tIns="0" rIns="0" bIns="0" rtlCol="0" anchor="t"/>
          <a:lstStyle/>
          <a:p>
            <a:pPr marL="0" indent="0">
              <a:buNone/>
            </a:pPr>
            <a:r>
              <a:rPr lang="en-US" sz="1800" b="1" dirty="0">
                <a:solidFill>
                  <a:schemeClr val="tx2"/>
                </a:solidFill>
              </a:rPr>
              <a:t>Pick &amp; Place Automation</a:t>
            </a:r>
            <a:endParaRPr lang="en-US" sz="1800" dirty="0"/>
          </a:p>
        </p:txBody>
      </p:sp>
      <p:sp>
        <p:nvSpPr>
          <p:cNvPr id="9" name="Application Text 1"/>
          <p:cNvSpPr txBox="1"/>
          <p:nvPr/>
        </p:nvSpPr>
        <p:spPr>
          <a:xfrm>
            <a:off x="777240" y="2926080"/>
            <a:ext cx="3108960" cy="685800"/>
          </a:xfrm>
          <a:prstGeom prst="rect">
            <a:avLst/>
          </a:prstGeom>
          <a:noFill/>
          <a:ln/>
        </p:spPr>
        <p:txBody>
          <a:bodyPr wrap="square" lIns="0" tIns="0" rIns="0" bIns="0" rtlCol="0" anchor="t"/>
          <a:lstStyle/>
          <a:p>
            <a:pPr marL="0" indent="0">
              <a:buNone/>
            </a:pPr>
            <a:r>
              <a:rPr lang="en-US" sz="1400" dirty="0">
                <a:solidFill>
                  <a:schemeClr val="tx1"/>
                </a:solidFill>
              </a:rPr>
              <a:t>Moving small parts between fixed points on an assembly line.</a:t>
            </a:r>
            <a:endParaRPr lang="en-US" sz="1400" dirty="0"/>
          </a:p>
        </p:txBody>
      </p:sp>
      <p:sp>
        <p:nvSpPr>
          <p:cNvPr id="10" name="Application Card 2"/>
          <p:cNvSpPr/>
          <p:nvPr/>
        </p:nvSpPr>
        <p:spPr>
          <a:xfrm>
            <a:off x="4334256" y="1508760"/>
            <a:ext cx="3520440" cy="2194560"/>
          </a:xfrm>
          <a:prstGeom prst="roundRect">
            <a:avLst>
              <a:gd name="adj" fmla="val 4167"/>
            </a:avLst>
          </a:prstGeom>
          <a:solidFill>
            <a:schemeClr val="bg2"/>
          </a:solidFill>
          <a:ln w="9525">
            <a:solidFill>
              <a:schemeClr val="accent6">
                <a:alpha val="45000"/>
              </a:schemeClr>
            </a:solidFill>
            <a:prstDash val="solid"/>
          </a:ln>
        </p:spPr>
      </p:sp>
      <p:sp>
        <p:nvSpPr>
          <p:cNvPr id="11" name="IconBadge FaPencilAlt"/>
          <p:cNvSpPr/>
          <p:nvPr/>
        </p:nvSpPr>
        <p:spPr>
          <a:xfrm>
            <a:off x="4562856" y="1737360"/>
            <a:ext cx="640080" cy="640080"/>
          </a:xfrm>
          <a:prstGeom prst="ellipse">
            <a:avLst/>
          </a:prstGeom>
          <a:solidFill>
            <a:schemeClr val="accent2"/>
          </a:solidFill>
          <a:ln w="12700">
            <a:solidFill>
              <a:schemeClr val="accent2"/>
            </a:solidFill>
            <a:prstDash val="solid"/>
          </a:ln>
        </p:spPr>
      </p:sp>
      <p:pic>
        <p:nvPicPr>
          <p:cNvPr id="12" name="Image 1" descr="FaPencilAlt icon"/>
          <p:cNvPicPr>
            <a:picLocks noChangeAspect="1"/>
          </p:cNvPicPr>
          <p:nvPr/>
        </p:nvPicPr>
        <p:blipFill>
          <a:blip r:embed="rId4"/>
          <a:stretch>
            <a:fillRect/>
          </a:stretch>
        </p:blipFill>
        <p:spPr>
          <a:xfrm>
            <a:off x="4722876" y="1897380"/>
            <a:ext cx="320040" cy="320040"/>
          </a:xfrm>
          <a:prstGeom prst="rect">
            <a:avLst/>
          </a:prstGeom>
        </p:spPr>
      </p:pic>
      <p:sp>
        <p:nvSpPr>
          <p:cNvPr id="13" name="Application Title 2"/>
          <p:cNvSpPr txBox="1"/>
          <p:nvPr/>
        </p:nvSpPr>
        <p:spPr>
          <a:xfrm>
            <a:off x="4562856" y="2514600"/>
            <a:ext cx="3108960" cy="320040"/>
          </a:xfrm>
          <a:prstGeom prst="rect">
            <a:avLst/>
          </a:prstGeom>
          <a:noFill/>
          <a:ln/>
        </p:spPr>
        <p:txBody>
          <a:bodyPr wrap="square" lIns="0" tIns="0" rIns="0" bIns="0" rtlCol="0" anchor="t"/>
          <a:lstStyle/>
          <a:p>
            <a:pPr marL="0" indent="0">
              <a:buNone/>
            </a:pPr>
            <a:r>
              <a:rPr lang="en-US" sz="1800" b="1" dirty="0">
                <a:solidFill>
                  <a:schemeClr val="tx2"/>
                </a:solidFill>
              </a:rPr>
              <a:t>2D Plotting / Drawing</a:t>
            </a:r>
            <a:endParaRPr lang="en-US" sz="1800" dirty="0"/>
          </a:p>
        </p:txBody>
      </p:sp>
      <p:sp>
        <p:nvSpPr>
          <p:cNvPr id="14" name="Application Text 2"/>
          <p:cNvSpPr txBox="1"/>
          <p:nvPr/>
        </p:nvSpPr>
        <p:spPr>
          <a:xfrm>
            <a:off x="4562856" y="2926080"/>
            <a:ext cx="3108960" cy="685800"/>
          </a:xfrm>
          <a:prstGeom prst="rect">
            <a:avLst/>
          </a:prstGeom>
          <a:noFill/>
          <a:ln/>
        </p:spPr>
        <p:txBody>
          <a:bodyPr wrap="square" lIns="0" tIns="0" rIns="0" bIns="0" rtlCol="0" anchor="t"/>
          <a:lstStyle/>
          <a:p>
            <a:pPr marL="0" indent="0">
              <a:buNone/>
            </a:pPr>
            <a:r>
              <a:rPr lang="en-US" sz="1400" dirty="0">
                <a:solidFill>
                  <a:schemeClr val="tx1"/>
                </a:solidFill>
              </a:rPr>
              <a:t>Tracing shapes, text or CNC-style patterns on a flat surface.</a:t>
            </a:r>
            <a:endParaRPr lang="en-US" sz="1400" dirty="0"/>
          </a:p>
        </p:txBody>
      </p:sp>
      <p:sp>
        <p:nvSpPr>
          <p:cNvPr id="15" name="Application Card 3"/>
          <p:cNvSpPr/>
          <p:nvPr/>
        </p:nvSpPr>
        <p:spPr>
          <a:xfrm>
            <a:off x="8119872" y="1508760"/>
            <a:ext cx="3520440" cy="2194560"/>
          </a:xfrm>
          <a:prstGeom prst="roundRect">
            <a:avLst>
              <a:gd name="adj" fmla="val 4167"/>
            </a:avLst>
          </a:prstGeom>
          <a:solidFill>
            <a:schemeClr val="bg2"/>
          </a:solidFill>
          <a:ln w="9525">
            <a:solidFill>
              <a:schemeClr val="accent6">
                <a:alpha val="45000"/>
              </a:schemeClr>
            </a:solidFill>
            <a:prstDash val="solid"/>
          </a:ln>
        </p:spPr>
      </p:sp>
      <p:sp>
        <p:nvSpPr>
          <p:cNvPr id="16" name="IconBadge FaGraduationCap"/>
          <p:cNvSpPr/>
          <p:nvPr/>
        </p:nvSpPr>
        <p:spPr>
          <a:xfrm>
            <a:off x="8348472" y="1737360"/>
            <a:ext cx="640080" cy="640080"/>
          </a:xfrm>
          <a:prstGeom prst="ellipse">
            <a:avLst/>
          </a:prstGeom>
          <a:solidFill>
            <a:schemeClr val="accent3"/>
          </a:solidFill>
          <a:ln w="12700">
            <a:solidFill>
              <a:schemeClr val="accent3"/>
            </a:solidFill>
            <a:prstDash val="solid"/>
          </a:ln>
        </p:spPr>
      </p:sp>
      <p:pic>
        <p:nvPicPr>
          <p:cNvPr id="17" name="Image 2" descr="FaGraduationCap icon"/>
          <p:cNvPicPr>
            <a:picLocks noChangeAspect="1"/>
          </p:cNvPicPr>
          <p:nvPr/>
        </p:nvPicPr>
        <p:blipFill>
          <a:blip r:embed="rId5"/>
          <a:stretch>
            <a:fillRect/>
          </a:stretch>
        </p:blipFill>
        <p:spPr>
          <a:xfrm>
            <a:off x="8508492" y="1897380"/>
            <a:ext cx="320040" cy="320040"/>
          </a:xfrm>
          <a:prstGeom prst="rect">
            <a:avLst/>
          </a:prstGeom>
        </p:spPr>
      </p:pic>
      <p:sp>
        <p:nvSpPr>
          <p:cNvPr id="18" name="Application Title 3"/>
          <p:cNvSpPr txBox="1"/>
          <p:nvPr/>
        </p:nvSpPr>
        <p:spPr>
          <a:xfrm>
            <a:off x="8348472" y="2514600"/>
            <a:ext cx="3108960" cy="320040"/>
          </a:xfrm>
          <a:prstGeom prst="rect">
            <a:avLst/>
          </a:prstGeom>
          <a:noFill/>
          <a:ln/>
        </p:spPr>
        <p:txBody>
          <a:bodyPr wrap="square" lIns="0" tIns="0" rIns="0" bIns="0" rtlCol="0" anchor="t"/>
          <a:lstStyle/>
          <a:p>
            <a:pPr marL="0" indent="0">
              <a:buNone/>
            </a:pPr>
            <a:r>
              <a:rPr lang="en-US" sz="1800" b="1" dirty="0">
                <a:solidFill>
                  <a:schemeClr val="tx2"/>
                </a:solidFill>
              </a:rPr>
              <a:t>Educational Robotics</a:t>
            </a:r>
            <a:endParaRPr lang="en-US" sz="1800" dirty="0"/>
          </a:p>
        </p:txBody>
      </p:sp>
      <p:sp>
        <p:nvSpPr>
          <p:cNvPr id="19" name="Application Text 3"/>
          <p:cNvSpPr txBox="1"/>
          <p:nvPr/>
        </p:nvSpPr>
        <p:spPr>
          <a:xfrm>
            <a:off x="8348472" y="2926080"/>
            <a:ext cx="3108960" cy="685800"/>
          </a:xfrm>
          <a:prstGeom prst="rect">
            <a:avLst/>
          </a:prstGeom>
          <a:noFill/>
          <a:ln/>
        </p:spPr>
        <p:txBody>
          <a:bodyPr wrap="square" lIns="0" tIns="0" rIns="0" bIns="0" rtlCol="0" anchor="t"/>
          <a:lstStyle/>
          <a:p>
            <a:pPr marL="0" indent="0">
              <a:buNone/>
            </a:pPr>
            <a:r>
              <a:rPr lang="en-US" sz="1400" dirty="0">
                <a:solidFill>
                  <a:schemeClr val="tx1"/>
                </a:solidFill>
              </a:rPr>
              <a:t>Teaching kinematics, control loops and embedded motor control.</a:t>
            </a:r>
            <a:endParaRPr lang="en-US" sz="1400" dirty="0"/>
          </a:p>
        </p:txBody>
      </p:sp>
      <p:sp>
        <p:nvSpPr>
          <p:cNvPr id="20" name="Application Card 4"/>
          <p:cNvSpPr/>
          <p:nvPr/>
        </p:nvSpPr>
        <p:spPr>
          <a:xfrm>
            <a:off x="548640" y="3931920"/>
            <a:ext cx="3520440" cy="2194560"/>
          </a:xfrm>
          <a:prstGeom prst="roundRect">
            <a:avLst>
              <a:gd name="adj" fmla="val 4167"/>
            </a:avLst>
          </a:prstGeom>
          <a:solidFill>
            <a:schemeClr val="bg2"/>
          </a:solidFill>
          <a:ln w="9525">
            <a:solidFill>
              <a:schemeClr val="accent6">
                <a:alpha val="45000"/>
              </a:schemeClr>
            </a:solidFill>
            <a:prstDash val="solid"/>
          </a:ln>
        </p:spPr>
      </p:sp>
      <p:sp>
        <p:nvSpPr>
          <p:cNvPr id="21" name="IconBadge FaBone"/>
          <p:cNvSpPr/>
          <p:nvPr/>
        </p:nvSpPr>
        <p:spPr>
          <a:xfrm>
            <a:off x="777240" y="4160520"/>
            <a:ext cx="640080" cy="640080"/>
          </a:xfrm>
          <a:prstGeom prst="ellipse">
            <a:avLst/>
          </a:prstGeom>
          <a:solidFill>
            <a:schemeClr val="accent1"/>
          </a:solidFill>
          <a:ln w="12700">
            <a:solidFill>
              <a:schemeClr val="accent1"/>
            </a:solidFill>
            <a:prstDash val="solid"/>
          </a:ln>
        </p:spPr>
      </p:sp>
      <p:pic>
        <p:nvPicPr>
          <p:cNvPr id="22" name="Image 3" descr="FaBone icon"/>
          <p:cNvPicPr>
            <a:picLocks noChangeAspect="1"/>
          </p:cNvPicPr>
          <p:nvPr/>
        </p:nvPicPr>
        <p:blipFill>
          <a:blip r:embed="rId6"/>
          <a:stretch>
            <a:fillRect/>
          </a:stretch>
        </p:blipFill>
        <p:spPr>
          <a:xfrm>
            <a:off x="937260" y="4320540"/>
            <a:ext cx="320040" cy="320040"/>
          </a:xfrm>
          <a:prstGeom prst="rect">
            <a:avLst/>
          </a:prstGeom>
        </p:spPr>
      </p:pic>
      <p:sp>
        <p:nvSpPr>
          <p:cNvPr id="23" name="Application Title 4"/>
          <p:cNvSpPr txBox="1"/>
          <p:nvPr/>
        </p:nvSpPr>
        <p:spPr>
          <a:xfrm>
            <a:off x="777240" y="4937760"/>
            <a:ext cx="3108960" cy="320040"/>
          </a:xfrm>
          <a:prstGeom prst="rect">
            <a:avLst/>
          </a:prstGeom>
          <a:noFill/>
          <a:ln/>
        </p:spPr>
        <p:txBody>
          <a:bodyPr wrap="square" lIns="0" tIns="0" rIns="0" bIns="0" rtlCol="0" anchor="t"/>
          <a:lstStyle/>
          <a:p>
            <a:pPr marL="0" indent="0">
              <a:buNone/>
            </a:pPr>
            <a:r>
              <a:rPr lang="en-US" sz="1800" b="1" dirty="0">
                <a:solidFill>
                  <a:schemeClr val="tx2"/>
                </a:solidFill>
              </a:rPr>
              <a:t>Prototype for Prosthetics</a:t>
            </a:r>
            <a:endParaRPr lang="en-US" sz="1800" dirty="0"/>
          </a:p>
        </p:txBody>
      </p:sp>
      <p:sp>
        <p:nvSpPr>
          <p:cNvPr id="24" name="Application Text 4"/>
          <p:cNvSpPr txBox="1"/>
          <p:nvPr/>
        </p:nvSpPr>
        <p:spPr>
          <a:xfrm>
            <a:off x="777240" y="5349240"/>
            <a:ext cx="3108960" cy="685800"/>
          </a:xfrm>
          <a:prstGeom prst="rect">
            <a:avLst/>
          </a:prstGeom>
          <a:noFill/>
          <a:ln/>
        </p:spPr>
        <p:txBody>
          <a:bodyPr wrap="square" lIns="0" tIns="0" rIns="0" bIns="0" rtlCol="0" anchor="t"/>
          <a:lstStyle/>
          <a:p>
            <a:pPr marL="0" indent="0">
              <a:buNone/>
            </a:pPr>
            <a:r>
              <a:rPr lang="en-US" sz="1400" dirty="0">
                <a:solidFill>
                  <a:schemeClr val="tx1"/>
                </a:solidFill>
              </a:rPr>
              <a:t>Testbed for lightweight, precisely controlled limb segments.</a:t>
            </a:r>
            <a:endParaRPr lang="en-US" sz="1400" dirty="0"/>
          </a:p>
        </p:txBody>
      </p:sp>
      <p:sp>
        <p:nvSpPr>
          <p:cNvPr id="25" name="Application Card 5"/>
          <p:cNvSpPr/>
          <p:nvPr/>
        </p:nvSpPr>
        <p:spPr>
          <a:xfrm>
            <a:off x="4334256" y="3931920"/>
            <a:ext cx="3520440" cy="2194560"/>
          </a:xfrm>
          <a:prstGeom prst="roundRect">
            <a:avLst>
              <a:gd name="adj" fmla="val 4167"/>
            </a:avLst>
          </a:prstGeom>
          <a:solidFill>
            <a:schemeClr val="bg2"/>
          </a:solidFill>
          <a:ln w="9525">
            <a:solidFill>
              <a:schemeClr val="accent6">
                <a:alpha val="45000"/>
              </a:schemeClr>
            </a:solidFill>
            <a:prstDash val="solid"/>
          </a:ln>
        </p:spPr>
      </p:sp>
      <p:sp>
        <p:nvSpPr>
          <p:cNvPr id="26" name="IconBadge FaTools"/>
          <p:cNvSpPr/>
          <p:nvPr/>
        </p:nvSpPr>
        <p:spPr>
          <a:xfrm>
            <a:off x="4562856" y="4160520"/>
            <a:ext cx="640080" cy="640080"/>
          </a:xfrm>
          <a:prstGeom prst="ellipse">
            <a:avLst/>
          </a:prstGeom>
          <a:solidFill>
            <a:schemeClr val="accent2"/>
          </a:solidFill>
          <a:ln w="12700">
            <a:solidFill>
              <a:schemeClr val="accent2"/>
            </a:solidFill>
            <a:prstDash val="solid"/>
          </a:ln>
        </p:spPr>
      </p:sp>
      <p:pic>
        <p:nvPicPr>
          <p:cNvPr id="27" name="Image 4" descr="FaTools icon"/>
          <p:cNvPicPr>
            <a:picLocks noChangeAspect="1"/>
          </p:cNvPicPr>
          <p:nvPr/>
        </p:nvPicPr>
        <p:blipFill>
          <a:blip r:embed="rId7"/>
          <a:stretch>
            <a:fillRect/>
          </a:stretch>
        </p:blipFill>
        <p:spPr>
          <a:xfrm>
            <a:off x="4722876" y="4320540"/>
            <a:ext cx="320040" cy="320040"/>
          </a:xfrm>
          <a:prstGeom prst="rect">
            <a:avLst/>
          </a:prstGeom>
        </p:spPr>
      </p:pic>
      <p:sp>
        <p:nvSpPr>
          <p:cNvPr id="28" name="Application Title 5"/>
          <p:cNvSpPr txBox="1"/>
          <p:nvPr/>
        </p:nvSpPr>
        <p:spPr>
          <a:xfrm>
            <a:off x="4562856" y="4937760"/>
            <a:ext cx="3108960" cy="320040"/>
          </a:xfrm>
          <a:prstGeom prst="rect">
            <a:avLst/>
          </a:prstGeom>
          <a:noFill/>
          <a:ln/>
        </p:spPr>
        <p:txBody>
          <a:bodyPr wrap="square" lIns="0" tIns="0" rIns="0" bIns="0" rtlCol="0" anchor="t"/>
          <a:lstStyle/>
          <a:p>
            <a:pPr marL="0" indent="0">
              <a:buNone/>
            </a:pPr>
            <a:r>
              <a:rPr lang="en-US" sz="1800" b="1" dirty="0">
                <a:solidFill>
                  <a:schemeClr val="tx2"/>
                </a:solidFill>
              </a:rPr>
              <a:t>Lab &amp; Assembly Fixtures</a:t>
            </a:r>
            <a:endParaRPr lang="en-US" sz="1800" dirty="0"/>
          </a:p>
        </p:txBody>
      </p:sp>
      <p:sp>
        <p:nvSpPr>
          <p:cNvPr id="29" name="Application Text 5"/>
          <p:cNvSpPr txBox="1"/>
          <p:nvPr/>
        </p:nvSpPr>
        <p:spPr>
          <a:xfrm>
            <a:off x="4562856" y="5349240"/>
            <a:ext cx="3108960" cy="685800"/>
          </a:xfrm>
          <a:prstGeom prst="rect">
            <a:avLst/>
          </a:prstGeom>
          <a:noFill/>
          <a:ln/>
        </p:spPr>
        <p:txBody>
          <a:bodyPr wrap="square" lIns="0" tIns="0" rIns="0" bIns="0" rtlCol="0" anchor="t"/>
          <a:lstStyle/>
          <a:p>
            <a:pPr marL="0" indent="0">
              <a:buNone/>
            </a:pPr>
            <a:r>
              <a:rPr lang="en-US" sz="1400" dirty="0">
                <a:solidFill>
                  <a:schemeClr val="tx1"/>
                </a:solidFill>
              </a:rPr>
              <a:t>Repeatable low-cost positioning for inspection or dispensing.</a:t>
            </a:r>
            <a:endParaRPr lang="en-US" sz="1400" dirty="0"/>
          </a:p>
        </p:txBody>
      </p:sp>
      <p:sp>
        <p:nvSpPr>
          <p:cNvPr id="30" name="Application Card 6"/>
          <p:cNvSpPr/>
          <p:nvPr/>
        </p:nvSpPr>
        <p:spPr>
          <a:xfrm>
            <a:off x="8119872" y="3931920"/>
            <a:ext cx="3520440" cy="2194560"/>
          </a:xfrm>
          <a:prstGeom prst="roundRect">
            <a:avLst>
              <a:gd name="adj" fmla="val 4167"/>
            </a:avLst>
          </a:prstGeom>
          <a:solidFill>
            <a:schemeClr val="bg2"/>
          </a:solidFill>
          <a:ln w="9525">
            <a:solidFill>
              <a:schemeClr val="accent6">
                <a:alpha val="45000"/>
              </a:schemeClr>
            </a:solidFill>
            <a:prstDash val="solid"/>
          </a:ln>
        </p:spPr>
      </p:sp>
      <p:sp>
        <p:nvSpPr>
          <p:cNvPr id="31" name="IconBadge FaChartLine"/>
          <p:cNvSpPr/>
          <p:nvPr/>
        </p:nvSpPr>
        <p:spPr>
          <a:xfrm>
            <a:off x="8348472" y="4160520"/>
            <a:ext cx="640080" cy="640080"/>
          </a:xfrm>
          <a:prstGeom prst="ellipse">
            <a:avLst/>
          </a:prstGeom>
          <a:solidFill>
            <a:schemeClr val="accent3"/>
          </a:solidFill>
          <a:ln w="12700">
            <a:solidFill>
              <a:schemeClr val="accent3"/>
            </a:solidFill>
            <a:prstDash val="solid"/>
          </a:ln>
        </p:spPr>
      </p:sp>
      <p:pic>
        <p:nvPicPr>
          <p:cNvPr id="32" name="Image 5" descr="FaChartLine icon"/>
          <p:cNvPicPr>
            <a:picLocks noChangeAspect="1"/>
          </p:cNvPicPr>
          <p:nvPr/>
        </p:nvPicPr>
        <p:blipFill>
          <a:blip r:embed="rId8"/>
          <a:stretch>
            <a:fillRect/>
          </a:stretch>
        </p:blipFill>
        <p:spPr>
          <a:xfrm>
            <a:off x="8508492" y="4320540"/>
            <a:ext cx="320040" cy="320040"/>
          </a:xfrm>
          <a:prstGeom prst="rect">
            <a:avLst/>
          </a:prstGeom>
        </p:spPr>
      </p:pic>
      <p:sp>
        <p:nvSpPr>
          <p:cNvPr id="33" name="Application Title 6"/>
          <p:cNvSpPr txBox="1"/>
          <p:nvPr/>
        </p:nvSpPr>
        <p:spPr>
          <a:xfrm>
            <a:off x="8348472" y="4937760"/>
            <a:ext cx="3108960" cy="320040"/>
          </a:xfrm>
          <a:prstGeom prst="rect">
            <a:avLst/>
          </a:prstGeom>
          <a:noFill/>
          <a:ln/>
        </p:spPr>
        <p:txBody>
          <a:bodyPr wrap="square" lIns="0" tIns="0" rIns="0" bIns="0" rtlCol="0" anchor="t"/>
          <a:lstStyle/>
          <a:p>
            <a:pPr marL="0" indent="0">
              <a:buNone/>
            </a:pPr>
            <a:r>
              <a:rPr lang="en-US" sz="1800" b="1" dirty="0">
                <a:solidFill>
                  <a:schemeClr val="tx2"/>
                </a:solidFill>
              </a:rPr>
              <a:t>Research on Path Tracking</a:t>
            </a:r>
            <a:endParaRPr lang="en-US" sz="1800" dirty="0"/>
          </a:p>
        </p:txBody>
      </p:sp>
      <p:sp>
        <p:nvSpPr>
          <p:cNvPr id="34" name="Application Text 6"/>
          <p:cNvSpPr txBox="1"/>
          <p:nvPr/>
        </p:nvSpPr>
        <p:spPr>
          <a:xfrm>
            <a:off x="8348472" y="5349240"/>
            <a:ext cx="3108960" cy="685800"/>
          </a:xfrm>
          <a:prstGeom prst="rect">
            <a:avLst/>
          </a:prstGeom>
          <a:noFill/>
          <a:ln/>
        </p:spPr>
        <p:txBody>
          <a:bodyPr wrap="square" lIns="0" tIns="0" rIns="0" bIns="0" rtlCol="0" anchor="t"/>
          <a:lstStyle/>
          <a:p>
            <a:pPr marL="0" indent="0">
              <a:buNone/>
            </a:pPr>
            <a:r>
              <a:rPr lang="en-US" sz="1400" dirty="0">
                <a:solidFill>
                  <a:schemeClr val="tx1"/>
                </a:solidFill>
              </a:rPr>
              <a:t>Platform for testing trajectory &amp; control algorithms cheaply.</a:t>
            </a:r>
            <a:endParaRPr lang="en-US" sz="1400" dirty="0"/>
          </a:p>
        </p:txBody>
      </p:sp>
      <p:sp>
        <p:nvSpPr>
          <p:cNvPr id="4"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0241280" cy="658368"/>
          </a:xfrm>
          <a:prstGeom prst="rect">
            <a:avLst/>
          </a:prstGeom>
          <a:noFill/>
          <a:ln/>
        </p:spPr>
        <p:txBody>
          <a:bodyPr wrap="square" lIns="0" tIns="0" rIns="0" bIns="0" rtlCol="0" anchor="ctr"/>
          <a:lstStyle/>
          <a:p>
            <a:pPr marL="0" indent="0" algn="l">
              <a:buNone/>
            </a:pPr>
            <a:r>
              <a:rPr lang="en-US" sz="3000" b="1" dirty="0">
                <a:solidFill>
                  <a:schemeClr val="tx2"/>
                </a:solidFill>
              </a:rPr>
              <a:t>References</a:t>
            </a:r>
            <a:endParaRPr lang="en-US" sz="3000" dirty="0"/>
          </a:p>
        </p:txBody>
      </p:sp>
      <p:sp>
        <p:nvSpPr>
          <p:cNvPr id="3" name="Kicker"/>
          <p:cNvSpPr txBox="1"/>
          <p:nvPr/>
        </p:nvSpPr>
        <p:spPr>
          <a:xfrm>
            <a:off x="548640" y="950976"/>
            <a:ext cx="10241280" cy="320040"/>
          </a:xfrm>
          <a:prstGeom prst="rect">
            <a:avLst/>
          </a:prstGeom>
          <a:noFill/>
          <a:ln/>
        </p:spPr>
        <p:txBody>
          <a:bodyPr wrap="square" lIns="0" tIns="0" rIns="0" bIns="0" rtlCol="0" anchor="t"/>
          <a:lstStyle/>
          <a:p>
            <a:pPr marL="0" indent="0">
              <a:buNone/>
            </a:pPr>
            <a:r>
              <a:rPr lang="en-US" sz="1600" i="1" dirty="0">
                <a:solidFill>
                  <a:schemeClr val="accent2"/>
                </a:solidFill>
              </a:rPr>
              <a:t>IEEE style</a:t>
            </a:r>
            <a:endParaRPr lang="en-US" sz="1600" dirty="0"/>
          </a:p>
        </p:txBody>
      </p:sp>
      <p:sp>
        <p:nvSpPr>
          <p:cNvPr id="5" name="Reference Row 1"/>
          <p:cNvSpPr/>
          <p:nvPr/>
        </p:nvSpPr>
        <p:spPr>
          <a:xfrm>
            <a:off x="548640" y="1463040"/>
            <a:ext cx="11091672" cy="612648"/>
          </a:xfrm>
          <a:prstGeom prst="roundRect">
            <a:avLst>
              <a:gd name="adj" fmla="val 14925"/>
            </a:avLst>
          </a:prstGeom>
          <a:solidFill>
            <a:schemeClr val="bg2"/>
          </a:solidFill>
          <a:ln w="9525">
            <a:solidFill>
              <a:schemeClr val="accent6">
                <a:alpha val="45000"/>
              </a:schemeClr>
            </a:solidFill>
            <a:prstDash val="solid"/>
          </a:ln>
        </p:spPr>
      </p:sp>
      <p:sp>
        <p:nvSpPr>
          <p:cNvPr id="6" name="Ref Num Badge 1"/>
          <p:cNvSpPr/>
          <p:nvPr/>
        </p:nvSpPr>
        <p:spPr>
          <a:xfrm>
            <a:off x="685800" y="1540764"/>
            <a:ext cx="457200" cy="457200"/>
          </a:xfrm>
          <a:prstGeom prst="ellipse">
            <a:avLst/>
          </a:prstGeom>
          <a:solidFill>
            <a:schemeClr val="accent1"/>
          </a:solidFill>
          <a:ln w="12700">
            <a:solidFill>
              <a:schemeClr val="accent1"/>
            </a:solidFill>
            <a:prstDash val="solid"/>
          </a:ln>
        </p:spPr>
      </p:sp>
      <p:sp>
        <p:nvSpPr>
          <p:cNvPr id="7" name="Ref Num 1"/>
          <p:cNvSpPr txBox="1"/>
          <p:nvPr/>
        </p:nvSpPr>
        <p:spPr>
          <a:xfrm>
            <a:off x="685800" y="1540764"/>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8" name="Reference Text 1"/>
          <p:cNvSpPr txBox="1"/>
          <p:nvPr/>
        </p:nvSpPr>
        <p:spPr>
          <a:xfrm>
            <a:off x="1325880" y="1499616"/>
            <a:ext cx="10149840" cy="539496"/>
          </a:xfrm>
          <a:prstGeom prst="rect">
            <a:avLst/>
          </a:prstGeom>
          <a:noFill/>
          <a:ln/>
        </p:spPr>
        <p:txBody>
          <a:bodyPr wrap="square" lIns="0" tIns="0" rIns="0" bIns="0" rtlCol="0" anchor="ctr"/>
          <a:lstStyle/>
          <a:p>
            <a:pPr marL="0" indent="0">
              <a:buNone/>
            </a:pPr>
            <a:r>
              <a:rPr lang="en-US" sz="1400" dirty="0">
                <a:solidFill>
                  <a:schemeClr val="tx1"/>
                </a:solidFill>
              </a:rPr>
              <a:t>J. J. Craig, </a:t>
            </a:r>
            <a:r>
              <a:rPr lang="en-US" sz="1400" i="1" dirty="0">
                <a:solidFill>
                  <a:schemeClr val="tx1"/>
                </a:solidFill>
              </a:rPr>
              <a:t>Introduction to Robotics: Mechanics and Control</a:t>
            </a:r>
            <a:r>
              <a:rPr lang="en-US" sz="1400" dirty="0">
                <a:solidFill>
                  <a:schemeClr val="tx1"/>
                </a:solidFill>
              </a:rPr>
              <a:t>, 3rd ed. Upper Saddle River, NJ, USA: Pearson Prentice Hall, 2005.</a:t>
            </a:r>
            <a:endParaRPr lang="en-US" sz="1400" dirty="0"/>
          </a:p>
        </p:txBody>
      </p:sp>
      <p:sp>
        <p:nvSpPr>
          <p:cNvPr id="9" name="Reference Row 2"/>
          <p:cNvSpPr/>
          <p:nvPr/>
        </p:nvSpPr>
        <p:spPr>
          <a:xfrm>
            <a:off x="548640" y="2148840"/>
            <a:ext cx="11091672" cy="612648"/>
          </a:xfrm>
          <a:prstGeom prst="roundRect">
            <a:avLst>
              <a:gd name="adj" fmla="val 14925"/>
            </a:avLst>
          </a:prstGeom>
          <a:solidFill>
            <a:schemeClr val="bg2"/>
          </a:solidFill>
          <a:ln w="9525">
            <a:solidFill>
              <a:schemeClr val="accent6">
                <a:alpha val="45000"/>
              </a:schemeClr>
            </a:solidFill>
            <a:prstDash val="solid"/>
          </a:ln>
        </p:spPr>
      </p:sp>
      <p:sp>
        <p:nvSpPr>
          <p:cNvPr id="10" name="Ref Num Badge 2"/>
          <p:cNvSpPr/>
          <p:nvPr/>
        </p:nvSpPr>
        <p:spPr>
          <a:xfrm>
            <a:off x="685800" y="2226564"/>
            <a:ext cx="457200" cy="457200"/>
          </a:xfrm>
          <a:prstGeom prst="ellipse">
            <a:avLst/>
          </a:prstGeom>
          <a:solidFill>
            <a:schemeClr val="accent1"/>
          </a:solidFill>
          <a:ln w="12700">
            <a:solidFill>
              <a:schemeClr val="accent1"/>
            </a:solidFill>
            <a:prstDash val="solid"/>
          </a:ln>
        </p:spPr>
      </p:sp>
      <p:sp>
        <p:nvSpPr>
          <p:cNvPr id="11" name="Ref Num 2"/>
          <p:cNvSpPr txBox="1"/>
          <p:nvPr/>
        </p:nvSpPr>
        <p:spPr>
          <a:xfrm>
            <a:off x="685800" y="2226564"/>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2" name="Reference Text 2"/>
          <p:cNvSpPr txBox="1"/>
          <p:nvPr/>
        </p:nvSpPr>
        <p:spPr>
          <a:xfrm>
            <a:off x="1325880" y="2185416"/>
            <a:ext cx="10149840" cy="539496"/>
          </a:xfrm>
          <a:prstGeom prst="rect">
            <a:avLst/>
          </a:prstGeom>
          <a:noFill/>
          <a:ln/>
        </p:spPr>
        <p:txBody>
          <a:bodyPr wrap="square" lIns="0" tIns="0" rIns="0" bIns="0" rtlCol="0" anchor="ctr"/>
          <a:lstStyle/>
          <a:p>
            <a:pPr marL="0" indent="0">
              <a:buNone/>
            </a:pPr>
            <a:r>
              <a:rPr lang="en-US" sz="1400" dirty="0">
                <a:solidFill>
                  <a:schemeClr val="tx1"/>
                </a:solidFill>
              </a:rPr>
              <a:t>M. W. Spong, S. Hutchinson, and M. Vidyasagar, </a:t>
            </a:r>
            <a:r>
              <a:rPr lang="en-US" sz="1400" i="1" dirty="0">
                <a:solidFill>
                  <a:schemeClr val="tx1"/>
                </a:solidFill>
              </a:rPr>
              <a:t>Robot Modeling and Control</a:t>
            </a:r>
            <a:r>
              <a:rPr lang="en-US" sz="1400" dirty="0">
                <a:solidFill>
                  <a:schemeClr val="tx1"/>
                </a:solidFill>
              </a:rPr>
              <a:t>. Hoboken, NJ, USA: Wiley, 2006.</a:t>
            </a:r>
            <a:endParaRPr lang="en-US" sz="1400" dirty="0"/>
          </a:p>
        </p:txBody>
      </p:sp>
      <p:sp>
        <p:nvSpPr>
          <p:cNvPr id="13" name="Reference Row 3"/>
          <p:cNvSpPr/>
          <p:nvPr/>
        </p:nvSpPr>
        <p:spPr>
          <a:xfrm>
            <a:off x="548640" y="2834640"/>
            <a:ext cx="11091672" cy="612648"/>
          </a:xfrm>
          <a:prstGeom prst="roundRect">
            <a:avLst>
              <a:gd name="adj" fmla="val 14925"/>
            </a:avLst>
          </a:prstGeom>
          <a:solidFill>
            <a:schemeClr val="bg2"/>
          </a:solidFill>
          <a:ln w="9525">
            <a:solidFill>
              <a:schemeClr val="accent6">
                <a:alpha val="45000"/>
              </a:schemeClr>
            </a:solidFill>
            <a:prstDash val="solid"/>
          </a:ln>
        </p:spPr>
      </p:sp>
      <p:sp>
        <p:nvSpPr>
          <p:cNvPr id="14" name="Ref Num Badge 3"/>
          <p:cNvSpPr/>
          <p:nvPr/>
        </p:nvSpPr>
        <p:spPr>
          <a:xfrm>
            <a:off x="685800" y="2912364"/>
            <a:ext cx="457200" cy="457200"/>
          </a:xfrm>
          <a:prstGeom prst="ellipse">
            <a:avLst/>
          </a:prstGeom>
          <a:solidFill>
            <a:schemeClr val="accent1"/>
          </a:solidFill>
          <a:ln w="12700">
            <a:solidFill>
              <a:schemeClr val="accent1"/>
            </a:solidFill>
            <a:prstDash val="solid"/>
          </a:ln>
        </p:spPr>
      </p:sp>
      <p:sp>
        <p:nvSpPr>
          <p:cNvPr id="15" name="Ref Num 3"/>
          <p:cNvSpPr txBox="1"/>
          <p:nvPr/>
        </p:nvSpPr>
        <p:spPr>
          <a:xfrm>
            <a:off x="685800" y="2912364"/>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6" name="Reference Text 3"/>
          <p:cNvSpPr txBox="1"/>
          <p:nvPr/>
        </p:nvSpPr>
        <p:spPr>
          <a:xfrm>
            <a:off x="1325880" y="2871216"/>
            <a:ext cx="10149840" cy="539496"/>
          </a:xfrm>
          <a:prstGeom prst="rect">
            <a:avLst/>
          </a:prstGeom>
          <a:noFill/>
          <a:ln/>
        </p:spPr>
        <p:txBody>
          <a:bodyPr wrap="square" lIns="0" tIns="0" rIns="0" bIns="0" rtlCol="0" anchor="ctr"/>
          <a:lstStyle/>
          <a:p>
            <a:pPr marL="0" indent="0">
              <a:buNone/>
            </a:pPr>
            <a:r>
              <a:rPr lang="en-US" sz="1400" dirty="0">
                <a:solidFill>
                  <a:schemeClr val="tx1"/>
                </a:solidFill>
              </a:rPr>
              <a:t>B. Siciliano, L. Sciavicco, L. Villani, and G. Oriolo, </a:t>
            </a:r>
            <a:r>
              <a:rPr lang="en-US" sz="1400" i="1" dirty="0">
                <a:solidFill>
                  <a:schemeClr val="tx1"/>
                </a:solidFill>
              </a:rPr>
              <a:t>Robotics: Modelling, Planning and Control</a:t>
            </a:r>
            <a:r>
              <a:rPr lang="en-US" sz="1400" dirty="0">
                <a:solidFill>
                  <a:schemeClr val="tx1"/>
                </a:solidFill>
              </a:rPr>
              <a:t>. London, U.K.: Springer, 2009.</a:t>
            </a:r>
            <a:endParaRPr lang="en-US" sz="1400" dirty="0"/>
          </a:p>
        </p:txBody>
      </p:sp>
      <p:sp>
        <p:nvSpPr>
          <p:cNvPr id="17" name="Reference Row 4"/>
          <p:cNvSpPr/>
          <p:nvPr/>
        </p:nvSpPr>
        <p:spPr>
          <a:xfrm>
            <a:off x="548640" y="3520440"/>
            <a:ext cx="11091672" cy="795528"/>
          </a:xfrm>
          <a:prstGeom prst="roundRect">
            <a:avLst>
              <a:gd name="adj" fmla="val 11494"/>
            </a:avLst>
          </a:prstGeom>
          <a:solidFill>
            <a:schemeClr val="bg2"/>
          </a:solidFill>
          <a:ln w="9525">
            <a:solidFill>
              <a:schemeClr val="accent6">
                <a:alpha val="45000"/>
              </a:schemeClr>
            </a:solidFill>
            <a:prstDash val="solid"/>
          </a:ln>
        </p:spPr>
      </p:sp>
      <p:sp>
        <p:nvSpPr>
          <p:cNvPr id="18" name="Ref Num Badge 4"/>
          <p:cNvSpPr/>
          <p:nvPr/>
        </p:nvSpPr>
        <p:spPr>
          <a:xfrm>
            <a:off x="685800" y="3689604"/>
            <a:ext cx="457200" cy="457200"/>
          </a:xfrm>
          <a:prstGeom prst="ellipse">
            <a:avLst/>
          </a:prstGeom>
          <a:solidFill>
            <a:schemeClr val="accent2"/>
          </a:solidFill>
          <a:ln w="12700">
            <a:solidFill>
              <a:schemeClr val="accent2"/>
            </a:solidFill>
            <a:prstDash val="solid"/>
          </a:ln>
        </p:spPr>
      </p:sp>
      <p:sp>
        <p:nvSpPr>
          <p:cNvPr id="19" name="Ref Num 4"/>
          <p:cNvSpPr txBox="1"/>
          <p:nvPr/>
        </p:nvSpPr>
        <p:spPr>
          <a:xfrm>
            <a:off x="685800" y="3689604"/>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20" name="Reference Text 4"/>
          <p:cNvSpPr txBox="1"/>
          <p:nvPr/>
        </p:nvSpPr>
        <p:spPr>
          <a:xfrm>
            <a:off x="1325880" y="3557016"/>
            <a:ext cx="10149840" cy="722376"/>
          </a:xfrm>
          <a:prstGeom prst="rect">
            <a:avLst/>
          </a:prstGeom>
          <a:noFill/>
          <a:ln/>
        </p:spPr>
        <p:txBody>
          <a:bodyPr wrap="square" lIns="0" tIns="0" rIns="0" bIns="0" rtlCol="0" anchor="ctr"/>
          <a:lstStyle/>
          <a:p>
            <a:pPr marL="0" indent="0">
              <a:buNone/>
            </a:pPr>
            <a:r>
              <a:rPr lang="en-US" sz="1400" dirty="0">
                <a:solidFill>
                  <a:schemeClr val="tx1"/>
                </a:solidFill>
              </a:rPr>
              <a:t>A.-V. Duka, “Neural network based inverse kinematics solution for trajectory tracking of a robotic arm,” </a:t>
            </a:r>
            <a:r>
              <a:rPr lang="en-US" sz="1400" i="1" dirty="0">
                <a:solidFill>
                  <a:schemeClr val="tx1"/>
                </a:solidFill>
              </a:rPr>
              <a:t>Procedia Technol.</a:t>
            </a:r>
            <a:r>
              <a:rPr lang="en-US" sz="1400" dirty="0">
                <a:solidFill>
                  <a:schemeClr val="tx1"/>
                </a:solidFill>
              </a:rPr>
              <a:t>, vol. 12, pp. 20–27, 2014, doi: 10.1016/j.protcy.2013.12.451.</a:t>
            </a:r>
            <a:endParaRPr lang="en-US" sz="1400" dirty="0"/>
          </a:p>
        </p:txBody>
      </p:sp>
      <p:sp>
        <p:nvSpPr>
          <p:cNvPr id="21" name="Reference Row 5"/>
          <p:cNvSpPr/>
          <p:nvPr/>
        </p:nvSpPr>
        <p:spPr>
          <a:xfrm>
            <a:off x="548640" y="4389120"/>
            <a:ext cx="11091672" cy="795528"/>
          </a:xfrm>
          <a:prstGeom prst="roundRect">
            <a:avLst>
              <a:gd name="adj" fmla="val 11494"/>
            </a:avLst>
          </a:prstGeom>
          <a:solidFill>
            <a:schemeClr val="bg2"/>
          </a:solidFill>
          <a:ln w="9525">
            <a:solidFill>
              <a:schemeClr val="accent6">
                <a:alpha val="45000"/>
              </a:schemeClr>
            </a:solidFill>
            <a:prstDash val="solid"/>
          </a:ln>
        </p:spPr>
      </p:sp>
      <p:sp>
        <p:nvSpPr>
          <p:cNvPr id="22" name="Ref Num Badge 5"/>
          <p:cNvSpPr/>
          <p:nvPr/>
        </p:nvSpPr>
        <p:spPr>
          <a:xfrm>
            <a:off x="685800" y="4558284"/>
            <a:ext cx="457200" cy="457200"/>
          </a:xfrm>
          <a:prstGeom prst="ellipse">
            <a:avLst/>
          </a:prstGeom>
          <a:solidFill>
            <a:schemeClr val="accent2"/>
          </a:solidFill>
          <a:ln w="12700">
            <a:solidFill>
              <a:schemeClr val="accent2"/>
            </a:solidFill>
            <a:prstDash val="solid"/>
          </a:ln>
        </p:spPr>
      </p:sp>
      <p:sp>
        <p:nvSpPr>
          <p:cNvPr id="23" name="Ref Num 5"/>
          <p:cNvSpPr txBox="1"/>
          <p:nvPr/>
        </p:nvSpPr>
        <p:spPr>
          <a:xfrm>
            <a:off x="685800" y="4558284"/>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24" name="Reference Text 5"/>
          <p:cNvSpPr txBox="1"/>
          <p:nvPr/>
        </p:nvSpPr>
        <p:spPr>
          <a:xfrm>
            <a:off x="1325880" y="4425696"/>
            <a:ext cx="10149840" cy="722376"/>
          </a:xfrm>
          <a:prstGeom prst="rect">
            <a:avLst/>
          </a:prstGeom>
          <a:noFill/>
          <a:ln/>
        </p:spPr>
        <p:txBody>
          <a:bodyPr wrap="square" lIns="0" tIns="0" rIns="0" bIns="0" rtlCol="0" anchor="ctr"/>
          <a:lstStyle/>
          <a:p>
            <a:pPr marL="0" indent="0">
              <a:buNone/>
            </a:pPr>
            <a:r>
              <a:rPr lang="en-US" sz="1400" dirty="0">
                <a:solidFill>
                  <a:schemeClr val="tx1"/>
                </a:solidFill>
              </a:rPr>
              <a:t>A. A. Ata and T. R. Myo, “Optimal point-to-point trajectory tracking of redundant manipulators using generalized pattern search,” </a:t>
            </a:r>
            <a:r>
              <a:rPr lang="en-US" sz="1400" i="1" dirty="0">
                <a:solidFill>
                  <a:schemeClr val="tx1"/>
                </a:solidFill>
              </a:rPr>
              <a:t>Int. J. Adv. Robot. Syst.</a:t>
            </a:r>
            <a:r>
              <a:rPr lang="en-US" sz="1400" dirty="0">
                <a:solidFill>
                  <a:schemeClr val="tx1"/>
                </a:solidFill>
              </a:rPr>
              <a:t>, vol. 2, no. 3, pp. 239–244, 2005.</a:t>
            </a:r>
            <a:endParaRPr lang="en-US" sz="1400" dirty="0"/>
          </a:p>
        </p:txBody>
      </p:sp>
      <p:sp>
        <p:nvSpPr>
          <p:cNvPr id="25" name="Reference Row 6"/>
          <p:cNvSpPr/>
          <p:nvPr/>
        </p:nvSpPr>
        <p:spPr>
          <a:xfrm>
            <a:off x="548640" y="5257800"/>
            <a:ext cx="11091672" cy="795528"/>
          </a:xfrm>
          <a:prstGeom prst="roundRect">
            <a:avLst>
              <a:gd name="adj" fmla="val 11494"/>
            </a:avLst>
          </a:prstGeom>
          <a:solidFill>
            <a:schemeClr val="bg2"/>
          </a:solidFill>
          <a:ln w="9525">
            <a:solidFill>
              <a:schemeClr val="accent6">
                <a:alpha val="45000"/>
              </a:schemeClr>
            </a:solidFill>
            <a:prstDash val="solid"/>
          </a:ln>
        </p:spPr>
      </p:sp>
      <p:sp>
        <p:nvSpPr>
          <p:cNvPr id="26" name="Ref Num Badge 6"/>
          <p:cNvSpPr/>
          <p:nvPr/>
        </p:nvSpPr>
        <p:spPr>
          <a:xfrm>
            <a:off x="685800" y="5426964"/>
            <a:ext cx="457200" cy="457200"/>
          </a:xfrm>
          <a:prstGeom prst="ellipse">
            <a:avLst/>
          </a:prstGeom>
          <a:solidFill>
            <a:schemeClr val="accent3"/>
          </a:solidFill>
          <a:ln w="12700">
            <a:solidFill>
              <a:schemeClr val="accent3"/>
            </a:solidFill>
            <a:prstDash val="solid"/>
          </a:ln>
        </p:spPr>
      </p:sp>
      <p:sp>
        <p:nvSpPr>
          <p:cNvPr id="27" name="Ref Num 6"/>
          <p:cNvSpPr txBox="1"/>
          <p:nvPr/>
        </p:nvSpPr>
        <p:spPr>
          <a:xfrm>
            <a:off x="685800" y="5426964"/>
            <a:ext cx="457200" cy="457200"/>
          </a:xfrm>
          <a:prstGeom prst="rect">
            <a:avLst/>
          </a:prstGeom>
          <a:no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28" name="Reference Text 6"/>
          <p:cNvSpPr txBox="1"/>
          <p:nvPr/>
        </p:nvSpPr>
        <p:spPr>
          <a:xfrm>
            <a:off x="1325880" y="5294376"/>
            <a:ext cx="10149840" cy="722376"/>
          </a:xfrm>
          <a:prstGeom prst="rect">
            <a:avLst/>
          </a:prstGeom>
          <a:noFill/>
          <a:ln/>
        </p:spPr>
        <p:txBody>
          <a:bodyPr wrap="square" lIns="0" tIns="0" rIns="0" bIns="0" rtlCol="0" anchor="ctr"/>
          <a:lstStyle/>
          <a:p>
            <a:pPr marL="0" indent="0">
              <a:buNone/>
            </a:pPr>
            <a:r>
              <a:rPr lang="en-US" sz="1400" dirty="0">
                <a:solidFill>
                  <a:schemeClr val="tx1"/>
                </a:solidFill>
              </a:rPr>
              <a:t>Analog Devices, “TMC4361A closed-loop motor control for stepper motor drivers,” Application Note AN-032. [Online]. Available: https://www.analog.com/en/resources/app-notes/an-032.html. Accessed: Oct. 5, 2026.</a:t>
            </a:r>
            <a:endParaRPr lang="en-US" sz="1400" dirty="0"/>
          </a:p>
        </p:txBody>
      </p:sp>
      <p:sp>
        <p:nvSpPr>
          <p:cNvPr id="4" name="Slide Number Placeholder 0"/>
          <p:cNvSpPr>
            <a:spLocks noGrp="1"/>
          </p:cNvSpPr>
          <p:nvPr>
            <p:ph type="sldNum" sz="quarter" idx="4294967295"/>
          </p:nvPr>
        </p:nvSpPr>
        <p:spPr>
          <a:xfrm>
            <a:off x="11064240" y="6446520"/>
            <a:ext cx="576072"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theme/theme1.xml><?xml version="1.0" encoding="utf-8"?>
<a:theme xmlns:a="http://schemas.openxmlformats.org/drawingml/2006/main" name="NITJ Minor Project">
  <a:themeElements>
    <a:clrScheme name="NITJ Minor Project">
      <a:dk1>
        <a:srgbClr val="1B1B1F"/>
      </a:dk1>
      <a:lt1>
        <a:srgbClr val="FFFFFF"/>
      </a:lt1>
      <a:dk2>
        <a:srgbClr val="1F2A5E"/>
      </a:dk2>
      <a:lt2>
        <a:srgbClr val="EAF0F6"/>
      </a:lt2>
      <a:accent1>
        <a:srgbClr val="1F2A5E"/>
      </a:accent1>
      <a:accent2>
        <a:srgbClr val="0F5C80"/>
      </a:accent2>
      <a:accent3>
        <a:srgbClr val="C8501B"/>
      </a:accent3>
      <a:accent4>
        <a:srgbClr val="FF8A5B"/>
      </a:accent4>
      <a:accent5>
        <a:srgbClr val="DA70D6"/>
      </a:accent5>
      <a:accent6>
        <a:srgbClr val="8EA3B5"/>
      </a:accent6>
      <a:hlink>
        <a:srgbClr val="0F5C80"/>
      </a:hlink>
      <a:folHlink>
        <a:srgbClr val="8EA3B5"/>
      </a:folHlink>
    </a:clrScheme>
    <a:fontScheme name="NITJ Minor Projec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2864</Words>
  <Application>Microsoft Office PowerPoint</Application>
  <PresentationFormat>Widescreen</PresentationFormat>
  <Paragraphs>352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NITJ Minor Project</vt:lpstr>
      <vt:lpstr>2-DOF Planar Robotic Arm</vt:lpstr>
      <vt:lpstr>Agenda</vt:lpstr>
      <vt:lpstr>Introduction</vt:lpstr>
      <vt:lpstr>Introduction (contd.)</vt:lpstr>
      <vt:lpstr>Literature Survey</vt:lpstr>
      <vt:lpstr>Literature Survey</vt:lpstr>
      <vt:lpstr>Literature Survey</vt:lpstr>
      <vt:lpstr>Research Gaps and Problem Formulation</vt:lpstr>
      <vt:lpstr>Research Gaps and Problem Formulation (contd.)</vt:lpstr>
      <vt:lpstr>Research Gaps and Problem Formulation (contd.)</vt:lpstr>
      <vt:lpstr>Project Objectives</vt:lpstr>
      <vt:lpstr>Project Objectives (contd.)</vt:lpstr>
      <vt:lpstr>Project Objectives (contd.)</vt:lpstr>
      <vt:lpstr>Project Objectives (contd.)</vt:lpstr>
      <vt:lpstr>Project Objectives (contd.)</vt:lpstr>
      <vt:lpstr>Conclusions</vt:lpstr>
      <vt:lpstr>Conclusions (contd.)</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2-DOF Planar Robotic Arm - Minor Project Presentation (Supervisor Evaluation)</dc:title>
  <dc:subject>PptxGenJS Presentation</dc:subject>
  <dc:creator>Group Members, Dept. of Mechanical Engineering, NIT Jalandhar</dc:creator>
  <cp:lastModifiedBy>PRINCE KUMAR</cp:lastModifiedBy>
  <cp:revision>3</cp:revision>
  <dcterms:created xsi:type="dcterms:W3CDTF">2026-10-05T06:21:34Z</dcterms:created>
  <dcterms:modified xsi:type="dcterms:W3CDTF">2026-10-05T06:40:49Z</dcterms:modified>
</cp:coreProperties>
</file>